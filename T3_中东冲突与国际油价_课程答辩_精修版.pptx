
<file path=[Content_Types].xml><?xml version="1.0" encoding="utf-8"?>
<Types xmlns="http://schemas.openxmlformats.org/package/2006/content-types">
  <Default Extension="jpeg" ContentType="image/jpeg"/>
  <Default Extension="JPG" ContentType="image/.jpg"/>
  <Default Extension="xlsx" ContentType="application/vnd.openxmlformats-officedocument.spreadsheetml.sheet"/>
  <Default Extension="png" ContentType="image/png"/>
  <Default Extension="wdp" ContentType="image/vnd.ms-photo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olors1.xml" ContentType="application/vnd.ms-office.chartcolorstyle+xml"/>
  <Override PartName="/ppt/charts/colors2.xml" ContentType="application/vnd.ms-office.chartcolorstyle+xml"/>
  <Override PartName="/ppt/charts/colors3.xml" ContentType="application/vnd.ms-office.chartcolorstyle+xml"/>
  <Override PartName="/ppt/charts/colors4.xml" ContentType="application/vnd.ms-office.chartcolorstyle+xml"/>
  <Override PartName="/ppt/charts/style1.xml" ContentType="application/vnd.ms-office.chartstyle+xml"/>
  <Override PartName="/ppt/charts/style2.xml" ContentType="application/vnd.ms-office.chartstyle+xml"/>
  <Override PartName="/ppt/charts/style3.xml" ContentType="application/vnd.ms-office.chartstyle+xml"/>
  <Override PartName="/ppt/charts/style4.xml" ContentType="application/vnd.ms-office.chartstyle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  <p:sldId id="270" r:id="rId18"/>
    <p:sldId id="271" r:id="rId19"/>
  </p:sldIdLst>
  <p:sldSz cx="12192000" cy="6858000"/>
  <p:notesSz cx="6858000" cy="9144000"/>
  <p:custDataLst>
    <p:tags r:id="rId2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84" userDrawn="1">
          <p15:clr>
            <a:srgbClr val="A4A3A4"/>
          </p15:clr>
        </p15:guide>
        <p15:guide id="2" pos="3885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3F7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88" d="100"/>
          <a:sy n="88" d="100"/>
        </p:scale>
        <p:origin x="712" y="500"/>
      </p:cViewPr>
      <p:guideLst>
        <p:guide orient="horz" pos="2184"/>
        <p:guide pos="3885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3" Type="http://schemas.openxmlformats.org/officeDocument/2006/relationships/tags" Target="tags/tag83.xml"/><Relationship Id="rId22" Type="http://schemas.openxmlformats.org/officeDocument/2006/relationships/tableStyles" Target="tableStyles.xml"/><Relationship Id="rId21" Type="http://schemas.openxmlformats.org/officeDocument/2006/relationships/viewProps" Target="viewProps.xml"/><Relationship Id="rId20" Type="http://schemas.openxmlformats.org/officeDocument/2006/relationships/presProps" Target="presProps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4" Type="http://schemas.microsoft.com/office/2011/relationships/chartColorStyle" Target="colors1.xml"/><Relationship Id="rId3" Type="http://schemas.microsoft.com/office/2011/relationships/chartStyle" Target="style1.xml"/><Relationship Id="rId2" Type="http://schemas.openxmlformats.org/officeDocument/2006/relationships/themeOverride" Target="../theme/themeOverride1.xml"/><Relationship Id="rId1" Type="http://schemas.openxmlformats.org/officeDocument/2006/relationships/package" Target="../embeddings/Workbook1.xlsx"/></Relationships>
</file>

<file path=ppt/charts/_rels/chart2.xml.rels><?xml version="1.0" encoding="UTF-8" standalone="yes"?>
<Relationships xmlns="http://schemas.openxmlformats.org/package/2006/relationships"><Relationship Id="rId4" Type="http://schemas.microsoft.com/office/2011/relationships/chartColorStyle" Target="colors2.xml"/><Relationship Id="rId3" Type="http://schemas.microsoft.com/office/2011/relationships/chartStyle" Target="style2.xml"/><Relationship Id="rId2" Type="http://schemas.openxmlformats.org/officeDocument/2006/relationships/themeOverride" Target="../theme/themeOverride2.xml"/><Relationship Id="rId1" Type="http://schemas.openxmlformats.org/officeDocument/2006/relationships/package" Target="../embeddings/Workbook2.xlsx"/></Relationships>
</file>

<file path=ppt/charts/_rels/chart3.xml.rels><?xml version="1.0" encoding="UTF-8" standalone="yes"?>
<Relationships xmlns="http://schemas.openxmlformats.org/package/2006/relationships"><Relationship Id="rId4" Type="http://schemas.microsoft.com/office/2011/relationships/chartColorStyle" Target="colors3.xml"/><Relationship Id="rId3" Type="http://schemas.microsoft.com/office/2011/relationships/chartStyle" Target="style3.xml"/><Relationship Id="rId2" Type="http://schemas.openxmlformats.org/officeDocument/2006/relationships/themeOverride" Target="../theme/themeOverride3.xml"/><Relationship Id="rId1" Type="http://schemas.openxmlformats.org/officeDocument/2006/relationships/package" Target="../embeddings/Workbook3.xlsx"/></Relationships>
</file>

<file path=ppt/charts/_rels/chart4.xml.rels><?xml version="1.0" encoding="UTF-8" standalone="yes"?>
<Relationships xmlns="http://schemas.openxmlformats.org/package/2006/relationships"><Relationship Id="rId4" Type="http://schemas.microsoft.com/office/2011/relationships/chartColorStyle" Target="colors4.xml"/><Relationship Id="rId3" Type="http://schemas.microsoft.com/office/2011/relationships/chartStyle" Target="style4.xml"/><Relationship Id="rId2" Type="http://schemas.openxmlformats.org/officeDocument/2006/relationships/themeOverride" Target="../theme/themeOverride4.xml"/><Relationship Id="rId1" Type="http://schemas.openxmlformats.org/officeDocument/2006/relationships/package" Target="../embeddings/Workbook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WTI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标准差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2.901</c:v>
                </c:pt>
                <c:pt idx="1">
                  <c:v>97.099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3f35b520-210e-4834-a4c1-5134c20fb32a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Brent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1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标准差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2.984</c:v>
                </c:pt>
                <c:pt idx="1">
                  <c:v>97.016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71f8a173-bda5-401b-8c2f-28d3809e55ee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相关系数</c:v>
                </c:pt>
              </c:strCache>
            </c:strRef>
          </c:tx>
          <c:spPr/>
          <c:explosion val="0"/>
          <c:dPt>
            <c:idx val="0"/>
            <c:bubble3D val="0"/>
            <c:spPr>
              <a:solidFill>
                <a:schemeClr val="accent4"/>
              </a:solidFill>
              <a:ln w="19050">
                <a:noFill/>
              </a:ln>
              <a:effectLst/>
            </c:spPr>
          </c:dPt>
          <c:dPt>
            <c:idx val="1"/>
            <c:bubble3D val="0"/>
            <c:spPr>
              <a:solidFill>
                <a:schemeClr val="bg1">
                  <a:lumMod val="85000"/>
                </a:schemeClr>
              </a:solidFill>
              <a:ln w="19050">
                <a:noFill/>
              </a:ln>
              <a:effectLst/>
            </c:spPr>
          </c:dPt>
          <c:dLbls>
            <c:delete val="1"/>
          </c:dLbls>
          <c:cat>
            <c:strRef>
              <c:f>Sheet1!$A$2:$A$3</c:f>
              <c:strCache>
                <c:ptCount val="2"/>
                <c:pt idx="0">
                  <c:v>相关</c:v>
                </c:pt>
                <c:pt idx="1">
                  <c:v>其余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84.5</c:v>
                </c:pt>
                <c:pt idx="1">
                  <c:v>15.5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90"/>
      </c:doughnutChart>
      <c:spPr>
        <a:noFill/>
        <a:ln>
          <a:noFill/>
        </a:ln>
        <a:effectLst/>
      </c:spPr>
    </c:plotArea>
    <c:plotVisOnly val="1"/>
    <c:dispBlanksAs val="gap"/>
    <c:showDLblsOverMax val="0"/>
    <c:extLst>
      <c:ext uri="{0b15fc19-7d7d-44ad-8c2d-2c3a37ce22c3}">
        <chartProps xmlns="https://web.wps.cn/et/2018/main" chartId="{b14fdd16-ed07-4fbd-93e7-bba7ef4af61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lang="zh-CN" sz="1860" b="0" i="0" u="none" strike="noStrike" kern="1200" spc="0" baseline="0">
                <a:solidFill>
                  <a:schemeClr val="bg2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altLang="zh-CN" sz="1800" b="1" dirty="0">
                <a:solidFill>
                  <a:srgbClr val="063F75"/>
                </a:solidFill>
              </a:rPr>
              <a:t>五个事件的 CAR（主窗口 [0,+3]，%）</a:t>
            </a:r>
            <a:endParaRPr lang="zh-CN" altLang="en-US" b="1" dirty="0">
              <a:solidFill>
                <a:schemeClr val="bg2">
                  <a:lumMod val="50000"/>
                </a:schemeClr>
              </a:solidFill>
            </a:endParaRPr>
          </a:p>
        </c:rich>
      </c:tx>
      <c:layout/>
      <c:overlay val="0"/>
      <c:spPr>
        <a:noFill/>
        <a:ln>
          <a:noFill/>
        </a:ln>
        <a:effectLst/>
      </c:sp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WTI</c:v>
                </c:pt>
              </c:strCache>
            </c:strRef>
          </c:tx>
          <c:spPr>
            <a:solidFill>
              <a:schemeClr val="accent1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0.214</c:v>
                </c:pt>
                <c:pt idx="1">
                  <c:v>-3.681</c:v>
                </c:pt>
                <c:pt idx="2">
                  <c:v>2.567</c:v>
                </c:pt>
                <c:pt idx="3">
                  <c:v>-10.198</c:v>
                </c:pt>
                <c:pt idx="4">
                  <c:v>-0.165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Brent</c:v>
                </c:pt>
              </c:strCache>
            </c:strRef>
          </c:tx>
          <c:spPr>
            <a:solidFill>
              <a:schemeClr val="accent4"/>
            </a:solidFill>
            <a:ln>
              <a:noFill/>
            </a:ln>
            <a:effectLst/>
          </c:spPr>
          <c:invertIfNegative val="0"/>
          <c:dLbls>
            <c:delete val="1"/>
          </c:dLbls>
          <c:cat>
            <c:strRef>
              <c:f>Sheet1!$A$2:$A$6</c:f>
              <c:strCache>
                <c:ptCount val="5"/>
                <c:pt idx="0">
                  <c:v>E1</c:v>
                </c:pt>
                <c:pt idx="1">
                  <c:v>E2</c:v>
                </c:pt>
                <c:pt idx="2">
                  <c:v>E3</c:v>
                </c:pt>
                <c:pt idx="3">
                  <c:v>E4</c:v>
                </c:pt>
                <c:pt idx="4">
                  <c:v>E5</c:v>
                </c:pt>
              </c:strCache>
            </c: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2.265</c:v>
                </c:pt>
                <c:pt idx="1">
                  <c:v>2.859</c:v>
                </c:pt>
                <c:pt idx="2">
                  <c:v>2.474</c:v>
                </c:pt>
                <c:pt idx="3">
                  <c:v>13.552</c:v>
                </c:pt>
                <c:pt idx="4">
                  <c:v>-0.711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-929066816"/>
        <c:axId val="-929088032"/>
      </c:barChart>
      <c:catAx>
        <c:axId val="-929066816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929088032"/>
        <c:crosses val="autoZero"/>
        <c:auto val="1"/>
        <c:lblAlgn val="ctr"/>
        <c:lblOffset val="100"/>
        <c:noMultiLvlLbl val="0"/>
      </c:catAx>
      <c:valAx>
        <c:axId val="-929088032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lang="zh-CN" sz="1195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</a:p>
        </c:txPr>
        <c:crossAx val="-929066816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layout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lang="zh-CN" sz="1195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</a:p>
      </c:txPr>
    </c:legend>
    <c:plotVisOnly val="1"/>
    <c:dispBlanksAs val="gap"/>
    <c:showDLblsOverMax val="0"/>
    <c:extLst>
      <c:ext uri="{0b15fc19-7d7d-44ad-8c2d-2c3a37ce22c3}">
        <chartProps xmlns="https://web.wps.cn/et/2018/main" chartId="{69379d6b-c29a-4835-ae0a-cabb2108f4a7}"/>
      </c:ext>
    </c:extLst>
  </c:chart>
  <c:spPr>
    <a:noFill/>
    <a:ln>
      <a:noFill/>
    </a:ln>
    <a:effectLst/>
  </c:spPr>
  <c:txPr>
    <a:bodyPr/>
    <a:lstStyle/>
    <a:p>
      <a:pPr>
        <a:defRPr lang="zh-CN"/>
      </a:pPr>
    </a:p>
  </c:txPr>
  <c:externalData r:id="rId1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4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3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5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5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5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5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E977C3-5D49-4AE3-94A3-4A850F718679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1D3FDB9-DDE0-4054-8528-4EF247FF7996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各位老师好，我汇报的题目是中东冲突对国际油价冲击。本文使用事件研究和中断时间序列，比较五次关键事件后 WTI 与 Brent 的相对异常反应。</a:t>
            </a:r>
            <a:endParaRPr lang="zh-CN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汇报分为四部分。先说明研究问题和数据，再介绍统计方法链，随后展示核心实证结果，最后总结结论与不足。</a:t>
            </a:r>
            <a:endParaRPr lang="zh-CN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首先从经济机制出发，说明为什么中东冲突可能快速传导到国际油价，并据此提出可检验的研究假设。</a:t>
            </a:r>
            <a:endParaRPr lang="zh-CN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冲突并不一定要实际减少产量才会影响油价。供应设施、航运通道、市场预期和风险溢价四条渠道可以同时作用，因此价格反应往往具有突发性和非对称性。</a:t>
            </a:r>
            <a:endParaRPr lang="zh-CN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本文的核心不是只观察油价是否上涨，而是识别每个事件的异常反应是否具有统计显著性，并比较不同事件和不同基准油价之间的差异。</a:t>
            </a:r>
            <a:endParaRPr lang="zh-CN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价格数据采用 FRED 日度 WTI 与 Brent，冲突背景使用 ACLED 周度汇总数据。事件样本由外部新闻事实与冲突严重程度确定，避免根据油价结果反向挑选事件。</a:t>
            </a:r>
            <a:endParaRPr lang="zh-CN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在明确数据与事件后，下面介绍完整统计方法链。方法设计同时回答短期异常收益、动态水平变化和序列结构变化三个问题。</a:t>
            </a:r>
            <a:endParaRPr lang="zh-CN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整个分析从外部事实确定事件开始，先估计正常收益和 CAR，再用 ITS 分离即时与趋势冲击，最后通过残差诊断、稳健标准误和结构断点进行验证。</a:t>
            </a:r>
            <a:endParaRPr lang="zh-CN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事件研究的关键是构造反事实，即如果没有事件，油价收益率本应是多少。实际收益与市场模型预测值的差异就是异常收益，跨事件窗口累加后得到 CAR。</a:t>
            </a:r>
            <a:endParaRPr lang="zh-CN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CAR 描述事件窗口内的累计异常收益，而 ITS 进一步把冲击拆成事件后的即时水平变化和后续趋势变化。由于金融收益率可能存在异方差和自相关，最终推断采用 Newey-West 标准误。</a:t>
            </a:r>
            <a:endParaRPr lang="zh-CN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下面进入实证结果。重点关注三个层面：收益率的基本特征、CAR 的事件排序，以及 ITS 和结构断点能否提供一致证据。</a:t>
            </a:r>
            <a:endParaRPr lang="zh-CN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WTI 和 Brent 的日收益率均呈现高峰厚尾，说明极端波动出现频率高于正态分布。两者相关系数为零点八四五，但并非完全同步，这为相对异常收益分析提供了变化空间。</a:t>
            </a:r>
            <a:endParaRPr lang="zh-CN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主窗口零到加三日中，E4 的相对异常反应最强，并在多重检验修正后仍显著。WTI 的负 CAR 不是绝对价格必然下跌，而是相对于作为市场因子的 Brent 表现更弱。</a:t>
            </a:r>
            <a:endParaRPr lang="zh-CN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ITS 与 CAR 给出了互补证据。E3 对 Brent 的即时冲击和 E4 对 WTI 的相对即时冲击在 Newey-West 修正后显著，同时断点集中在 E3 对应交易日前后。</a:t>
            </a:r>
            <a:endParaRPr lang="zh-CN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综合来看，冲突事件的市场影响具有明显异质性，真正涉及出口设施和地区供应风险的事件更容易产生稳健异常反应。本文结果应理解为相对价格反应，未来可通过独立商品市场因子和逐事件 ACLED 数据提高因果识别。</a:t>
            </a:r>
            <a:endParaRPr lang="zh-CN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dirty="0"/>
              <a:t>我的汇报到这里结束，感谢各位老师的聆听，欢迎批评指正。</a:t>
            </a:r>
            <a:endParaRPr lang="zh-CN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914400" y="2130426"/>
            <a:ext cx="10363200" cy="1470025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pct10">
          <a:fgClr>
            <a:schemeClr val="bg2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609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165600" y="635635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737600" y="635635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9" Type="http://schemas.openxmlformats.org/officeDocument/2006/relationships/tags" Target="../tags/tag7.xml"/><Relationship Id="rId8" Type="http://schemas.openxmlformats.org/officeDocument/2006/relationships/tags" Target="../tags/tag6.xml"/><Relationship Id="rId7" Type="http://schemas.openxmlformats.org/officeDocument/2006/relationships/tags" Target="../tags/tag5.xml"/><Relationship Id="rId6" Type="http://schemas.openxmlformats.org/officeDocument/2006/relationships/tags" Target="../tags/tag4.xml"/><Relationship Id="rId5" Type="http://schemas.openxmlformats.org/officeDocument/2006/relationships/tags" Target="../tags/tag3.xml"/><Relationship Id="rId4" Type="http://schemas.openxmlformats.org/officeDocument/2006/relationships/tags" Target="../tags/tag2.xml"/><Relationship Id="rId31" Type="http://schemas.openxmlformats.org/officeDocument/2006/relationships/notesSlide" Target="../notesSlides/notesSlide2.xml"/><Relationship Id="rId30" Type="http://schemas.openxmlformats.org/officeDocument/2006/relationships/slideLayout" Target="../slideLayouts/slideLayout1.xml"/><Relationship Id="rId3" Type="http://schemas.openxmlformats.org/officeDocument/2006/relationships/tags" Target="../tags/tag1.xml"/><Relationship Id="rId29" Type="http://schemas.openxmlformats.org/officeDocument/2006/relationships/image" Target="../media/image8.png"/><Relationship Id="rId28" Type="http://schemas.openxmlformats.org/officeDocument/2006/relationships/image" Target="../media/image7.png"/><Relationship Id="rId27" Type="http://schemas.openxmlformats.org/officeDocument/2006/relationships/image" Target="../media/image6.png"/><Relationship Id="rId26" Type="http://schemas.openxmlformats.org/officeDocument/2006/relationships/tags" Target="../tags/tag24.xml"/><Relationship Id="rId25" Type="http://schemas.openxmlformats.org/officeDocument/2006/relationships/tags" Target="../tags/tag23.xml"/><Relationship Id="rId24" Type="http://schemas.openxmlformats.org/officeDocument/2006/relationships/tags" Target="../tags/tag22.xml"/><Relationship Id="rId23" Type="http://schemas.openxmlformats.org/officeDocument/2006/relationships/tags" Target="../tags/tag21.xml"/><Relationship Id="rId22" Type="http://schemas.openxmlformats.org/officeDocument/2006/relationships/tags" Target="../tags/tag20.xml"/><Relationship Id="rId21" Type="http://schemas.openxmlformats.org/officeDocument/2006/relationships/tags" Target="../tags/tag19.xml"/><Relationship Id="rId20" Type="http://schemas.openxmlformats.org/officeDocument/2006/relationships/tags" Target="../tags/tag18.xml"/><Relationship Id="rId2" Type="http://schemas.openxmlformats.org/officeDocument/2006/relationships/image" Target="../media/image5.jpeg"/><Relationship Id="rId19" Type="http://schemas.openxmlformats.org/officeDocument/2006/relationships/tags" Target="../tags/tag17.xml"/><Relationship Id="rId18" Type="http://schemas.openxmlformats.org/officeDocument/2006/relationships/tags" Target="../tags/tag16.xml"/><Relationship Id="rId17" Type="http://schemas.openxmlformats.org/officeDocument/2006/relationships/tags" Target="../tags/tag15.xml"/><Relationship Id="rId16" Type="http://schemas.openxmlformats.org/officeDocument/2006/relationships/tags" Target="../tags/tag14.xml"/><Relationship Id="rId15" Type="http://schemas.openxmlformats.org/officeDocument/2006/relationships/tags" Target="../tags/tag13.xml"/><Relationship Id="rId14" Type="http://schemas.openxmlformats.org/officeDocument/2006/relationships/tags" Target="../tags/tag12.xml"/><Relationship Id="rId13" Type="http://schemas.openxmlformats.org/officeDocument/2006/relationships/tags" Target="../tags/tag11.xml"/><Relationship Id="rId12" Type="http://schemas.openxmlformats.org/officeDocument/2006/relationships/tags" Target="../tags/tag10.xml"/><Relationship Id="rId11" Type="http://schemas.openxmlformats.org/officeDocument/2006/relationships/tags" Target="../tags/tag9.xml"/><Relationship Id="rId10" Type="http://schemas.openxmlformats.org/officeDocument/2006/relationships/tags" Target="../tags/tag8.xml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image" Target="../media/image8.png"/><Relationship Id="rId7" Type="http://schemas.openxmlformats.org/officeDocument/2006/relationships/image" Target="../media/image7.png"/><Relationship Id="rId6" Type="http://schemas.microsoft.com/office/2007/relationships/hdphoto" Target="../media/image10.wdp"/><Relationship Id="rId5" Type="http://schemas.openxmlformats.org/officeDocument/2006/relationships/image" Target="../media/image9.png"/><Relationship Id="rId4" Type="http://schemas.openxmlformats.org/officeDocument/2006/relationships/tags" Target="../tags/tag28.xml"/><Relationship Id="rId38" Type="http://schemas.openxmlformats.org/officeDocument/2006/relationships/notesSlide" Target="../notesSlides/notesSlide4.xml"/><Relationship Id="rId37" Type="http://schemas.openxmlformats.org/officeDocument/2006/relationships/slideLayout" Target="../slideLayouts/slideLayout2.xml"/><Relationship Id="rId36" Type="http://schemas.openxmlformats.org/officeDocument/2006/relationships/image" Target="../media/image18.svg"/><Relationship Id="rId35" Type="http://schemas.openxmlformats.org/officeDocument/2006/relationships/image" Target="../media/image17.png"/><Relationship Id="rId34" Type="http://schemas.openxmlformats.org/officeDocument/2006/relationships/tags" Target="../tags/tag48.xml"/><Relationship Id="rId33" Type="http://schemas.openxmlformats.org/officeDocument/2006/relationships/image" Target="../media/image16.svg"/><Relationship Id="rId32" Type="http://schemas.openxmlformats.org/officeDocument/2006/relationships/image" Target="../media/image15.png"/><Relationship Id="rId31" Type="http://schemas.openxmlformats.org/officeDocument/2006/relationships/tags" Target="../tags/tag47.xml"/><Relationship Id="rId30" Type="http://schemas.openxmlformats.org/officeDocument/2006/relationships/image" Target="../media/image14.svg"/><Relationship Id="rId3" Type="http://schemas.openxmlformats.org/officeDocument/2006/relationships/tags" Target="../tags/tag27.xml"/><Relationship Id="rId29" Type="http://schemas.openxmlformats.org/officeDocument/2006/relationships/image" Target="../media/image13.png"/><Relationship Id="rId28" Type="http://schemas.openxmlformats.org/officeDocument/2006/relationships/tags" Target="../tags/tag46.xml"/><Relationship Id="rId27" Type="http://schemas.openxmlformats.org/officeDocument/2006/relationships/image" Target="../media/image12.svg"/><Relationship Id="rId26" Type="http://schemas.openxmlformats.org/officeDocument/2006/relationships/image" Target="../media/image11.png"/><Relationship Id="rId25" Type="http://schemas.openxmlformats.org/officeDocument/2006/relationships/tags" Target="../tags/tag45.xml"/><Relationship Id="rId24" Type="http://schemas.openxmlformats.org/officeDocument/2006/relationships/tags" Target="../tags/tag44.xml"/><Relationship Id="rId23" Type="http://schemas.openxmlformats.org/officeDocument/2006/relationships/tags" Target="../tags/tag43.xml"/><Relationship Id="rId22" Type="http://schemas.openxmlformats.org/officeDocument/2006/relationships/tags" Target="../tags/tag42.xml"/><Relationship Id="rId21" Type="http://schemas.openxmlformats.org/officeDocument/2006/relationships/tags" Target="../tags/tag41.xml"/><Relationship Id="rId20" Type="http://schemas.openxmlformats.org/officeDocument/2006/relationships/tags" Target="../tags/tag40.xml"/><Relationship Id="rId2" Type="http://schemas.openxmlformats.org/officeDocument/2006/relationships/tags" Target="../tags/tag26.xml"/><Relationship Id="rId19" Type="http://schemas.openxmlformats.org/officeDocument/2006/relationships/tags" Target="../tags/tag39.xml"/><Relationship Id="rId18" Type="http://schemas.openxmlformats.org/officeDocument/2006/relationships/tags" Target="../tags/tag38.xml"/><Relationship Id="rId17" Type="http://schemas.openxmlformats.org/officeDocument/2006/relationships/tags" Target="../tags/tag37.xml"/><Relationship Id="rId16" Type="http://schemas.openxmlformats.org/officeDocument/2006/relationships/tags" Target="../tags/tag36.xml"/><Relationship Id="rId15" Type="http://schemas.openxmlformats.org/officeDocument/2006/relationships/tags" Target="../tags/tag35.xml"/><Relationship Id="rId14" Type="http://schemas.openxmlformats.org/officeDocument/2006/relationships/tags" Target="../tags/tag34.xml"/><Relationship Id="rId13" Type="http://schemas.openxmlformats.org/officeDocument/2006/relationships/tags" Target="../tags/tag33.xml"/><Relationship Id="rId12" Type="http://schemas.openxmlformats.org/officeDocument/2006/relationships/tags" Target="../tags/tag32.xml"/><Relationship Id="rId11" Type="http://schemas.openxmlformats.org/officeDocument/2006/relationships/tags" Target="../tags/tag31.xml"/><Relationship Id="rId10" Type="http://schemas.openxmlformats.org/officeDocument/2006/relationships/tags" Target="../tags/tag30.xml"/><Relationship Id="rId1" Type="http://schemas.openxmlformats.org/officeDocument/2006/relationships/tags" Target="../tags/tag25.xml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tags" Target="../tags/tag52.xml"/><Relationship Id="rId8" Type="http://schemas.openxmlformats.org/officeDocument/2006/relationships/tags" Target="../tags/tag51.xml"/><Relationship Id="rId7" Type="http://schemas.openxmlformats.org/officeDocument/2006/relationships/tags" Target="../tags/tag50.xml"/><Relationship Id="rId6" Type="http://schemas.openxmlformats.org/officeDocument/2006/relationships/tags" Target="../tags/tag49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6" Type="http://schemas.openxmlformats.org/officeDocument/2006/relationships/notesSlide" Target="../notesSlides/notesSlide5.xml"/><Relationship Id="rId15" Type="http://schemas.openxmlformats.org/officeDocument/2006/relationships/slideLayout" Target="../slideLayouts/slideLayout2.xml"/><Relationship Id="rId14" Type="http://schemas.openxmlformats.org/officeDocument/2006/relationships/tags" Target="../tags/tag57.xml"/><Relationship Id="rId13" Type="http://schemas.openxmlformats.org/officeDocument/2006/relationships/tags" Target="../tags/tag56.xml"/><Relationship Id="rId12" Type="http://schemas.openxmlformats.org/officeDocument/2006/relationships/tags" Target="../tags/tag55.xml"/><Relationship Id="rId11" Type="http://schemas.openxmlformats.org/officeDocument/2006/relationships/tags" Target="../tags/tag54.xml"/><Relationship Id="rId10" Type="http://schemas.openxmlformats.org/officeDocument/2006/relationships/tags" Target="../tags/tag53.xml"/><Relationship Id="rId1" Type="http://schemas.openxmlformats.org/officeDocument/2006/relationships/image" Target="../media/image1.png"/></Relationships>
</file>

<file path=ppt/slides/_rels/slide6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6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7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61.xml"/><Relationship Id="rId8" Type="http://schemas.openxmlformats.org/officeDocument/2006/relationships/tags" Target="../tags/tag60.xml"/><Relationship Id="rId7" Type="http://schemas.openxmlformats.org/officeDocument/2006/relationships/tags" Target="../tags/tag59.xml"/><Relationship Id="rId6" Type="http://schemas.openxmlformats.org/officeDocument/2006/relationships/tags" Target="../tags/tag58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2" Type="http://schemas.openxmlformats.org/officeDocument/2006/relationships/notesSlide" Target="../notesSlides/notesSlide8.xml"/><Relationship Id="rId31" Type="http://schemas.openxmlformats.org/officeDocument/2006/relationships/slideLayout" Target="../slideLayouts/slideLayout2.xml"/><Relationship Id="rId30" Type="http://schemas.openxmlformats.org/officeDocument/2006/relationships/tags" Target="../tags/tag82.xml"/><Relationship Id="rId3" Type="http://schemas.microsoft.com/office/2007/relationships/hdphoto" Target="../media/image10.wdp"/><Relationship Id="rId29" Type="http://schemas.openxmlformats.org/officeDocument/2006/relationships/tags" Target="../tags/tag81.xml"/><Relationship Id="rId28" Type="http://schemas.openxmlformats.org/officeDocument/2006/relationships/tags" Target="../tags/tag80.xml"/><Relationship Id="rId27" Type="http://schemas.openxmlformats.org/officeDocument/2006/relationships/tags" Target="../tags/tag79.xml"/><Relationship Id="rId26" Type="http://schemas.openxmlformats.org/officeDocument/2006/relationships/tags" Target="../tags/tag78.xml"/><Relationship Id="rId25" Type="http://schemas.openxmlformats.org/officeDocument/2006/relationships/tags" Target="../tags/tag77.xml"/><Relationship Id="rId24" Type="http://schemas.openxmlformats.org/officeDocument/2006/relationships/tags" Target="../tags/tag76.xml"/><Relationship Id="rId23" Type="http://schemas.openxmlformats.org/officeDocument/2006/relationships/tags" Target="../tags/tag75.xml"/><Relationship Id="rId22" Type="http://schemas.openxmlformats.org/officeDocument/2006/relationships/tags" Target="../tags/tag74.xml"/><Relationship Id="rId21" Type="http://schemas.openxmlformats.org/officeDocument/2006/relationships/tags" Target="../tags/tag73.xml"/><Relationship Id="rId20" Type="http://schemas.openxmlformats.org/officeDocument/2006/relationships/tags" Target="../tags/tag72.xml"/><Relationship Id="rId2" Type="http://schemas.openxmlformats.org/officeDocument/2006/relationships/image" Target="../media/image9.png"/><Relationship Id="rId19" Type="http://schemas.openxmlformats.org/officeDocument/2006/relationships/tags" Target="../tags/tag71.xml"/><Relationship Id="rId18" Type="http://schemas.openxmlformats.org/officeDocument/2006/relationships/tags" Target="../tags/tag70.xml"/><Relationship Id="rId17" Type="http://schemas.openxmlformats.org/officeDocument/2006/relationships/tags" Target="../tags/tag69.xml"/><Relationship Id="rId16" Type="http://schemas.openxmlformats.org/officeDocument/2006/relationships/tags" Target="../tags/tag68.xml"/><Relationship Id="rId15" Type="http://schemas.openxmlformats.org/officeDocument/2006/relationships/tags" Target="../tags/tag67.xml"/><Relationship Id="rId14" Type="http://schemas.openxmlformats.org/officeDocument/2006/relationships/tags" Target="../tags/tag66.xml"/><Relationship Id="rId13" Type="http://schemas.openxmlformats.org/officeDocument/2006/relationships/tags" Target="../tags/tag65.xml"/><Relationship Id="rId12" Type="http://schemas.openxmlformats.org/officeDocument/2006/relationships/tags" Target="../tags/tag64.xml"/><Relationship Id="rId11" Type="http://schemas.openxmlformats.org/officeDocument/2006/relationships/tags" Target="../tags/tag63.xml"/><Relationship Id="rId10" Type="http://schemas.openxmlformats.org/officeDocument/2006/relationships/tags" Target="../tags/tag62.xml"/><Relationship Id="rId1" Type="http://schemas.openxmlformats.org/officeDocument/2006/relationships/image" Target="../media/image1.png"/></Relationships>
</file>

<file path=ppt/slides/_rels/slide9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9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" Type="http://schemas.openxmlformats.org/officeDocument/2006/relationships/image" Target="../media/image1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1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1.pn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2.xml"/><Relationship Id="rId8" Type="http://schemas.openxmlformats.org/officeDocument/2006/relationships/slideLayout" Target="../slideLayouts/slideLayout2.xml"/><Relationship Id="rId7" Type="http://schemas.openxmlformats.org/officeDocument/2006/relationships/image" Target="../media/image8.png"/><Relationship Id="rId6" Type="http://schemas.openxmlformats.org/officeDocument/2006/relationships/image" Target="../media/image7.png"/><Relationship Id="rId5" Type="http://schemas.microsoft.com/office/2007/relationships/hdphoto" Target="../media/image10.wdp"/><Relationship Id="rId4" Type="http://schemas.openxmlformats.org/officeDocument/2006/relationships/image" Target="../media/image9.png"/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chart" Target="../charts/chart1.xml"/></Relationships>
</file>

<file path=ppt/slides/_rels/slide1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3.xml"/><Relationship Id="rId6" Type="http://schemas.openxmlformats.org/officeDocument/2006/relationships/slideLayout" Target="../slideLayouts/slideLayout2.xml"/><Relationship Id="rId5" Type="http://schemas.openxmlformats.org/officeDocument/2006/relationships/image" Target="../media/image8.png"/><Relationship Id="rId4" Type="http://schemas.openxmlformats.org/officeDocument/2006/relationships/image" Target="../media/image7.png"/><Relationship Id="rId3" Type="http://schemas.microsoft.com/office/2007/relationships/hdphoto" Target="../media/image10.wdp"/><Relationship Id="rId2" Type="http://schemas.openxmlformats.org/officeDocument/2006/relationships/image" Target="../media/image9.png"/><Relationship Id="rId1" Type="http://schemas.openxmlformats.org/officeDocument/2006/relationships/chart" Target="../charts/chart4.xml"/></Relationships>
</file>

<file path=ppt/slides/_rels/slide1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4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5.xml"/><Relationship Id="rId5" Type="http://schemas.openxmlformats.org/officeDocument/2006/relationships/slideLayout" Target="../slideLayouts/slideLayout2.xml"/><Relationship Id="rId4" Type="http://schemas.openxmlformats.org/officeDocument/2006/relationships/image" Target="../media/image8.png"/><Relationship Id="rId3" Type="http://schemas.openxmlformats.org/officeDocument/2006/relationships/image" Target="../media/image7.png"/><Relationship Id="rId2" Type="http://schemas.microsoft.com/office/2007/relationships/hdphoto" Target="../media/image10.wdp"/><Relationship Id="rId1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16.xml"/><Relationship Id="rId6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4.png"/><Relationship Id="rId3" Type="http://schemas.openxmlformats.org/officeDocument/2006/relationships/image" Target="../media/image3.png"/><Relationship Id="rId2" Type="http://schemas.openxmlformats.org/officeDocument/2006/relationships/image" Target="../media/image19.jpe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63"/>
          <a:stretch>
            <a:fillRect/>
          </a:stretch>
        </p:blipFill>
        <p:spPr>
          <a:xfrm>
            <a:off x="191346" y="116631"/>
            <a:ext cx="11809309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汇报人：XXX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指导教师：XXX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5251450" y="5162937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2026年6月12日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4" name="文本占位符 24"/>
          <p:cNvSpPr txBox="1"/>
          <p:nvPr/>
        </p:nvSpPr>
        <p:spPr>
          <a:xfrm>
            <a:off x="515378" y="2218964"/>
            <a:ext cx="11161239" cy="2133712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lang="zh-CN" altLang="en-US" dirty="0">
                <a:solidFill>
                  <a:sysClr val="window" lastClr="FFFFFF"/>
                </a:solidFill>
              </a:rPr>
              <a:t>中东冲突对国际油价冲击
事件研究法与回归分析</a:t>
            </a:r>
            <a:endParaRPr kumimoji="0" lang="zh-CN" altLang="en-US" sz="5400" b="1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5" name="文本占位符 27"/>
          <p:cNvSpPr txBox="1"/>
          <p:nvPr/>
        </p:nvSpPr>
        <p:spPr>
          <a:xfrm>
            <a:off x="4784090" y="4541520"/>
            <a:ext cx="2623820" cy="423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600" b="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0" indent="0" algn="l" fontAlgn="base">
              <a:defRPr/>
            </a:pPr>
            <a:r>
              <a:rPr kumimoji="0" lang="zh-CN" altLang="zh-CN" sz="18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数理统计课程作业答辩</a:t>
            </a:r>
            <a:endParaRPr kumimoji="0" lang="zh-CN" altLang="zh-CN" sz="1800" b="0" i="0" u="none" strike="noStrike" kern="1200" cap="none" spc="0" normalizeH="0" baseline="0" noProof="0" dirty="0">
              <a:ln>
                <a:noFill/>
              </a:ln>
              <a:solidFill>
                <a:sysClr val="window" lastClr="FFFFFF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cxnSp>
        <p:nvCxnSpPr>
          <p:cNvPr id="31" name="直接连接符 30"/>
          <p:cNvCxnSpPr/>
          <p:nvPr/>
        </p:nvCxnSpPr>
        <p:spPr>
          <a:xfrm>
            <a:off x="2207568" y="4392452"/>
            <a:ext cx="763284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9" name="组合 18"/>
          <p:cNvGrpSpPr/>
          <p:nvPr/>
        </p:nvGrpSpPr>
        <p:grpSpPr>
          <a:xfrm>
            <a:off x="3491990" y="9815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lvl="0" indent="0" algn="l" fontAlgn="base"/>
              <a:r>
                <a:rPr lang="zh-CN" altLang="zh-CN" sz="900" b="0" dirty="0">
                  <a:solidFill>
                    <a:prstClr val="white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图片 4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30031" y="522153"/>
            <a:ext cx="6049548" cy="6049548"/>
          </a:xfrm>
          <a:prstGeom prst="rect">
            <a:avLst/>
          </a:prstGeom>
        </p:spPr>
      </p:pic>
      <p:pic>
        <p:nvPicPr>
          <p:cNvPr id="2" name="图片 1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290" r="16132"/>
          <a:stretch>
            <a:fillRect/>
          </a:stretch>
        </p:blipFill>
        <p:spPr>
          <a:xfrm>
            <a:off x="1" y="-1"/>
            <a:ext cx="6240014" cy="6872989"/>
          </a:xfrm>
          <a:prstGeom prst="rect">
            <a:avLst/>
          </a:prstGeom>
        </p:spPr>
      </p:pic>
      <p:sp>
        <p:nvSpPr>
          <p:cNvPr id="3" name="矩形 2"/>
          <p:cNvSpPr/>
          <p:nvPr/>
        </p:nvSpPr>
        <p:spPr>
          <a:xfrm>
            <a:off x="-19601" y="0"/>
            <a:ext cx="6259616" cy="6872990"/>
          </a:xfrm>
          <a:prstGeom prst="rect">
            <a:avLst/>
          </a:prstGeom>
          <a:gradFill flip="none" rotWithShape="1">
            <a:gsLst>
              <a:gs pos="0">
                <a:srgbClr val="024282">
                  <a:alpha val="70000"/>
                </a:srgbClr>
              </a:gs>
              <a:gs pos="59000">
                <a:srgbClr val="024282">
                  <a:alpha val="80000"/>
                </a:srgbClr>
              </a:gs>
              <a:gs pos="100000">
                <a:srgbClr val="024282">
                  <a:alpha val="95000"/>
                </a:srgb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grpSp>
        <p:nvGrpSpPr>
          <p:cNvPr id="10" name="组合 9"/>
          <p:cNvGrpSpPr/>
          <p:nvPr/>
        </p:nvGrpSpPr>
        <p:grpSpPr>
          <a:xfrm>
            <a:off x="1251251" y="948678"/>
            <a:ext cx="3022484" cy="1350274"/>
            <a:chOff x="1283804" y="1236710"/>
            <a:chExt cx="3022484" cy="1350274"/>
          </a:xfrm>
        </p:grpSpPr>
        <p:sp>
          <p:nvSpPr>
            <p:cNvPr id="4" name="平行四边形 3"/>
            <p:cNvSpPr/>
            <p:nvPr/>
          </p:nvSpPr>
          <p:spPr>
            <a:xfrm>
              <a:off x="1283804" y="1236710"/>
              <a:ext cx="3022484" cy="1350274"/>
            </a:xfrm>
            <a:prstGeom prst="parallelogram">
              <a:avLst>
                <a:gd name="adj" fmla="val 30209"/>
              </a:avLst>
            </a:prstGeom>
            <a:solidFill>
              <a:schemeClr val="bg1"/>
            </a:solidFill>
            <a:ln>
              <a:solidFill>
                <a:schemeClr val="bg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grpSp>
          <p:nvGrpSpPr>
            <p:cNvPr id="6" name="组合 5"/>
            <p:cNvGrpSpPr/>
            <p:nvPr/>
          </p:nvGrpSpPr>
          <p:grpSpPr>
            <a:xfrm>
              <a:off x="1573792" y="1256225"/>
              <a:ext cx="2410259" cy="1330759"/>
              <a:chOff x="4874746" y="232424"/>
              <a:chExt cx="2410259" cy="1330759"/>
            </a:xfrm>
          </p:grpSpPr>
          <p:sp>
            <p:nvSpPr>
              <p:cNvPr id="7" name="文本框 6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5193843" y="1163073"/>
                <a:ext cx="1772064" cy="40011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en-US" altLang="zh-CN" sz="20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Arial" panose="020B0604020202020204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CONTENTS</a:t>
                </a:r>
                <a:endParaRPr kumimoji="0" lang="en-US" altLang="zh-CN" sz="20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sp>
            <p:nvSpPr>
              <p:cNvPr id="8" name="文本框 7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  <p:cNvSpPr txBox="1">
                <a:spLocks noChangeArrowheads="1"/>
              </p:cNvSpPr>
              <p:nvPr/>
            </p:nvSpPr>
            <p:spPr bwMode="auto">
              <a:xfrm>
                <a:off x="4874746" y="232424"/>
                <a:ext cx="2410259" cy="83099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5pPr>
                <a:lvl6pPr marL="25146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6pPr>
                <a:lvl7pPr marL="29718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7pPr>
                <a:lvl8pPr marL="34290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8pPr>
                <a:lvl9pPr marL="3886200" indent="-228600" defTabSz="685800" eaLnBrk="0" fontAlgn="base" hangingPunct="0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Arial" panose="020B0604020202020204" pitchFamily="34" charset="0"/>
                    <a:ea typeface="微软雅黑" panose="020B0503020204020204" pitchFamily="34" charset="-122"/>
                  </a:defRPr>
                </a:lvl9pPr>
              </a:lstStyle>
              <a:p>
                <a:pPr marL="0" marR="0" lvl="0" indent="0" algn="ctr" defTabSz="685800" rtl="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>
                    <a:tab pos="2865755" algn="l"/>
                  </a:tabLst>
                  <a:defRPr/>
                </a:pPr>
                <a:r>
                  <a:rPr kumimoji="0" lang="zh-CN" altLang="en-US" sz="4800" b="1" i="0" u="none" strike="noStrike" kern="1200" cap="none" spc="0" normalizeH="0" baseline="0" noProof="0" dirty="0">
                    <a:ln>
                      <a:noFill/>
                    </a:ln>
                    <a:solidFill>
                      <a:srgbClr val="024282"/>
                    </a:solidFill>
                    <a:effectLst/>
                    <a:uLnTx/>
                    <a:uFillTx/>
                    <a:latin typeface="微软雅黑" panose="020B0503020204020204" pitchFamily="34" charset="-122"/>
                    <a:ea typeface="微软雅黑" panose="020B0503020204020204" pitchFamily="34" charset="-122"/>
                    <a:cs typeface="+mn-cs"/>
                    <a:sym typeface="Calibri" panose="020F0502020204030204" pitchFamily="34" charset="0"/>
                  </a:rPr>
                  <a:t>目 录</a:t>
                </a:r>
                <a:endParaRPr kumimoji="0" lang="en-US" altLang="zh-CN" sz="4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endParaRPr>
              </a:p>
            </p:txBody>
          </p:sp>
          <p:cxnSp>
            <p:nvCxnSpPr>
              <p:cNvPr id="9" name="直接连接符 8"/>
              <p:cNvCxnSpPr/>
              <p:nvPr/>
            </p:nvCxnSpPr>
            <p:spPr>
              <a:xfrm>
                <a:off x="5471592" y="1091557"/>
                <a:ext cx="1224136" cy="0"/>
              </a:xfrm>
              <a:prstGeom prst="line">
                <a:avLst/>
              </a:prstGeom>
              <a:ln w="28575">
                <a:solidFill>
                  <a:srgbClr val="02428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grpSp>
        <p:nvGrpSpPr>
          <p:cNvPr id="13" name="组合 12"/>
          <p:cNvGrpSpPr/>
          <p:nvPr>
            <p:custDataLst>
              <p:tags r:id="rId3"/>
            </p:custDataLst>
          </p:nvPr>
        </p:nvGrpSpPr>
        <p:grpSpPr>
          <a:xfrm>
            <a:off x="5519934" y="1112416"/>
            <a:ext cx="1381373" cy="660400"/>
            <a:chOff x="5519936" y="1488468"/>
            <a:chExt cx="1381373" cy="660400"/>
          </a:xfrm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grpSpPr>
        <p:sp>
          <p:nvSpPr>
            <p:cNvPr id="11" name="平行四边形 10"/>
            <p:cNvSpPr/>
            <p:nvPr>
              <p:custDataLst>
                <p:tags r:id="rId4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2" name="文本框 1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5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01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4" name="组合 13"/>
          <p:cNvGrpSpPr/>
          <p:nvPr>
            <p:custDataLst>
              <p:tags r:id="rId6"/>
            </p:custDataLst>
          </p:nvPr>
        </p:nvGrpSpPr>
        <p:grpSpPr>
          <a:xfrm>
            <a:off x="5519935" y="2528573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5" name="平行四边形 14"/>
            <p:cNvSpPr/>
            <p:nvPr>
              <p:custDataLst>
                <p:tags r:id="rId7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6" name="文本框 15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8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02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17" name="组合 16"/>
          <p:cNvGrpSpPr/>
          <p:nvPr>
            <p:custDataLst>
              <p:tags r:id="rId9"/>
            </p:custDataLst>
          </p:nvPr>
        </p:nvGrpSpPr>
        <p:grpSpPr>
          <a:xfrm>
            <a:off x="5450291" y="3944730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18" name="平行四边形 17"/>
            <p:cNvSpPr/>
            <p:nvPr>
              <p:custDataLst>
                <p:tags r:id="rId10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19" name="文本框 18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1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03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20" name="组合 19"/>
          <p:cNvGrpSpPr/>
          <p:nvPr>
            <p:custDataLst>
              <p:tags r:id="rId12"/>
            </p:custDataLst>
          </p:nvPr>
        </p:nvGrpSpPr>
        <p:grpSpPr>
          <a:xfrm>
            <a:off x="5519934" y="5360888"/>
            <a:ext cx="1381373" cy="660400"/>
            <a:chOff x="5519936" y="1488468"/>
            <a:chExt cx="1381373" cy="660400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grpSpPr>
        <p:sp>
          <p:nvSpPr>
            <p:cNvPr id="21" name="平行四边形 20"/>
            <p:cNvSpPr/>
            <p:nvPr>
              <p:custDataLst>
                <p:tags r:id="rId13"/>
              </p:custDataLst>
            </p:nvPr>
          </p:nvSpPr>
          <p:spPr>
            <a:xfrm>
              <a:off x="5519936" y="1488468"/>
              <a:ext cx="1381373" cy="660400"/>
            </a:xfrm>
            <a:prstGeom prst="parallelogram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22" name="文本框 21" descr="e7d195523061f1c09e9d68d7cf438b91ef959ecb14fc25d26BBA7F7DBC18E55DFF4014AF651F0BF2569D4B6C1DA7F1A4683A481403BD872FC687266AD13265C1DE7C373772FD8728ABDD69ADD03BFF5BE2862BC891DBB79E43A8244B4D7DEEF5699FBCECC4B588A2B2DB873A491956D064FEA000E55D99376C74C72843D12C9B3B90E2D60B285D6553FF3EF3DB706EFF"/>
            <p:cNvSpPr txBox="1">
              <a:spLocks noChangeArrowheads="1"/>
            </p:cNvSpPr>
            <p:nvPr>
              <p:custDataLst>
                <p:tags r:id="rId14"/>
              </p:custDataLst>
            </p:nvPr>
          </p:nvSpPr>
          <p:spPr bwMode="auto">
            <a:xfrm>
              <a:off x="5597600" y="1541909"/>
              <a:ext cx="1086759" cy="584775"/>
            </a:xfrm>
            <a:prstGeom prst="rect">
              <a:avLst/>
            </a:prstGeom>
            <a:noFill/>
            <a:ln>
              <a:noFill/>
            </a:ln>
          </p:spPr>
          <p:txBody>
            <a:bodyPr wrap="square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Arial" panose="020B0604020202020204" pitchFamily="34" charset="0"/>
                  <a:ea typeface="微软雅黑" panose="020B0503020204020204" pitchFamily="34" charset="-122"/>
                </a:defRPr>
              </a:lvl9pPr>
            </a:lstStyle>
            <a:p>
              <a:pPr marL="0" marR="0" lvl="0" indent="0" algn="ctr" defTabSz="6858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>
                  <a:tab pos="2865755" algn="l"/>
                </a:tabLst>
                <a:defRPr/>
              </a:pPr>
              <a:r>
                <a:rPr kumimoji="0" lang="en-US" altLang="zh-CN" sz="32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rial Black" panose="020B0A04020102020204" pitchFamily="34" charset="0"/>
                  <a:ea typeface="微软雅黑" panose="020B0503020204020204" pitchFamily="34" charset="-122"/>
                  <a:cs typeface="+mn-cs"/>
                  <a:sym typeface="Calibri" panose="020F0502020204030204" pitchFamily="34" charset="0"/>
                </a:rPr>
                <a:t>04</a:t>
              </a:r>
              <a:endParaRPr kumimoji="0" lang="en-US" altLang="zh-CN" sz="32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  <a:sym typeface="Calibri" panose="020F0502020204030204" pitchFamily="34" charset="0"/>
              </a:endParaRPr>
            </a:p>
          </p:txBody>
        </p:sp>
      </p:grpSp>
      <p:grpSp>
        <p:nvGrpSpPr>
          <p:cNvPr id="33" name="组合 32"/>
          <p:cNvGrpSpPr/>
          <p:nvPr>
            <p:custDataLst>
              <p:tags r:id="rId15"/>
            </p:custDataLst>
          </p:nvPr>
        </p:nvGrpSpPr>
        <p:grpSpPr>
          <a:xfrm>
            <a:off x="7407883" y="968819"/>
            <a:ext cx="2641600" cy="852834"/>
            <a:chOff x="7214249" y="968819"/>
            <a:chExt cx="2641600" cy="852834"/>
          </a:xfrm>
        </p:grpSpPr>
        <p:sp>
          <p:nvSpPr>
            <p:cNvPr id="31" name="文本框 6"/>
            <p:cNvSpPr txBox="1">
              <a:spLocks noChangeArrowheads="1"/>
            </p:cNvSpPr>
            <p:nvPr>
              <p:custDataLst>
                <p:tags r:id="rId16"/>
              </p:custDataLst>
            </p:nvPr>
          </p:nvSpPr>
          <p:spPr bwMode="auto">
            <a:xfrm>
              <a:off x="7214249" y="968819"/>
              <a:ext cx="2641600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200" tIns="45720" rIns="76200" bIns="45720" anchor="ctr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研究背景与问题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  <p:sp>
          <p:nvSpPr>
            <p:cNvPr id="32" name="矩形 31"/>
            <p:cNvSpPr/>
            <p:nvPr>
              <p:custDataLst>
                <p:tags r:id="rId17"/>
              </p:custDataLst>
            </p:nvPr>
          </p:nvSpPr>
          <p:spPr>
            <a:xfrm>
              <a:off x="7214249" y="1514948"/>
              <a:ext cx="2493645" cy="306705"/>
            </a:xfrm>
            <a:prstGeom prst="rect">
              <a:avLst/>
            </a:prstGeom>
          </p:spPr>
          <p:txBody>
            <a:bodyPr wrap="non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 panose="020F0302020204030204" pitchFamily="34" charset="0"/>
                  <a:ea typeface="微软雅黑" panose="020B0503020204020204" pitchFamily="34" charset="-122"/>
                  <a:cs typeface="Aptos"/>
                </a:rPr>
                <a:t>BACKGROUND &amp; QUESTIONS</a:t>
              </a:r>
              <a:endPara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F0302020204030204" pitchFamily="34" charset="0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34" name="组合 33"/>
          <p:cNvGrpSpPr/>
          <p:nvPr>
            <p:custDataLst>
              <p:tags r:id="rId18"/>
            </p:custDataLst>
          </p:nvPr>
        </p:nvGrpSpPr>
        <p:grpSpPr>
          <a:xfrm>
            <a:off x="7407883" y="2417011"/>
            <a:ext cx="2641600" cy="852835"/>
            <a:chOff x="7214249" y="968818"/>
            <a:chExt cx="2641600" cy="852835"/>
          </a:xfrm>
        </p:grpSpPr>
        <p:sp>
          <p:nvSpPr>
            <p:cNvPr id="35" name="文本框 6"/>
            <p:cNvSpPr txBox="1">
              <a:spLocks noChangeArrowheads="1"/>
            </p:cNvSpPr>
            <p:nvPr>
              <p:custDataLst>
                <p:tags r:id="rId19"/>
              </p:custDataLst>
            </p:nvPr>
          </p:nvSpPr>
          <p:spPr bwMode="auto">
            <a:xfrm>
              <a:off x="7214249" y="968818"/>
              <a:ext cx="2641600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200" tIns="45720" rIns="76200" bIns="45720" anchor="ctr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统计方法与设计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  <p:sp>
          <p:nvSpPr>
            <p:cNvPr id="36" name="矩形 35"/>
            <p:cNvSpPr/>
            <p:nvPr>
              <p:custDataLst>
                <p:tags r:id="rId20"/>
              </p:custDataLst>
            </p:nvPr>
          </p:nvSpPr>
          <p:spPr>
            <a:xfrm>
              <a:off x="7214249" y="1514948"/>
              <a:ext cx="1826260" cy="306705"/>
            </a:xfrm>
            <a:prstGeom prst="rect">
              <a:avLst/>
            </a:prstGeom>
          </p:spPr>
          <p:txBody>
            <a:bodyPr wrap="non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 panose="020F0302020204030204" pitchFamily="34" charset="0"/>
                  <a:ea typeface="微软雅黑" panose="020B0503020204020204" pitchFamily="34" charset="-122"/>
                  <a:cs typeface="Aptos"/>
                </a:rPr>
                <a:t>METHODS &amp; DESIGN</a:t>
              </a:r>
              <a:endPara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F0302020204030204" pitchFamily="34" charset="0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37" name="组合 36"/>
          <p:cNvGrpSpPr/>
          <p:nvPr>
            <p:custDataLst>
              <p:tags r:id="rId21"/>
            </p:custDataLst>
          </p:nvPr>
        </p:nvGrpSpPr>
        <p:grpSpPr>
          <a:xfrm>
            <a:off x="7407883" y="3833168"/>
            <a:ext cx="2641600" cy="852835"/>
            <a:chOff x="7214249" y="968818"/>
            <a:chExt cx="2641600" cy="852835"/>
          </a:xfrm>
        </p:grpSpPr>
        <p:sp>
          <p:nvSpPr>
            <p:cNvPr id="38" name="文本框 6"/>
            <p:cNvSpPr txBox="1">
              <a:spLocks noChangeArrowheads="1"/>
            </p:cNvSpPr>
            <p:nvPr>
              <p:custDataLst>
                <p:tags r:id="rId22"/>
              </p:custDataLst>
            </p:nvPr>
          </p:nvSpPr>
          <p:spPr bwMode="auto">
            <a:xfrm>
              <a:off x="7214249" y="968818"/>
              <a:ext cx="2641600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200" tIns="45720" rIns="76200" bIns="45720" anchor="ctr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实证结果与解释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  <p:sp>
          <p:nvSpPr>
            <p:cNvPr id="39" name="矩形 38"/>
            <p:cNvSpPr/>
            <p:nvPr>
              <p:custDataLst>
                <p:tags r:id="rId23"/>
              </p:custDataLst>
            </p:nvPr>
          </p:nvSpPr>
          <p:spPr>
            <a:xfrm>
              <a:off x="7214249" y="1514948"/>
              <a:ext cx="1734820" cy="306705"/>
            </a:xfrm>
            <a:prstGeom prst="rect">
              <a:avLst/>
            </a:prstGeom>
          </p:spPr>
          <p:txBody>
            <a:bodyPr wrap="non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 panose="020F0302020204030204" pitchFamily="34" charset="0"/>
                  <a:ea typeface="微软雅黑" panose="020B0503020204020204" pitchFamily="34" charset="-122"/>
                  <a:cs typeface="Aptos"/>
                </a:rPr>
                <a:t>EMPIRICAL RESULTS</a:t>
              </a:r>
              <a:endPara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F0302020204030204" pitchFamily="34" charset="0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40" name="组合 39"/>
          <p:cNvGrpSpPr/>
          <p:nvPr>
            <p:custDataLst>
              <p:tags r:id="rId24"/>
            </p:custDataLst>
          </p:nvPr>
        </p:nvGrpSpPr>
        <p:grpSpPr>
          <a:xfrm>
            <a:off x="7407883" y="5264955"/>
            <a:ext cx="2997200" cy="852834"/>
            <a:chOff x="7214249" y="968819"/>
            <a:chExt cx="2997200" cy="852834"/>
          </a:xfrm>
        </p:grpSpPr>
        <p:sp>
          <p:nvSpPr>
            <p:cNvPr id="41" name="文本框 6"/>
            <p:cNvSpPr txBox="1">
              <a:spLocks noChangeArrowheads="1"/>
            </p:cNvSpPr>
            <p:nvPr>
              <p:custDataLst>
                <p:tags r:id="rId25"/>
              </p:custDataLst>
            </p:nvPr>
          </p:nvSpPr>
          <p:spPr bwMode="auto">
            <a:xfrm>
              <a:off x="7214249" y="968819"/>
              <a:ext cx="2997200" cy="52197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76200" tIns="45720" rIns="76200" bIns="45720" anchor="ctr">
              <a:spAutoFit/>
            </a:bodyPr>
            <a:lstStyle>
              <a:lvl1pPr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1pPr>
              <a:lvl2pPr marL="742950" indent="-28575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2pPr>
              <a:lvl3pPr marL="11430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3pPr>
              <a:lvl4pPr marL="16002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4pPr>
              <a:lvl5pPr marL="2057400" indent="-228600"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5pPr>
              <a:lvl6pPr marL="25146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6pPr>
              <a:lvl7pPr marL="29718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7pPr>
              <a:lvl8pPr marL="34290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8pPr>
              <a:lvl9pPr marL="3886200" indent="-228600" defTabSz="685800" eaLnBrk="0" fontAlgn="base" hangingPunct="0">
                <a:spcBef>
                  <a:spcPct val="0"/>
                </a:spcBef>
                <a:spcAft>
                  <a:spcPct val="0"/>
                </a:spcAft>
                <a:defRPr sz="1300">
                  <a:solidFill>
                    <a:schemeClr val="tx1"/>
                  </a:solidFill>
                  <a:latin typeface="Calibri Light" panose="020F0302020204030204" pitchFamily="34" charset="0"/>
                  <a:ea typeface="方正宋刻本秀楷简体" panose="02000000000000000000" pitchFamily="2" charset="-122"/>
                </a:defRPr>
              </a:lvl9pPr>
            </a:lstStyle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en-US" sz="2800" b="1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结论、局限与展望</a:t>
              </a:r>
              <a:endPara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  <p:sp>
          <p:nvSpPr>
            <p:cNvPr id="42" name="矩形 41"/>
            <p:cNvSpPr/>
            <p:nvPr>
              <p:custDataLst>
                <p:tags r:id="rId26"/>
              </p:custDataLst>
            </p:nvPr>
          </p:nvSpPr>
          <p:spPr>
            <a:xfrm>
              <a:off x="7214249" y="1514948"/>
              <a:ext cx="2286000" cy="306705"/>
            </a:xfrm>
            <a:prstGeom prst="rect">
              <a:avLst/>
            </a:prstGeom>
          </p:spPr>
          <p:txBody>
            <a:bodyPr wrap="non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1400" b="0" i="0" u="none" strike="noStrike" kern="1200" cap="none" spc="0" normalizeH="0" baseline="0" noProof="0" dirty="0">
                  <a:ln>
                    <a:noFill/>
                  </a:ln>
                  <a:solidFill>
                    <a:srgbClr val="024282"/>
                  </a:solidFill>
                  <a:effectLst/>
                  <a:uLnTx/>
                  <a:uFillTx/>
                  <a:latin typeface="Aptos" panose="020F0302020204030204" pitchFamily="34" charset="0"/>
                  <a:ea typeface="微软雅黑" panose="020B0503020204020204" pitchFamily="34" charset="-122"/>
                  <a:cs typeface="Aptos"/>
                </a:rPr>
                <a:t>CONCLUSION &amp; OUTLOOK</a:t>
              </a:r>
              <a:endParaRPr kumimoji="0" lang="zh-CN" altLang="zh-CN" sz="14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F0302020204030204" pitchFamily="34" charset="0"/>
                <a:ea typeface="微软雅黑" panose="020B0503020204020204" pitchFamily="34" charset="-122"/>
                <a:cs typeface="Aptos"/>
              </a:endParaRPr>
            </a:p>
          </p:txBody>
        </p:sp>
      </p:grpSp>
      <p:pic>
        <p:nvPicPr>
          <p:cNvPr id="23" name="图片 22"/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9813545" y="6447112"/>
            <a:ext cx="2093426" cy="334487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2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2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7" name="矩形 46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lvl="0" indent="0" algn="l" fontAlgn="base">
                <a:defRPr/>
              </a:pPr>
              <a:r>
                <a:rPr lang="zh-CN" altLang="zh-CN" sz="900" b="0" dirty="0">
                  <a:solidFill>
                    <a:prstClr val="black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7735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01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研究背景与问题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424107"/>
            <a:ext cx="6088996" cy="1200329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17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F0302020204030204" pitchFamily="34" charset="0"/>
                <a:ea typeface="微软雅黑" panose="020B0503020204020204" pitchFamily="34" charset="-122"/>
                <a:cs typeface="Aptos"/>
              </a:rPr>
              <a:t>冲突升级如何改变石油供应预期、航运安全与风险溢价？</a:t>
            </a:r>
            <a:endParaRPr lang="zh-CN" sz="17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lvl="0" indent="0" algn="l" fontAlgn="base">
                <a:defRPr/>
              </a:pPr>
              <a:r>
                <a:rPr lang="zh-CN" altLang="zh-CN" sz="900" b="0" dirty="0">
                  <a:solidFill>
                    <a:prstClr val="black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矩形 26"/>
          <p:cNvSpPr/>
          <p:nvPr>
            <p:custDataLst>
              <p:tags r:id="rId1"/>
            </p:custDataLst>
          </p:nvPr>
        </p:nvSpPr>
        <p:spPr>
          <a:xfrm>
            <a:off x="8630285" y="3540760"/>
            <a:ext cx="2183130" cy="2177415"/>
          </a:xfrm>
          <a:prstGeom prst="roundRect">
            <a:avLst/>
          </a:prstGeom>
          <a:solidFill>
            <a:srgbClr val="F3F7FC"/>
          </a:solidFill>
          <a:ln w="15875">
            <a:solidFill>
              <a:srgbClr val="9AB9D3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600">
              <a:solidFill>
                <a:srgbClr val="063F75"/>
              </a:solidFill>
            </a:endParaRPr>
          </a:p>
        </p:txBody>
      </p:sp>
      <p:sp>
        <p:nvSpPr>
          <p:cNvPr id="13" name="矩形 26"/>
          <p:cNvSpPr/>
          <p:nvPr>
            <p:custDataLst>
              <p:tags r:id="rId2"/>
            </p:custDataLst>
          </p:nvPr>
        </p:nvSpPr>
        <p:spPr>
          <a:xfrm>
            <a:off x="6055995" y="3540760"/>
            <a:ext cx="2183130" cy="2177415"/>
          </a:xfrm>
          <a:prstGeom prst="roundRect">
            <a:avLst/>
          </a:prstGeom>
          <a:solidFill>
            <a:srgbClr val="F3F7FC"/>
          </a:solidFill>
          <a:ln w="15875">
            <a:solidFill>
              <a:srgbClr val="9AB9D3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600">
              <a:solidFill>
                <a:srgbClr val="063F75"/>
              </a:solidFill>
            </a:endParaRPr>
          </a:p>
        </p:txBody>
      </p:sp>
      <p:sp>
        <p:nvSpPr>
          <p:cNvPr id="12" name="矩形 26"/>
          <p:cNvSpPr/>
          <p:nvPr>
            <p:custDataLst>
              <p:tags r:id="rId3"/>
            </p:custDataLst>
          </p:nvPr>
        </p:nvSpPr>
        <p:spPr>
          <a:xfrm>
            <a:off x="3481705" y="3540760"/>
            <a:ext cx="2183130" cy="2177415"/>
          </a:xfrm>
          <a:prstGeom prst="roundRect">
            <a:avLst/>
          </a:prstGeom>
          <a:solidFill>
            <a:srgbClr val="F3F7FC"/>
          </a:solidFill>
          <a:ln w="15875">
            <a:solidFill>
              <a:srgbClr val="9AB9D3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600">
              <a:solidFill>
                <a:srgbClr val="063F75"/>
              </a:solidFill>
            </a:endParaRPr>
          </a:p>
        </p:txBody>
      </p:sp>
      <p:sp>
        <p:nvSpPr>
          <p:cNvPr id="27" name="矩形 26"/>
          <p:cNvSpPr/>
          <p:nvPr>
            <p:custDataLst>
              <p:tags r:id="rId4"/>
            </p:custDataLst>
          </p:nvPr>
        </p:nvSpPr>
        <p:spPr>
          <a:xfrm>
            <a:off x="958850" y="3540760"/>
            <a:ext cx="2183130" cy="2177415"/>
          </a:xfrm>
          <a:prstGeom prst="roundRect">
            <a:avLst/>
          </a:prstGeom>
          <a:solidFill>
            <a:srgbClr val="F3F7FC"/>
          </a:solidFill>
          <a:ln w="15875">
            <a:solidFill>
              <a:srgbClr val="9AB9D3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600">
              <a:solidFill>
                <a:srgbClr val="063F75"/>
              </a:solidFill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冲突传导机制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4" name="文本占位符 14"/>
          <p:cNvSpPr txBox="1"/>
          <p:nvPr>
            <p:custDataLst>
              <p:tags r:id="rId9"/>
            </p:custDataLst>
          </p:nvPr>
        </p:nvSpPr>
        <p:spPr>
          <a:xfrm>
            <a:off x="1072485" y="3680727"/>
            <a:ext cx="1145772" cy="442441"/>
          </a:xfrm>
          <a:prstGeom prst="rect">
            <a:avLst/>
          </a:prstGeom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2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供应</a:t>
            </a:r>
            <a:endParaRPr lang="zh-CN" sz="2200">
              <a:solidFill>
                <a:srgbClr val="063F75"/>
              </a:solidFill>
            </a:endParaRPr>
          </a:p>
        </p:txBody>
      </p:sp>
      <p:sp>
        <p:nvSpPr>
          <p:cNvPr id="15" name="文本占位符 81"/>
          <p:cNvSpPr txBox="1"/>
          <p:nvPr>
            <p:custDataLst>
              <p:tags r:id="rId10"/>
            </p:custDataLst>
          </p:nvPr>
        </p:nvSpPr>
        <p:spPr>
          <a:xfrm>
            <a:off x="999863" y="4233343"/>
            <a:ext cx="2146300" cy="1937700"/>
          </a:xfrm>
          <a:prstGeom prst="rect">
            <a:avLst/>
          </a:prstGeom>
        </p:spPr>
        <p:txBody>
          <a:bodyPr wrap="square" lIns="76200" tIns="45720" rIns="76200" bIns="45720" anchor="t"/>
          <a:lstStyle/>
          <a:p>
            <a:pPr marL="0" indent="0" algn="l" fontAlgn="base"/>
            <a:r>
              <a:rPr lang="zh-CN" sz="1700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核设施、油田和出口终端受到威胁，市场上调潜在供应损失。</a:t>
            </a:r>
            <a:endParaRPr lang="zh-CN" sz="1700">
              <a:solidFill>
                <a:srgbClr val="063F75"/>
              </a:solidFill>
            </a:endParaRPr>
          </a:p>
        </p:txBody>
      </p:sp>
      <p:sp>
        <p:nvSpPr>
          <p:cNvPr id="18" name="文本占位符 22"/>
          <p:cNvSpPr txBox="1"/>
          <p:nvPr>
            <p:custDataLst>
              <p:tags r:id="rId11"/>
            </p:custDataLst>
          </p:nvPr>
        </p:nvSpPr>
        <p:spPr>
          <a:xfrm>
            <a:off x="3644638" y="3680727"/>
            <a:ext cx="1145772" cy="442441"/>
          </a:xfrm>
          <a:prstGeom prst="rect">
            <a:avLst/>
          </a:prstGeom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2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航运</a:t>
            </a:r>
            <a:endParaRPr lang="zh-CN" sz="2200">
              <a:solidFill>
                <a:srgbClr val="063F75"/>
              </a:solidFill>
            </a:endParaRPr>
          </a:p>
        </p:txBody>
      </p:sp>
      <p:sp>
        <p:nvSpPr>
          <p:cNvPr id="19" name="文本占位符 82"/>
          <p:cNvSpPr txBox="1"/>
          <p:nvPr>
            <p:custDataLst>
              <p:tags r:id="rId12"/>
            </p:custDataLst>
          </p:nvPr>
        </p:nvSpPr>
        <p:spPr>
          <a:xfrm>
            <a:off x="3572016" y="4233343"/>
            <a:ext cx="2146300" cy="1937700"/>
          </a:xfrm>
          <a:prstGeom prst="rect">
            <a:avLst/>
          </a:prstGeom>
        </p:spPr>
        <p:txBody>
          <a:bodyPr wrap="square" lIns="76200" tIns="45720" rIns="76200" bIns="45720" anchor="t"/>
          <a:lstStyle/>
          <a:p>
            <a:pPr marL="0" indent="0" algn="l" fontAlgn="base"/>
            <a:r>
              <a:rPr lang="zh-CN" sz="1700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霍尔木兹海峡等通道受阻预期推高运输、保险与交割成本。</a:t>
            </a:r>
            <a:endParaRPr lang="zh-CN" sz="1700">
              <a:solidFill>
                <a:srgbClr val="063F75"/>
              </a:solidFill>
            </a:endParaRPr>
          </a:p>
        </p:txBody>
      </p:sp>
      <p:sp>
        <p:nvSpPr>
          <p:cNvPr id="21" name="文本占位符 26"/>
          <p:cNvSpPr txBox="1"/>
          <p:nvPr>
            <p:custDataLst>
              <p:tags r:id="rId13"/>
            </p:custDataLst>
          </p:nvPr>
        </p:nvSpPr>
        <p:spPr>
          <a:xfrm>
            <a:off x="6240286" y="3680727"/>
            <a:ext cx="1145772" cy="442441"/>
          </a:xfrm>
          <a:prstGeom prst="rect">
            <a:avLst/>
          </a:prstGeom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2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预期</a:t>
            </a:r>
            <a:endParaRPr lang="zh-CN" sz="2200">
              <a:solidFill>
                <a:srgbClr val="063F75"/>
              </a:solidFill>
            </a:endParaRPr>
          </a:p>
        </p:txBody>
      </p:sp>
      <p:sp>
        <p:nvSpPr>
          <p:cNvPr id="22" name="文本占位符 83"/>
          <p:cNvSpPr txBox="1"/>
          <p:nvPr>
            <p:custDataLst>
              <p:tags r:id="rId14"/>
            </p:custDataLst>
          </p:nvPr>
        </p:nvSpPr>
        <p:spPr>
          <a:xfrm>
            <a:off x="6167664" y="4233343"/>
            <a:ext cx="2146300" cy="1937700"/>
          </a:xfrm>
          <a:prstGeom prst="rect">
            <a:avLst/>
          </a:prstGeom>
        </p:spPr>
        <p:txBody>
          <a:bodyPr wrap="square" lIns="76200" tIns="45720" rIns="76200" bIns="45720" anchor="t"/>
          <a:lstStyle/>
          <a:p>
            <a:pPr marL="0" indent="0" algn="l" fontAlgn="base"/>
            <a:r>
              <a:rPr lang="zh-CN" sz="1700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交易者在真实减产前提前定价，造成事件日前后价格快速调整。</a:t>
            </a:r>
            <a:endParaRPr lang="zh-CN" sz="1700">
              <a:solidFill>
                <a:srgbClr val="063F75"/>
              </a:solidFill>
            </a:endParaRPr>
          </a:p>
        </p:txBody>
      </p:sp>
      <p:sp>
        <p:nvSpPr>
          <p:cNvPr id="24" name="文本占位符 71"/>
          <p:cNvSpPr txBox="1"/>
          <p:nvPr>
            <p:custDataLst>
              <p:tags r:id="rId15"/>
            </p:custDataLst>
          </p:nvPr>
        </p:nvSpPr>
        <p:spPr>
          <a:xfrm>
            <a:off x="8836569" y="3680727"/>
            <a:ext cx="1145772" cy="442441"/>
          </a:xfrm>
          <a:prstGeom prst="rect">
            <a:avLst/>
          </a:prstGeom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2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溢价</a:t>
            </a:r>
            <a:endParaRPr lang="zh-CN" sz="2200">
              <a:solidFill>
                <a:srgbClr val="063F75"/>
              </a:solidFill>
            </a:endParaRPr>
          </a:p>
        </p:txBody>
      </p:sp>
      <p:sp>
        <p:nvSpPr>
          <p:cNvPr id="25" name="文本占位符 84"/>
          <p:cNvSpPr txBox="1"/>
          <p:nvPr>
            <p:custDataLst>
              <p:tags r:id="rId16"/>
            </p:custDataLst>
          </p:nvPr>
        </p:nvSpPr>
        <p:spPr>
          <a:xfrm>
            <a:off x="8763947" y="4233343"/>
            <a:ext cx="2146300" cy="1937700"/>
          </a:xfrm>
          <a:prstGeom prst="rect">
            <a:avLst/>
          </a:prstGeom>
        </p:spPr>
        <p:txBody>
          <a:bodyPr wrap="square" lIns="76200" tIns="45720" rIns="76200" bIns="45720" anchor="t"/>
          <a:lstStyle/>
          <a:p>
            <a:pPr marL="0" indent="0" algn="l" fontAlgn="base"/>
            <a:r>
              <a:rPr lang="zh-CN" sz="1700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地缘政治不确定性提高持有与套期保值需求，放大短期波动。</a:t>
            </a:r>
            <a:endParaRPr lang="zh-CN" sz="1700">
              <a:solidFill>
                <a:srgbClr val="063F75"/>
              </a:solidFill>
            </a:endParaRPr>
          </a:p>
        </p:txBody>
      </p:sp>
      <p:sp>
        <p:nvSpPr>
          <p:cNvPr id="53" name="新增形状 53"/>
          <p:cNvSpPr/>
          <p:nvPr>
            <p:custDataLst>
              <p:tags r:id="rId17"/>
            </p:custDataLst>
          </p:nvPr>
        </p:nvSpPr>
        <p:spPr>
          <a:xfrm>
            <a:off x="1000125" y="1428750"/>
            <a:ext cx="2095500" cy="16002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B8CDE0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600">
              <a:solidFill>
                <a:srgbClr val="063F75"/>
              </a:solidFill>
            </a:endParaRPr>
          </a:p>
        </p:txBody>
      </p:sp>
      <p:sp>
        <p:nvSpPr>
          <p:cNvPr id="55" name="新增形状 55"/>
          <p:cNvSpPr/>
          <p:nvPr>
            <p:custDataLst>
              <p:tags r:id="rId18"/>
            </p:custDataLst>
          </p:nvPr>
        </p:nvSpPr>
        <p:spPr>
          <a:xfrm>
            <a:off x="1285875" y="2480310"/>
            <a:ext cx="1524000" cy="400050"/>
          </a:xfrm>
          <a:prstGeom prst="roundRect">
            <a:avLst/>
          </a:prstGeom>
          <a:solidFill>
            <a:srgbClr val="E8F1F9"/>
          </a:solidFill>
          <a:ln w="0">
            <a:solidFill>
              <a:srgbClr val="E8F1F9"/>
            </a:solidFill>
          </a:ln>
        </p:spPr>
        <p:txBody>
          <a:bodyPr wrap="square" lIns="76200" tIns="45720" rIns="76200" bIns="45720" anchor="ctr"/>
          <a:lstStyle/>
          <a:p>
            <a:pPr marL="0" indent="0" algn="ctr" fontAlgn="base"/>
            <a:r>
              <a:rPr lang="zh-CN" sz="16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潜在减产</a:t>
            </a:r>
            <a:endParaRPr lang="zh-CN" sz="1600">
              <a:solidFill>
                <a:srgbClr val="063F75"/>
              </a:solidFill>
            </a:endParaRPr>
          </a:p>
        </p:txBody>
      </p:sp>
      <p:sp>
        <p:nvSpPr>
          <p:cNvPr id="56" name="新增形状 56"/>
          <p:cNvSpPr/>
          <p:nvPr>
            <p:custDataLst>
              <p:tags r:id="rId19"/>
            </p:custDataLst>
          </p:nvPr>
        </p:nvSpPr>
        <p:spPr>
          <a:xfrm>
            <a:off x="3571875" y="1428750"/>
            <a:ext cx="2095500" cy="16002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B8CDE0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600">
              <a:solidFill>
                <a:srgbClr val="063F75"/>
              </a:solidFill>
            </a:endParaRPr>
          </a:p>
        </p:txBody>
      </p:sp>
      <p:sp>
        <p:nvSpPr>
          <p:cNvPr id="58" name="新增形状 58"/>
          <p:cNvSpPr/>
          <p:nvPr>
            <p:custDataLst>
              <p:tags r:id="rId20"/>
            </p:custDataLst>
          </p:nvPr>
        </p:nvSpPr>
        <p:spPr>
          <a:xfrm>
            <a:off x="3857625" y="2480310"/>
            <a:ext cx="1524000" cy="400050"/>
          </a:xfrm>
          <a:prstGeom prst="roundRect">
            <a:avLst/>
          </a:prstGeom>
          <a:solidFill>
            <a:srgbClr val="E8F1F9"/>
          </a:solidFill>
          <a:ln w="0">
            <a:solidFill>
              <a:srgbClr val="E8F1F9"/>
            </a:solidFill>
          </a:ln>
        </p:spPr>
        <p:txBody>
          <a:bodyPr wrap="square" lIns="76200" tIns="45720" rIns="76200" bIns="45720" anchor="ctr"/>
          <a:lstStyle/>
          <a:p>
            <a:pPr marL="0" indent="0" algn="ctr" fontAlgn="base"/>
            <a:r>
              <a:rPr lang="zh-CN" sz="16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运输受阻</a:t>
            </a:r>
            <a:endParaRPr lang="zh-CN" sz="1600">
              <a:solidFill>
                <a:srgbClr val="063F75"/>
              </a:solidFill>
            </a:endParaRPr>
          </a:p>
        </p:txBody>
      </p:sp>
      <p:sp>
        <p:nvSpPr>
          <p:cNvPr id="59" name="新增形状 59"/>
          <p:cNvSpPr/>
          <p:nvPr>
            <p:custDataLst>
              <p:tags r:id="rId21"/>
            </p:custDataLst>
          </p:nvPr>
        </p:nvSpPr>
        <p:spPr>
          <a:xfrm>
            <a:off x="6143625" y="1428750"/>
            <a:ext cx="2095500" cy="16002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B8CDE0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600">
              <a:solidFill>
                <a:srgbClr val="063F75"/>
              </a:solidFill>
            </a:endParaRPr>
          </a:p>
        </p:txBody>
      </p:sp>
      <p:sp>
        <p:nvSpPr>
          <p:cNvPr id="61" name="新增形状 61"/>
          <p:cNvSpPr/>
          <p:nvPr>
            <p:custDataLst>
              <p:tags r:id="rId22"/>
            </p:custDataLst>
          </p:nvPr>
        </p:nvSpPr>
        <p:spPr>
          <a:xfrm>
            <a:off x="6429375" y="2480310"/>
            <a:ext cx="1524000" cy="400050"/>
          </a:xfrm>
          <a:prstGeom prst="roundRect">
            <a:avLst/>
          </a:prstGeom>
          <a:solidFill>
            <a:srgbClr val="E8F1F9"/>
          </a:solidFill>
          <a:ln w="0">
            <a:solidFill>
              <a:srgbClr val="E8F1F9"/>
            </a:solidFill>
          </a:ln>
        </p:spPr>
        <p:txBody>
          <a:bodyPr wrap="square" lIns="76200" tIns="45720" rIns="76200" bIns="45720" anchor="ctr"/>
          <a:lstStyle/>
          <a:p>
            <a:pPr marL="0" indent="0" algn="ctr" fontAlgn="base"/>
            <a:r>
              <a:rPr lang="zh-CN" sz="16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提前定价</a:t>
            </a:r>
            <a:endParaRPr lang="zh-CN" sz="1600">
              <a:solidFill>
                <a:srgbClr val="063F75"/>
              </a:solidFill>
            </a:endParaRPr>
          </a:p>
        </p:txBody>
      </p:sp>
      <p:sp>
        <p:nvSpPr>
          <p:cNvPr id="62" name="新增形状 62"/>
          <p:cNvSpPr/>
          <p:nvPr>
            <p:custDataLst>
              <p:tags r:id="rId23"/>
            </p:custDataLst>
          </p:nvPr>
        </p:nvSpPr>
        <p:spPr>
          <a:xfrm>
            <a:off x="8715375" y="1428750"/>
            <a:ext cx="2095500" cy="16002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B8CDE0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600">
              <a:solidFill>
                <a:srgbClr val="063F75"/>
              </a:solidFill>
            </a:endParaRPr>
          </a:p>
        </p:txBody>
      </p:sp>
      <p:sp>
        <p:nvSpPr>
          <p:cNvPr id="64" name="新增形状 64"/>
          <p:cNvSpPr/>
          <p:nvPr>
            <p:custDataLst>
              <p:tags r:id="rId24"/>
            </p:custDataLst>
          </p:nvPr>
        </p:nvSpPr>
        <p:spPr>
          <a:xfrm>
            <a:off x="9001125" y="2480310"/>
            <a:ext cx="1524000" cy="400050"/>
          </a:xfrm>
          <a:prstGeom prst="roundRect">
            <a:avLst/>
          </a:prstGeom>
          <a:solidFill>
            <a:srgbClr val="E8F1F9"/>
          </a:solidFill>
          <a:ln w="0">
            <a:solidFill>
              <a:srgbClr val="E8F1F9"/>
            </a:solidFill>
          </a:ln>
        </p:spPr>
        <p:txBody>
          <a:bodyPr wrap="square" lIns="76200" tIns="45720" rIns="76200" bIns="45720" anchor="ctr"/>
          <a:lstStyle/>
          <a:p>
            <a:pPr marL="0" indent="0" algn="ctr" fontAlgn="base"/>
            <a:r>
              <a:rPr lang="zh-CN" sz="16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波动放大</a:t>
            </a:r>
            <a:endParaRPr lang="zh-CN" sz="1600">
              <a:solidFill>
                <a:srgbClr val="063F75"/>
              </a:solidFill>
            </a:endParaRPr>
          </a:p>
        </p:txBody>
      </p:sp>
      <p:pic>
        <p:nvPicPr>
          <p:cNvPr id="2" name="图片 1" descr="下降"/>
          <p:cNvPicPr>
            <a:picLocks noChangeAspect="1"/>
          </p:cNvPicPr>
          <p:nvPr>
            <p:custDataLst>
              <p:tags r:id="rId25"/>
            </p:custDataLst>
          </p:nvPr>
        </p:nvPicPr>
        <p:blipFill>
          <a:blip r:embed="rId26">
            <a:extLst>
              <a:ext uri="{96DAC541-7B7A-43D3-8B79-37D633B846F1}">
                <asvg:svgBlip xmlns:asvg="http://schemas.microsoft.com/office/drawing/2016/SVG/main" r:embed="rId27"/>
              </a:ext>
            </a:extLst>
          </a:blip>
          <a:stretch>
            <a:fillRect/>
          </a:stretch>
        </p:blipFill>
        <p:spPr>
          <a:xfrm>
            <a:off x="1697355" y="1657350"/>
            <a:ext cx="610235" cy="610235"/>
          </a:xfrm>
          <a:prstGeom prst="rect">
            <a:avLst/>
          </a:prstGeom>
        </p:spPr>
      </p:pic>
      <p:pic>
        <p:nvPicPr>
          <p:cNvPr id="3" name="图片 2" descr="运输时间"/>
          <p:cNvPicPr>
            <a:picLocks noChangeAspect="1"/>
          </p:cNvPicPr>
          <p:nvPr>
            <p:custDataLst>
              <p:tags r:id="rId28"/>
            </p:custDataLst>
          </p:nvPr>
        </p:nvPicPr>
        <p:blipFill>
          <a:blip r:embed="rId29">
            <a:extLst>
              <a:ext uri="{96DAC541-7B7A-43D3-8B79-37D633B846F1}">
                <asvg:svgBlip xmlns:asvg="http://schemas.microsoft.com/office/drawing/2016/SVG/main" r:embed="rId30"/>
              </a:ext>
            </a:extLst>
          </a:blip>
          <a:stretch>
            <a:fillRect/>
          </a:stretch>
        </p:blipFill>
        <p:spPr>
          <a:xfrm>
            <a:off x="4293235" y="1657350"/>
            <a:ext cx="652780" cy="652780"/>
          </a:xfrm>
          <a:prstGeom prst="rect">
            <a:avLst/>
          </a:prstGeom>
        </p:spPr>
      </p:pic>
      <p:pic>
        <p:nvPicPr>
          <p:cNvPr id="8" name="图片 7" descr="价格"/>
          <p:cNvPicPr>
            <a:picLocks noChangeAspect="1"/>
          </p:cNvPicPr>
          <p:nvPr>
            <p:custDataLst>
              <p:tags r:id="rId31"/>
            </p:custDataLst>
          </p:nvPr>
        </p:nvPicPr>
        <p:blipFill>
          <a:blip r:embed="rId32">
            <a:extLst>
              <a:ext uri="{96DAC541-7B7A-43D3-8B79-37D633B846F1}">
                <asvg:svgBlip xmlns:asvg="http://schemas.microsoft.com/office/drawing/2016/SVG/main" r:embed="rId33"/>
              </a:ext>
            </a:extLst>
          </a:blip>
          <a:stretch>
            <a:fillRect/>
          </a:stretch>
        </p:blipFill>
        <p:spPr>
          <a:xfrm>
            <a:off x="6864985" y="1657350"/>
            <a:ext cx="652780" cy="652780"/>
          </a:xfrm>
          <a:prstGeom prst="rect">
            <a:avLst/>
          </a:prstGeom>
        </p:spPr>
      </p:pic>
      <p:pic>
        <p:nvPicPr>
          <p:cNvPr id="9" name="图片 8" descr="图表"/>
          <p:cNvPicPr>
            <a:picLocks noChangeAspect="1"/>
          </p:cNvPicPr>
          <p:nvPr>
            <p:custDataLst>
              <p:tags r:id="rId34"/>
            </p:custDataLst>
          </p:nvPr>
        </p:nvPicPr>
        <p:blipFill>
          <a:blip r:embed="rId35">
            <a:extLst>
              <a:ext uri="{96DAC541-7B7A-43D3-8B79-37D633B846F1}">
                <asvg:svgBlip xmlns:asvg="http://schemas.microsoft.com/office/drawing/2016/SVG/main" r:embed="rId36"/>
              </a:ext>
            </a:extLst>
          </a:blip>
          <a:stretch>
            <a:fillRect/>
          </a:stretch>
        </p:blipFill>
        <p:spPr>
          <a:xfrm>
            <a:off x="9436735" y="1657350"/>
            <a:ext cx="609600" cy="609600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图片 3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849620" y="944801"/>
            <a:ext cx="6049548" cy="604954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研究问题与三项假设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53" name="新增形状 53"/>
          <p:cNvSpPr/>
          <p:nvPr/>
        </p:nvSpPr>
        <p:spPr>
          <a:xfrm>
            <a:off x="1127760" y="1106805"/>
            <a:ext cx="10146030" cy="975360"/>
          </a:xfrm>
          <a:prstGeom prst="roundRect">
            <a:avLst/>
          </a:prstGeom>
          <a:solidFill>
            <a:srgbClr val="E8F1F9"/>
          </a:solidFill>
          <a:ln w="12700">
            <a:solidFill>
              <a:srgbClr val="A9C4DC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1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研究问题：哪些事件造成显著油价冲击？冲击是否因基准油价与事件类型而异？</a:t>
            </a:r>
            <a:endParaRPr lang="zh-CN" sz="2100">
              <a:solidFill>
                <a:srgbClr val="063F75"/>
              </a:solidFill>
            </a:endParaRPr>
          </a:p>
        </p:txBody>
      </p:sp>
      <p:grpSp>
        <p:nvGrpSpPr>
          <p:cNvPr id="2" name="组合 1"/>
          <p:cNvGrpSpPr/>
          <p:nvPr>
            <p:custDataLst>
              <p:tags r:id="rId6"/>
            </p:custDataLst>
          </p:nvPr>
        </p:nvGrpSpPr>
        <p:grpSpPr>
          <a:xfrm>
            <a:off x="1236345" y="2830195"/>
            <a:ext cx="2857500" cy="2713355"/>
            <a:chOff x="1500" y="4457"/>
            <a:chExt cx="4500" cy="4273"/>
          </a:xfrm>
        </p:grpSpPr>
        <p:sp>
          <p:nvSpPr>
            <p:cNvPr id="55" name="新增形状 55"/>
            <p:cNvSpPr/>
            <p:nvPr>
              <p:custDataLst>
                <p:tags r:id="rId7"/>
              </p:custDataLst>
            </p:nvPr>
          </p:nvSpPr>
          <p:spPr>
            <a:xfrm>
              <a:off x="1500" y="4698"/>
              <a:ext cx="4500" cy="4032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9AB9D3"/>
              </a:solidFill>
            </a:ln>
          </p:spPr>
          <p:txBody>
            <a:bodyPr wrap="square" lIns="76200" tIns="45720" rIns="76200" bIns="45720" anchor="ctr"/>
            <a:lstStyle/>
            <a:p>
              <a:pPr marL="0" indent="0" algn="l" fontAlgn="base"/>
              <a:r>
                <a:rPr lang="zh-CN" sz="1700" b="0">
                  <a:solidFill>
                    <a:srgbClr val="063F75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重大冲突事件发生后，WTI 与 Brent 在事件窗口内的 CAR 显著不为 0。</a:t>
              </a:r>
              <a:endParaRPr lang="zh-CN" sz="1700">
                <a:solidFill>
                  <a:srgbClr val="063F75"/>
                </a:solidFill>
              </a:endParaRPr>
            </a:p>
          </p:txBody>
        </p:sp>
        <p:sp>
          <p:nvSpPr>
            <p:cNvPr id="54" name="新增形状 54"/>
            <p:cNvSpPr/>
            <p:nvPr>
              <p:custDataLst>
                <p:tags r:id="rId8"/>
              </p:custDataLst>
            </p:nvPr>
          </p:nvSpPr>
          <p:spPr>
            <a:xfrm>
              <a:off x="1500" y="4457"/>
              <a:ext cx="4500" cy="1080"/>
            </a:xfrm>
            <a:prstGeom prst="roundRect">
              <a:avLst/>
            </a:prstGeom>
            <a:solidFill>
              <a:srgbClr val="07549A"/>
            </a:solidFill>
            <a:ln w="12700">
              <a:solidFill>
                <a:srgbClr val="07549A"/>
              </a:solidFill>
            </a:ln>
          </p:spPr>
          <p:txBody>
            <a:bodyPr wrap="square" lIns="76200" tIns="45720" rIns="76200" bIns="45720" anchor="ctr"/>
            <a:lstStyle/>
            <a:p>
              <a:pPr marL="0" indent="0" algn="l" fontAlgn="base"/>
              <a:r>
                <a:rPr lang="zh-CN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H1  </a:t>
              </a:r>
              <a:r>
                <a:rPr lang="en-US" altLang="zh-CN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 </a:t>
              </a:r>
              <a:r>
                <a:rPr lang="zh-CN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显著冲击</a:t>
              </a:r>
              <a:endParaRPr lang="zh-CN" sz="2000">
                <a:solidFill>
                  <a:srgbClr val="FFFFFF"/>
                </a:solidFill>
              </a:endParaRPr>
            </a:p>
          </p:txBody>
        </p:sp>
      </p:grpSp>
      <p:grpSp>
        <p:nvGrpSpPr>
          <p:cNvPr id="3" name="组合 2"/>
          <p:cNvGrpSpPr/>
          <p:nvPr>
            <p:custDataLst>
              <p:tags r:id="rId9"/>
            </p:custDataLst>
          </p:nvPr>
        </p:nvGrpSpPr>
        <p:grpSpPr>
          <a:xfrm>
            <a:off x="4745355" y="2830195"/>
            <a:ext cx="2857500" cy="2713355"/>
            <a:chOff x="7350" y="4457"/>
            <a:chExt cx="4500" cy="4273"/>
          </a:xfrm>
        </p:grpSpPr>
        <p:sp>
          <p:nvSpPr>
            <p:cNvPr id="57" name="新增形状 57"/>
            <p:cNvSpPr/>
            <p:nvPr>
              <p:custDataLst>
                <p:tags r:id="rId10"/>
              </p:custDataLst>
            </p:nvPr>
          </p:nvSpPr>
          <p:spPr>
            <a:xfrm>
              <a:off x="7350" y="4910"/>
              <a:ext cx="4500" cy="3820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9AB9D3"/>
              </a:solidFill>
            </a:ln>
          </p:spPr>
          <p:txBody>
            <a:bodyPr wrap="square" lIns="76200" tIns="45720" rIns="76200" bIns="45720" anchor="ctr"/>
            <a:lstStyle/>
            <a:p>
              <a:pPr marL="0" indent="0" algn="l" fontAlgn="base"/>
              <a:r>
                <a:rPr lang="zh-CN" sz="1700" b="0">
                  <a:solidFill>
                    <a:srgbClr val="063F75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中东供应风险更直接作用于 Brent，其异常反应幅度预计大于 WTI。</a:t>
              </a:r>
              <a:endParaRPr lang="zh-CN" sz="1700">
                <a:solidFill>
                  <a:srgbClr val="063F75"/>
                </a:solidFill>
              </a:endParaRPr>
            </a:p>
          </p:txBody>
        </p:sp>
        <p:sp>
          <p:nvSpPr>
            <p:cNvPr id="56" name="新增形状 56"/>
            <p:cNvSpPr/>
            <p:nvPr>
              <p:custDataLst>
                <p:tags r:id="rId11"/>
              </p:custDataLst>
            </p:nvPr>
          </p:nvSpPr>
          <p:spPr>
            <a:xfrm>
              <a:off x="7350" y="4457"/>
              <a:ext cx="4500" cy="1080"/>
            </a:xfrm>
            <a:prstGeom prst="roundRect">
              <a:avLst/>
            </a:prstGeom>
            <a:solidFill>
              <a:srgbClr val="07549A"/>
            </a:solidFill>
            <a:ln w="12700">
              <a:solidFill>
                <a:srgbClr val="07549A"/>
              </a:solidFill>
            </a:ln>
          </p:spPr>
          <p:txBody>
            <a:bodyPr wrap="square" lIns="76200" tIns="45720" rIns="76200" bIns="45720" anchor="ctr"/>
            <a:lstStyle/>
            <a:p>
              <a:pPr marL="0" indent="0" algn="l" fontAlgn="base"/>
              <a:r>
                <a:rPr lang="zh-CN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H2  </a:t>
              </a:r>
              <a:r>
                <a:rPr lang="en-US" altLang="zh-CN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 </a:t>
              </a:r>
              <a:r>
                <a:rPr lang="zh-CN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基准差异</a:t>
              </a:r>
              <a:endParaRPr lang="zh-CN" sz="2000">
                <a:solidFill>
                  <a:srgbClr val="FFFFFF"/>
                </a:solidFill>
              </a:endParaRPr>
            </a:p>
          </p:txBody>
        </p:sp>
      </p:grpSp>
      <p:grpSp>
        <p:nvGrpSpPr>
          <p:cNvPr id="9" name="组合 8"/>
          <p:cNvGrpSpPr/>
          <p:nvPr>
            <p:custDataLst>
              <p:tags r:id="rId12"/>
            </p:custDataLst>
          </p:nvPr>
        </p:nvGrpSpPr>
        <p:grpSpPr>
          <a:xfrm>
            <a:off x="8254365" y="2830195"/>
            <a:ext cx="2857500" cy="2712720"/>
            <a:chOff x="13200" y="4457"/>
            <a:chExt cx="4500" cy="4272"/>
          </a:xfrm>
        </p:grpSpPr>
        <p:sp>
          <p:nvSpPr>
            <p:cNvPr id="59" name="新增形状 59"/>
            <p:cNvSpPr/>
            <p:nvPr>
              <p:custDataLst>
                <p:tags r:id="rId13"/>
              </p:custDataLst>
            </p:nvPr>
          </p:nvSpPr>
          <p:spPr>
            <a:xfrm>
              <a:off x="13200" y="4457"/>
              <a:ext cx="4500" cy="4273"/>
            </a:xfrm>
            <a:prstGeom prst="roundRect">
              <a:avLst/>
            </a:prstGeom>
            <a:solidFill>
              <a:srgbClr val="FFFFFF"/>
            </a:solidFill>
            <a:ln w="12700">
              <a:solidFill>
                <a:srgbClr val="9AB9D3"/>
              </a:solidFill>
            </a:ln>
          </p:spPr>
          <p:txBody>
            <a:bodyPr wrap="square" lIns="76200" tIns="45720" rIns="76200" bIns="45720" anchor="ctr"/>
            <a:lstStyle/>
            <a:p>
              <a:pPr marL="0" indent="0" algn="l" fontAlgn="base"/>
              <a:r>
                <a:rPr lang="zh-CN" sz="1700" b="0">
                  <a:solidFill>
                    <a:srgbClr val="063F75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涉及石油设施、出口终端或霍尔木兹海峡的事件，其 CAR 绝对值更大、显著性更强。</a:t>
              </a:r>
              <a:endParaRPr lang="zh-CN" sz="1700">
                <a:solidFill>
                  <a:srgbClr val="063F75"/>
                </a:solidFill>
              </a:endParaRPr>
            </a:p>
          </p:txBody>
        </p:sp>
        <p:sp>
          <p:nvSpPr>
            <p:cNvPr id="58" name="新增形状 58"/>
            <p:cNvSpPr/>
            <p:nvPr>
              <p:custDataLst>
                <p:tags r:id="rId14"/>
              </p:custDataLst>
            </p:nvPr>
          </p:nvSpPr>
          <p:spPr>
            <a:xfrm>
              <a:off x="13200" y="4457"/>
              <a:ext cx="4500" cy="1080"/>
            </a:xfrm>
            <a:prstGeom prst="roundRect">
              <a:avLst/>
            </a:prstGeom>
            <a:solidFill>
              <a:srgbClr val="07549A"/>
            </a:solidFill>
            <a:ln w="12700">
              <a:solidFill>
                <a:srgbClr val="07549A"/>
              </a:solidFill>
            </a:ln>
          </p:spPr>
          <p:txBody>
            <a:bodyPr wrap="square" lIns="76200" tIns="45720" rIns="76200" bIns="45720" anchor="ctr"/>
            <a:lstStyle/>
            <a:p>
              <a:pPr marL="0" indent="0" algn="l" fontAlgn="base"/>
              <a:r>
                <a:rPr lang="zh-CN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H3  </a:t>
              </a:r>
              <a:r>
                <a:rPr lang="en-US" altLang="zh-CN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 </a:t>
              </a:r>
              <a:r>
                <a:rPr lang="zh-CN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事件类型</a:t>
              </a:r>
              <a:endParaRPr lang="zh-CN" sz="2000">
                <a:solidFill>
                  <a:srgbClr val="FFFFFF"/>
                </a:solidFill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数据与样本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6954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5400" y="1340768"/>
            <a:ext cx="4965700" cy="75923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47623" y="247205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FRED：WTI（DCOILWTICO）与 Brent（DCOILBRENTEU）日度现货价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50706" y="1416540"/>
            <a:ext cx="4304499" cy="60769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数据与变量</a:t>
            </a:r>
            <a:endParaRPr lang="zh-CN" altLang="en-US" sz="2800" b="1" dirty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47623" y="366077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收益率：rₜ = ln(Pₜ) − ln(Pₜ₋₁)，共 345 个交易日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47623" y="484949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ACLED：六个目标国家的周度事件数与死亡人数，仅作背景验证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98044" y="2259706"/>
            <a:ext cx="449580" cy="1088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5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en-US" altLang="zh-CN" sz="5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84074" y="3428741"/>
            <a:ext cx="449580" cy="1088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5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en-US" altLang="zh-CN" sz="5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98044" y="4628256"/>
            <a:ext cx="449580" cy="1088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5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en-US" altLang="zh-CN" sz="5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8832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24" name="直接连接符 23"/>
          <p:cNvCxnSpPr/>
          <p:nvPr/>
        </p:nvCxnSpPr>
        <p:spPr>
          <a:xfrm>
            <a:off x="8832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25" name="check_97186"/>
          <p:cNvSpPr>
            <a:spLocks noChangeAspect="1"/>
          </p:cNvSpPr>
          <p:nvPr/>
        </p:nvSpPr>
        <p:spPr bwMode="auto">
          <a:xfrm>
            <a:off x="923231" y="1564071"/>
            <a:ext cx="435512" cy="345592"/>
          </a:xfrm>
          <a:custGeom>
            <a:avLst/>
            <a:gdLst>
              <a:gd name="T0" fmla="*/ 2641 w 3160"/>
              <a:gd name="T1" fmla="*/ 0 h 2511"/>
              <a:gd name="T2" fmla="*/ 1167 w 3160"/>
              <a:gd name="T3" fmla="*/ 1474 h 2511"/>
              <a:gd name="T4" fmla="*/ 519 w 3160"/>
              <a:gd name="T5" fmla="*/ 826 h 2511"/>
              <a:gd name="T6" fmla="*/ 0 w 3160"/>
              <a:gd name="T7" fmla="*/ 1344 h 2511"/>
              <a:gd name="T8" fmla="*/ 1167 w 3160"/>
              <a:gd name="T9" fmla="*/ 2511 h 2511"/>
              <a:gd name="T10" fmla="*/ 3160 w 3160"/>
              <a:gd name="T11" fmla="*/ 519 h 2511"/>
              <a:gd name="T12" fmla="*/ 2641 w 3160"/>
              <a:gd name="T13" fmla="*/ 0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60" h="2511">
                <a:moveTo>
                  <a:pt x="2641" y="0"/>
                </a:moveTo>
                <a:lnTo>
                  <a:pt x="1167" y="1474"/>
                </a:lnTo>
                <a:lnTo>
                  <a:pt x="519" y="826"/>
                </a:lnTo>
                <a:lnTo>
                  <a:pt x="0" y="1344"/>
                </a:lnTo>
                <a:lnTo>
                  <a:pt x="1167" y="2511"/>
                </a:lnTo>
                <a:lnTo>
                  <a:pt x="3160" y="519"/>
                </a:lnTo>
                <a:lnTo>
                  <a:pt x="2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矩形 25"/>
          <p:cNvSpPr/>
          <p:nvPr/>
        </p:nvSpPr>
        <p:spPr>
          <a:xfrm>
            <a:off x="65882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588200" y="1340768"/>
            <a:ext cx="4965700" cy="75923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140423" y="2638106"/>
            <a:ext cx="4248605" cy="423545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样本区间：2025-01-01 至 2026-06-01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243506" y="1416540"/>
            <a:ext cx="4304499" cy="607695"/>
          </a:xfrm>
          <a:prstGeom prst="rect">
            <a:avLst/>
          </a:prstGeom>
        </p:spPr>
        <p:txBody>
          <a:bodyPr wrap="square" anchor="ctr">
            <a:spAutoFit/>
          </a:bodyPr>
          <a:lstStyle/>
          <a:p>
            <a:pPr algn="ctr">
              <a:lnSpc>
                <a:spcPct val="120000"/>
              </a:lnSpc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样本设计</a:t>
            </a:r>
            <a:endParaRPr lang="zh-CN" altLang="en-US" sz="2800" b="1" dirty="0">
              <a:solidFill>
                <a:prstClr val="black">
                  <a:lumMod val="75000"/>
                  <a:lumOff val="25000"/>
                </a:prst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140423" y="366077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五个事件：E1–E5，覆盖核设施、联合打击、出口设施与海峡风险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140423" y="484949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事件日映射至最近交易日；事件选择不使用事后油价波动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690844" y="2220971"/>
            <a:ext cx="449580" cy="1088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5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en-US" altLang="zh-CN" sz="5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48934" y="3327776"/>
            <a:ext cx="449580" cy="1088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5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en-US" altLang="zh-CN" sz="5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90844" y="4561581"/>
            <a:ext cx="449580" cy="108839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5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en-US" altLang="zh-CN" sz="5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67760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36" name="直接连接符 35"/>
          <p:cNvCxnSpPr/>
          <p:nvPr/>
        </p:nvCxnSpPr>
        <p:spPr>
          <a:xfrm>
            <a:off x="67760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37" name="up-arrow_2486"/>
          <p:cNvSpPr>
            <a:spLocks noChangeAspect="1"/>
          </p:cNvSpPr>
          <p:nvPr/>
        </p:nvSpPr>
        <p:spPr bwMode="auto">
          <a:xfrm>
            <a:off x="6868694" y="1531940"/>
            <a:ext cx="322150" cy="435512"/>
          </a:xfrm>
          <a:custGeom>
            <a:avLst/>
            <a:gdLst>
              <a:gd name="T0" fmla="*/ 142 w 268"/>
              <a:gd name="T1" fmla="*/ 11 h 363"/>
              <a:gd name="T2" fmla="*/ 252 w 268"/>
              <a:gd name="T3" fmla="*/ 144 h 363"/>
              <a:gd name="T4" fmla="*/ 250 w 268"/>
              <a:gd name="T5" fmla="*/ 160 h 363"/>
              <a:gd name="T6" fmla="*/ 188 w 268"/>
              <a:gd name="T7" fmla="*/ 160 h 363"/>
              <a:gd name="T8" fmla="*/ 188 w 268"/>
              <a:gd name="T9" fmla="*/ 187 h 363"/>
              <a:gd name="T10" fmla="*/ 188 w 268"/>
              <a:gd name="T11" fmla="*/ 354 h 363"/>
              <a:gd name="T12" fmla="*/ 176 w 268"/>
              <a:gd name="T13" fmla="*/ 363 h 363"/>
              <a:gd name="T14" fmla="*/ 89 w 268"/>
              <a:gd name="T15" fmla="*/ 363 h 363"/>
              <a:gd name="T16" fmla="*/ 79 w 268"/>
              <a:gd name="T17" fmla="*/ 355 h 363"/>
              <a:gd name="T18" fmla="*/ 79 w 268"/>
              <a:gd name="T19" fmla="*/ 188 h 363"/>
              <a:gd name="T20" fmla="*/ 79 w 268"/>
              <a:gd name="T21" fmla="*/ 164 h 363"/>
              <a:gd name="T22" fmla="*/ 22 w 268"/>
              <a:gd name="T23" fmla="*/ 164 h 363"/>
              <a:gd name="T24" fmla="*/ 16 w 268"/>
              <a:gd name="T25" fmla="*/ 147 h 363"/>
              <a:gd name="T26" fmla="*/ 123 w 268"/>
              <a:gd name="T27" fmla="*/ 10 h 363"/>
              <a:gd name="T28" fmla="*/ 142 w 268"/>
              <a:gd name="T29" fmla="*/ 11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8" h="363">
                <a:moveTo>
                  <a:pt x="142" y="11"/>
                </a:moveTo>
                <a:lnTo>
                  <a:pt x="252" y="144"/>
                </a:lnTo>
                <a:cubicBezTo>
                  <a:pt x="252" y="144"/>
                  <a:pt x="268" y="160"/>
                  <a:pt x="250" y="160"/>
                </a:cubicBezTo>
                <a:lnTo>
                  <a:pt x="188" y="160"/>
                </a:lnTo>
                <a:lnTo>
                  <a:pt x="188" y="187"/>
                </a:lnTo>
                <a:lnTo>
                  <a:pt x="188" y="354"/>
                </a:lnTo>
                <a:cubicBezTo>
                  <a:pt x="188" y="354"/>
                  <a:pt x="191" y="363"/>
                  <a:pt x="176" y="363"/>
                </a:cubicBezTo>
                <a:lnTo>
                  <a:pt x="89" y="363"/>
                </a:lnTo>
                <a:cubicBezTo>
                  <a:pt x="79" y="363"/>
                  <a:pt x="79" y="355"/>
                  <a:pt x="79" y="355"/>
                </a:cubicBezTo>
                <a:lnTo>
                  <a:pt x="79" y="188"/>
                </a:lnTo>
                <a:lnTo>
                  <a:pt x="79" y="164"/>
                </a:lnTo>
                <a:lnTo>
                  <a:pt x="22" y="164"/>
                </a:lnTo>
                <a:cubicBezTo>
                  <a:pt x="0" y="164"/>
                  <a:pt x="16" y="147"/>
                  <a:pt x="16" y="147"/>
                </a:cubicBezTo>
                <a:cubicBezTo>
                  <a:pt x="16" y="147"/>
                  <a:pt x="110" y="23"/>
                  <a:pt x="123" y="10"/>
                </a:cubicBezTo>
                <a:cubicBezTo>
                  <a:pt x="133" y="0"/>
                  <a:pt x="142" y="11"/>
                  <a:pt x="142" y="11"/>
                </a:cubicBez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</p:sp>
      <p:sp>
        <p:nvSpPr>
          <p:cNvPr id="38" name="矩形 37"/>
          <p:cNvSpPr/>
          <p:nvPr/>
        </p:nvSpPr>
        <p:spPr>
          <a:xfrm>
            <a:off x="695400" y="5917849"/>
            <a:ext cx="4965700" cy="4571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588200" y="5917849"/>
            <a:ext cx="4965700" cy="4571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24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02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统计方法与研究设计</a:t>
            </a:r>
            <a:endParaRPr kumimoji="0" lang="zh-CN" altLang="en-US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1468120" y="4825048"/>
            <a:ext cx="6776720" cy="39878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F0302020204030204" pitchFamily="34" charset="0"/>
                <a:ea typeface="微软雅黑" panose="020B0503020204020204" pitchFamily="34" charset="-122"/>
                <a:cs typeface="Aptos"/>
              </a:rPr>
              <a:t>事件研究识别短期异常反应，ITS 与断点检验验证动态变化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F0302020204030204" pitchFamily="34" charset="0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图片 47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934641"/>
            <a:ext cx="6049548" cy="604954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统计方法链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13" name="组合 12"/>
          <p:cNvGrpSpPr/>
          <p:nvPr>
            <p:custDataLst>
              <p:tags r:id="rId6"/>
            </p:custDataLst>
          </p:nvPr>
        </p:nvGrpSpPr>
        <p:grpSpPr>
          <a:xfrm>
            <a:off x="1199456" y="1484785"/>
            <a:ext cx="2206286" cy="2206286"/>
            <a:chOff x="1463888" y="1818284"/>
            <a:chExt cx="2206286" cy="2206286"/>
          </a:xfrm>
        </p:grpSpPr>
        <p:sp>
          <p:nvSpPr>
            <p:cNvPr id="14" name="Teardrop 50"/>
            <p:cNvSpPr/>
            <p:nvPr>
              <p:custDataLst>
                <p:tags r:id="rId7"/>
              </p:custDataLst>
            </p:nvPr>
          </p:nvSpPr>
          <p:spPr>
            <a:xfrm rot="2700000">
              <a:off x="1463888" y="1818284"/>
              <a:ext cx="2206286" cy="2206286"/>
            </a:xfrm>
            <a:prstGeom prst="teardrop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id-ID" sz="2400" ker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15" name="组合 14"/>
            <p:cNvGrpSpPr/>
            <p:nvPr/>
          </p:nvGrpSpPr>
          <p:grpSpPr>
            <a:xfrm>
              <a:off x="2206103" y="2342590"/>
              <a:ext cx="731210" cy="698951"/>
              <a:chOff x="6472919" y="2732165"/>
              <a:chExt cx="548947" cy="524729"/>
            </a:xfrm>
            <a:solidFill>
              <a:sysClr val="window" lastClr="FFFFFF"/>
            </a:solidFill>
          </p:grpSpPr>
          <p:sp>
            <p:nvSpPr>
              <p:cNvPr id="18" name="Freeform 255"/>
              <p:cNvSpPr>
                <a:spLocks noEditPoints="1"/>
              </p:cNvSpPr>
              <p:nvPr>
                <p:custDataLst>
                  <p:tags r:id="rId8"/>
                </p:custDataLst>
              </p:nvPr>
            </p:nvSpPr>
            <p:spPr bwMode="auto">
              <a:xfrm>
                <a:off x="6472919" y="2732165"/>
                <a:ext cx="548947" cy="524729"/>
              </a:xfrm>
              <a:custGeom>
                <a:avLst/>
                <a:gdLst>
                  <a:gd name="T0" fmla="*/ 224 w 260"/>
                  <a:gd name="T1" fmla="*/ 0 h 248"/>
                  <a:gd name="T2" fmla="*/ 36 w 260"/>
                  <a:gd name="T3" fmla="*/ 0 h 248"/>
                  <a:gd name="T4" fmla="*/ 0 w 260"/>
                  <a:gd name="T5" fmla="*/ 36 h 248"/>
                  <a:gd name="T6" fmla="*/ 0 w 260"/>
                  <a:gd name="T7" fmla="*/ 166 h 248"/>
                  <a:gd name="T8" fmla="*/ 29 w 260"/>
                  <a:gd name="T9" fmla="*/ 203 h 248"/>
                  <a:gd name="T10" fmla="*/ 68 w 260"/>
                  <a:gd name="T11" fmla="*/ 203 h 248"/>
                  <a:gd name="T12" fmla="*/ 84 w 260"/>
                  <a:gd name="T13" fmla="*/ 210 h 248"/>
                  <a:gd name="T14" fmla="*/ 110 w 260"/>
                  <a:gd name="T15" fmla="*/ 239 h 248"/>
                  <a:gd name="T16" fmla="*/ 130 w 260"/>
                  <a:gd name="T17" fmla="*/ 248 h 248"/>
                  <a:gd name="T18" fmla="*/ 150 w 260"/>
                  <a:gd name="T19" fmla="*/ 239 h 248"/>
                  <a:gd name="T20" fmla="*/ 176 w 260"/>
                  <a:gd name="T21" fmla="*/ 210 h 248"/>
                  <a:gd name="T22" fmla="*/ 188 w 260"/>
                  <a:gd name="T23" fmla="*/ 203 h 248"/>
                  <a:gd name="T24" fmla="*/ 228 w 260"/>
                  <a:gd name="T25" fmla="*/ 203 h 248"/>
                  <a:gd name="T26" fmla="*/ 260 w 260"/>
                  <a:gd name="T27" fmla="*/ 166 h 248"/>
                  <a:gd name="T28" fmla="*/ 260 w 260"/>
                  <a:gd name="T29" fmla="*/ 36 h 248"/>
                  <a:gd name="T30" fmla="*/ 224 w 260"/>
                  <a:gd name="T31" fmla="*/ 0 h 248"/>
                  <a:gd name="T32" fmla="*/ 239 w 260"/>
                  <a:gd name="T33" fmla="*/ 166 h 248"/>
                  <a:gd name="T34" fmla="*/ 228 w 260"/>
                  <a:gd name="T35" fmla="*/ 181 h 248"/>
                  <a:gd name="T36" fmla="*/ 188 w 260"/>
                  <a:gd name="T37" fmla="*/ 181 h 248"/>
                  <a:gd name="T38" fmla="*/ 158 w 260"/>
                  <a:gd name="T39" fmla="*/ 197 h 248"/>
                  <a:gd name="T40" fmla="*/ 134 w 260"/>
                  <a:gd name="T41" fmla="*/ 224 h 248"/>
                  <a:gd name="T42" fmla="*/ 130 w 260"/>
                  <a:gd name="T43" fmla="*/ 226 h 248"/>
                  <a:gd name="T44" fmla="*/ 126 w 260"/>
                  <a:gd name="T45" fmla="*/ 224 h 248"/>
                  <a:gd name="T46" fmla="*/ 102 w 260"/>
                  <a:gd name="T47" fmla="*/ 197 h 248"/>
                  <a:gd name="T48" fmla="*/ 68 w 260"/>
                  <a:gd name="T49" fmla="*/ 181 h 248"/>
                  <a:gd name="T50" fmla="*/ 29 w 260"/>
                  <a:gd name="T51" fmla="*/ 181 h 248"/>
                  <a:gd name="T52" fmla="*/ 21 w 260"/>
                  <a:gd name="T53" fmla="*/ 166 h 248"/>
                  <a:gd name="T54" fmla="*/ 21 w 260"/>
                  <a:gd name="T55" fmla="*/ 36 h 248"/>
                  <a:gd name="T56" fmla="*/ 36 w 260"/>
                  <a:gd name="T57" fmla="*/ 22 h 248"/>
                  <a:gd name="T58" fmla="*/ 224 w 260"/>
                  <a:gd name="T59" fmla="*/ 22 h 248"/>
                  <a:gd name="T60" fmla="*/ 239 w 260"/>
                  <a:gd name="T61" fmla="*/ 36 h 248"/>
                  <a:gd name="T62" fmla="*/ 239 w 260"/>
                  <a:gd name="T63" fmla="*/ 166 h 248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</a:cxnLst>
                <a:rect l="0" t="0" r="r" b="b"/>
                <a:pathLst>
                  <a:path w="260" h="248">
                    <a:moveTo>
                      <a:pt x="224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166"/>
                      <a:pt x="0" y="166"/>
                      <a:pt x="0" y="166"/>
                    </a:cubicBezTo>
                    <a:cubicBezTo>
                      <a:pt x="0" y="186"/>
                      <a:pt x="13" y="203"/>
                      <a:pt x="29" y="203"/>
                    </a:cubicBezTo>
                    <a:cubicBezTo>
                      <a:pt x="45" y="203"/>
                      <a:pt x="62" y="203"/>
                      <a:pt x="68" y="203"/>
                    </a:cubicBezTo>
                    <a:cubicBezTo>
                      <a:pt x="74" y="203"/>
                      <a:pt x="82" y="206"/>
                      <a:pt x="84" y="210"/>
                    </a:cubicBezTo>
                    <a:cubicBezTo>
                      <a:pt x="87" y="214"/>
                      <a:pt x="99" y="227"/>
                      <a:pt x="110" y="239"/>
                    </a:cubicBezTo>
                    <a:cubicBezTo>
                      <a:pt x="115" y="245"/>
                      <a:pt x="123" y="248"/>
                      <a:pt x="130" y="248"/>
                    </a:cubicBezTo>
                    <a:cubicBezTo>
                      <a:pt x="137" y="248"/>
                      <a:pt x="145" y="245"/>
                      <a:pt x="150" y="239"/>
                    </a:cubicBezTo>
                    <a:cubicBezTo>
                      <a:pt x="161" y="227"/>
                      <a:pt x="173" y="214"/>
                      <a:pt x="176" y="210"/>
                    </a:cubicBezTo>
                    <a:cubicBezTo>
                      <a:pt x="178" y="206"/>
                      <a:pt x="184" y="203"/>
                      <a:pt x="188" y="203"/>
                    </a:cubicBezTo>
                    <a:cubicBezTo>
                      <a:pt x="192" y="203"/>
                      <a:pt x="210" y="203"/>
                      <a:pt x="228" y="203"/>
                    </a:cubicBezTo>
                    <a:cubicBezTo>
                      <a:pt x="246" y="203"/>
                      <a:pt x="260" y="186"/>
                      <a:pt x="260" y="166"/>
                    </a:cubicBezTo>
                    <a:cubicBezTo>
                      <a:pt x="260" y="36"/>
                      <a:pt x="260" y="36"/>
                      <a:pt x="260" y="36"/>
                    </a:cubicBezTo>
                    <a:cubicBezTo>
                      <a:pt x="260" y="16"/>
                      <a:pt x="244" y="0"/>
                      <a:pt x="224" y="0"/>
                    </a:cubicBezTo>
                    <a:close/>
                    <a:moveTo>
                      <a:pt x="239" y="166"/>
                    </a:moveTo>
                    <a:cubicBezTo>
                      <a:pt x="239" y="174"/>
                      <a:pt x="233" y="181"/>
                      <a:pt x="228" y="181"/>
                    </a:cubicBezTo>
                    <a:cubicBezTo>
                      <a:pt x="188" y="181"/>
                      <a:pt x="188" y="181"/>
                      <a:pt x="188" y="181"/>
                    </a:cubicBezTo>
                    <a:cubicBezTo>
                      <a:pt x="177" y="181"/>
                      <a:pt x="165" y="188"/>
                      <a:pt x="158" y="197"/>
                    </a:cubicBezTo>
                    <a:cubicBezTo>
                      <a:pt x="156" y="200"/>
                      <a:pt x="146" y="212"/>
                      <a:pt x="134" y="224"/>
                    </a:cubicBezTo>
                    <a:cubicBezTo>
                      <a:pt x="133" y="226"/>
                      <a:pt x="131" y="226"/>
                      <a:pt x="130" y="226"/>
                    </a:cubicBezTo>
                    <a:cubicBezTo>
                      <a:pt x="129" y="226"/>
                      <a:pt x="127" y="226"/>
                      <a:pt x="126" y="224"/>
                    </a:cubicBezTo>
                    <a:cubicBezTo>
                      <a:pt x="114" y="212"/>
                      <a:pt x="104" y="200"/>
                      <a:pt x="102" y="197"/>
                    </a:cubicBezTo>
                    <a:cubicBezTo>
                      <a:pt x="95" y="188"/>
                      <a:pt x="81" y="181"/>
                      <a:pt x="68" y="181"/>
                    </a:cubicBezTo>
                    <a:cubicBezTo>
                      <a:pt x="29" y="181"/>
                      <a:pt x="29" y="181"/>
                      <a:pt x="29" y="181"/>
                    </a:cubicBezTo>
                    <a:cubicBezTo>
                      <a:pt x="26" y="181"/>
                      <a:pt x="21" y="175"/>
                      <a:pt x="21" y="166"/>
                    </a:cubicBezTo>
                    <a:cubicBezTo>
                      <a:pt x="21" y="36"/>
                      <a:pt x="21" y="36"/>
                      <a:pt x="21" y="36"/>
                    </a:cubicBezTo>
                    <a:cubicBezTo>
                      <a:pt x="21" y="28"/>
                      <a:pt x="28" y="22"/>
                      <a:pt x="36" y="22"/>
                    </a:cubicBezTo>
                    <a:cubicBezTo>
                      <a:pt x="224" y="22"/>
                      <a:pt x="224" y="22"/>
                      <a:pt x="224" y="22"/>
                    </a:cubicBezTo>
                    <a:cubicBezTo>
                      <a:pt x="232" y="22"/>
                      <a:pt x="239" y="28"/>
                      <a:pt x="239" y="36"/>
                    </a:cubicBezTo>
                    <a:lnTo>
                      <a:pt x="239" y="166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sz="2400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19" name="Rectangle 256"/>
              <p:cNvSpPr>
                <a:spLocks noChangeArrowheads="1"/>
              </p:cNvSpPr>
              <p:nvPr>
                <p:custDataLst>
                  <p:tags r:id="rId9"/>
                </p:custDataLst>
              </p:nvPr>
            </p:nvSpPr>
            <p:spPr bwMode="auto">
              <a:xfrm>
                <a:off x="6624956" y="2901692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sz="2400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20" name="Rectangle 257"/>
              <p:cNvSpPr>
                <a:spLocks noChangeArrowheads="1"/>
              </p:cNvSpPr>
              <p:nvPr>
                <p:custDataLst>
                  <p:tags r:id="rId10"/>
                </p:custDataLst>
              </p:nvPr>
            </p:nvSpPr>
            <p:spPr bwMode="auto">
              <a:xfrm>
                <a:off x="6624956" y="2977038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sz="2400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16" name="矩形 15"/>
            <p:cNvSpPr/>
            <p:nvPr>
              <p:custDataLst>
                <p:tags r:id="rId11"/>
              </p:custDataLst>
            </p:nvPr>
          </p:nvSpPr>
          <p:spPr>
            <a:xfrm>
              <a:off x="2206203" y="3088919"/>
              <a:ext cx="1205865" cy="457200"/>
            </a:xfrm>
            <a:prstGeom prst="rect">
              <a:avLst/>
            </a:prstGeom>
          </p:spPr>
          <p:txBody>
            <a:bodyPr wrap="square" lIns="76200" tIns="45720" rIns="76200" bIns="45720" anchor="ctr"/>
            <a:lstStyle/>
            <a:p>
              <a:pPr marL="0" indent="0" algn="l" fontAlgn="base"/>
              <a:r>
                <a:rPr lang="zh-CN" sz="24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事件</a:t>
              </a:r>
              <a:endParaRPr lang="zh-CN" sz="2400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21" name="组合 20"/>
          <p:cNvGrpSpPr/>
          <p:nvPr>
            <p:custDataLst>
              <p:tags r:id="rId12"/>
            </p:custDataLst>
          </p:nvPr>
        </p:nvGrpSpPr>
        <p:grpSpPr>
          <a:xfrm>
            <a:off x="3604906" y="1484784"/>
            <a:ext cx="2206286" cy="2206286"/>
            <a:chOff x="3642019" y="1818283"/>
            <a:chExt cx="2206286" cy="2206286"/>
          </a:xfrm>
        </p:grpSpPr>
        <p:sp>
          <p:nvSpPr>
            <p:cNvPr id="22" name="Teardrop 51"/>
            <p:cNvSpPr/>
            <p:nvPr>
              <p:custDataLst>
                <p:tags r:id="rId13"/>
              </p:custDataLst>
            </p:nvPr>
          </p:nvSpPr>
          <p:spPr>
            <a:xfrm rot="2700000">
              <a:off x="3642019" y="1818283"/>
              <a:ext cx="2206286" cy="2206286"/>
            </a:xfrm>
            <a:prstGeom prst="teardrop">
              <a:avLst/>
            </a:prstGeom>
            <a:solidFill>
              <a:sysClr val="windowText" lastClr="000000">
                <a:lumMod val="65000"/>
                <a:lumOff val="35000"/>
                <a:alpha val="9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Freeform 271"/>
            <p:cNvSpPr>
              <a:spLocks noEditPoints="1"/>
            </p:cNvSpPr>
            <p:nvPr>
              <p:custDataLst>
                <p:tags r:id="rId14"/>
              </p:custDataLst>
            </p:nvPr>
          </p:nvSpPr>
          <p:spPr bwMode="auto">
            <a:xfrm>
              <a:off x="4488245" y="2314810"/>
              <a:ext cx="473136" cy="754509"/>
            </a:xfrm>
            <a:custGeom>
              <a:avLst/>
              <a:gdLst>
                <a:gd name="T0" fmla="*/ 146 w 168"/>
                <a:gd name="T1" fmla="*/ 163 h 268"/>
                <a:gd name="T2" fmla="*/ 124 w 168"/>
                <a:gd name="T3" fmla="*/ 149 h 268"/>
                <a:gd name="T4" fmla="*/ 153 w 168"/>
                <a:gd name="T5" fmla="*/ 76 h 268"/>
                <a:gd name="T6" fmla="*/ 84 w 168"/>
                <a:gd name="T7" fmla="*/ 0 h 268"/>
                <a:gd name="T8" fmla="*/ 16 w 168"/>
                <a:gd name="T9" fmla="*/ 76 h 268"/>
                <a:gd name="T10" fmla="*/ 44 w 168"/>
                <a:gd name="T11" fmla="*/ 149 h 268"/>
                <a:gd name="T12" fmla="*/ 23 w 168"/>
                <a:gd name="T13" fmla="*/ 163 h 268"/>
                <a:gd name="T14" fmla="*/ 0 w 168"/>
                <a:gd name="T15" fmla="*/ 206 h 268"/>
                <a:gd name="T16" fmla="*/ 84 w 168"/>
                <a:gd name="T17" fmla="*/ 268 h 268"/>
                <a:gd name="T18" fmla="*/ 168 w 168"/>
                <a:gd name="T19" fmla="*/ 206 h 268"/>
                <a:gd name="T20" fmla="*/ 146 w 168"/>
                <a:gd name="T21" fmla="*/ 163 h 268"/>
                <a:gd name="T22" fmla="*/ 37 w 168"/>
                <a:gd name="T23" fmla="*/ 76 h 268"/>
                <a:gd name="T24" fmla="*/ 84 w 168"/>
                <a:gd name="T25" fmla="*/ 21 h 268"/>
                <a:gd name="T26" fmla="*/ 131 w 168"/>
                <a:gd name="T27" fmla="*/ 76 h 268"/>
                <a:gd name="T28" fmla="*/ 84 w 168"/>
                <a:gd name="T29" fmla="*/ 144 h 268"/>
                <a:gd name="T30" fmla="*/ 37 w 168"/>
                <a:gd name="T31" fmla="*/ 76 h 268"/>
                <a:gd name="T32" fmla="*/ 84 w 168"/>
                <a:gd name="T33" fmla="*/ 246 h 268"/>
                <a:gd name="T34" fmla="*/ 22 w 168"/>
                <a:gd name="T35" fmla="*/ 206 h 268"/>
                <a:gd name="T36" fmla="*/ 33 w 168"/>
                <a:gd name="T37" fmla="*/ 182 h 268"/>
                <a:gd name="T38" fmla="*/ 63 w 168"/>
                <a:gd name="T39" fmla="*/ 162 h 268"/>
                <a:gd name="T40" fmla="*/ 84 w 168"/>
                <a:gd name="T41" fmla="*/ 166 h 268"/>
                <a:gd name="T42" fmla="*/ 106 w 168"/>
                <a:gd name="T43" fmla="*/ 162 h 268"/>
                <a:gd name="T44" fmla="*/ 135 w 168"/>
                <a:gd name="T45" fmla="*/ 182 h 268"/>
                <a:gd name="T46" fmla="*/ 147 w 168"/>
                <a:gd name="T47" fmla="*/ 206 h 268"/>
                <a:gd name="T48" fmla="*/ 84 w 168"/>
                <a:gd name="T49" fmla="*/ 246 h 26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</a:cxnLst>
              <a:rect l="0" t="0" r="r" b="b"/>
              <a:pathLst>
                <a:path w="168" h="268">
                  <a:moveTo>
                    <a:pt x="146" y="163"/>
                  </a:moveTo>
                  <a:cubicBezTo>
                    <a:pt x="140" y="160"/>
                    <a:pt x="133" y="156"/>
                    <a:pt x="124" y="149"/>
                  </a:cubicBezTo>
                  <a:cubicBezTo>
                    <a:pt x="142" y="131"/>
                    <a:pt x="153" y="103"/>
                    <a:pt x="153" y="76"/>
                  </a:cubicBezTo>
                  <a:cubicBezTo>
                    <a:pt x="153" y="32"/>
                    <a:pt x="124" y="0"/>
                    <a:pt x="84" y="0"/>
                  </a:cubicBezTo>
                  <a:cubicBezTo>
                    <a:pt x="44" y="0"/>
                    <a:pt x="16" y="32"/>
                    <a:pt x="16" y="76"/>
                  </a:cubicBezTo>
                  <a:cubicBezTo>
                    <a:pt x="16" y="103"/>
                    <a:pt x="26" y="131"/>
                    <a:pt x="44" y="149"/>
                  </a:cubicBezTo>
                  <a:cubicBezTo>
                    <a:pt x="35" y="156"/>
                    <a:pt x="28" y="160"/>
                    <a:pt x="23" y="163"/>
                  </a:cubicBezTo>
                  <a:cubicBezTo>
                    <a:pt x="6" y="173"/>
                    <a:pt x="0" y="179"/>
                    <a:pt x="0" y="206"/>
                  </a:cubicBezTo>
                  <a:cubicBezTo>
                    <a:pt x="0" y="243"/>
                    <a:pt x="33" y="268"/>
                    <a:pt x="84" y="268"/>
                  </a:cubicBezTo>
                  <a:cubicBezTo>
                    <a:pt x="135" y="268"/>
                    <a:pt x="168" y="243"/>
                    <a:pt x="168" y="206"/>
                  </a:cubicBezTo>
                  <a:cubicBezTo>
                    <a:pt x="168" y="179"/>
                    <a:pt x="163" y="173"/>
                    <a:pt x="146" y="163"/>
                  </a:cubicBezTo>
                  <a:close/>
                  <a:moveTo>
                    <a:pt x="37" y="76"/>
                  </a:moveTo>
                  <a:cubicBezTo>
                    <a:pt x="37" y="49"/>
                    <a:pt x="52" y="21"/>
                    <a:pt x="84" y="21"/>
                  </a:cubicBezTo>
                  <a:cubicBezTo>
                    <a:pt x="117" y="21"/>
                    <a:pt x="131" y="49"/>
                    <a:pt x="131" y="76"/>
                  </a:cubicBezTo>
                  <a:cubicBezTo>
                    <a:pt x="131" y="108"/>
                    <a:pt x="112" y="144"/>
                    <a:pt x="84" y="144"/>
                  </a:cubicBezTo>
                  <a:cubicBezTo>
                    <a:pt x="57" y="144"/>
                    <a:pt x="37" y="108"/>
                    <a:pt x="37" y="76"/>
                  </a:cubicBezTo>
                  <a:close/>
                  <a:moveTo>
                    <a:pt x="84" y="246"/>
                  </a:moveTo>
                  <a:cubicBezTo>
                    <a:pt x="70" y="246"/>
                    <a:pt x="22" y="243"/>
                    <a:pt x="22" y="206"/>
                  </a:cubicBezTo>
                  <a:cubicBezTo>
                    <a:pt x="22" y="189"/>
                    <a:pt x="22" y="189"/>
                    <a:pt x="33" y="182"/>
                  </a:cubicBezTo>
                  <a:cubicBezTo>
                    <a:pt x="40" y="178"/>
                    <a:pt x="50" y="172"/>
                    <a:pt x="63" y="162"/>
                  </a:cubicBezTo>
                  <a:cubicBezTo>
                    <a:pt x="70" y="165"/>
                    <a:pt x="77" y="166"/>
                    <a:pt x="84" y="166"/>
                  </a:cubicBezTo>
                  <a:cubicBezTo>
                    <a:pt x="92" y="166"/>
                    <a:pt x="99" y="165"/>
                    <a:pt x="106" y="162"/>
                  </a:cubicBezTo>
                  <a:cubicBezTo>
                    <a:pt x="119" y="172"/>
                    <a:pt x="128" y="178"/>
                    <a:pt x="135" y="182"/>
                  </a:cubicBezTo>
                  <a:cubicBezTo>
                    <a:pt x="147" y="189"/>
                    <a:pt x="147" y="189"/>
                    <a:pt x="147" y="206"/>
                  </a:cubicBezTo>
                  <a:cubicBezTo>
                    <a:pt x="147" y="243"/>
                    <a:pt x="99" y="246"/>
                    <a:pt x="84" y="246"/>
                  </a:cubicBezTo>
                  <a:close/>
                </a:path>
              </a:pathLst>
            </a:custGeom>
            <a:solidFill>
              <a:sysClr val="window" lastClr="FFFFFF"/>
            </a:solidFill>
            <a:ln>
              <a:noFill/>
            </a:ln>
          </p:spPr>
          <p:txBody>
            <a:bodyPr vert="horz" wrap="square" lIns="91440" tIns="45720" rIns="91440" bIns="45720" numCol="1" anchor="t" anchorCtr="0" compatLnSpc="1"/>
            <a:lstStyle/>
            <a:p>
              <a:pPr marL="0" marR="0" lvl="0" indent="0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en-US" sz="2400" b="0" i="0" u="none" strike="noStrike" kern="0" cap="none" spc="0" normalizeH="0" baseline="0" noProof="0">
                <a:ln>
                  <a:noFill/>
                </a:ln>
                <a:solidFill>
                  <a:sysClr val="windowText" lastClr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4" name="矩形 23"/>
            <p:cNvSpPr/>
            <p:nvPr>
              <p:custDataLst>
                <p:tags r:id="rId15"/>
              </p:custDataLst>
            </p:nvPr>
          </p:nvSpPr>
          <p:spPr>
            <a:xfrm>
              <a:off x="4418624" y="3088918"/>
              <a:ext cx="949325" cy="457200"/>
            </a:xfrm>
            <a:prstGeom prst="rect">
              <a:avLst/>
            </a:prstGeom>
          </p:spPr>
          <p:txBody>
            <a:bodyPr wrap="square" lIns="76200" tIns="45720" rIns="76200" bIns="45720" anchor="ctr"/>
            <a:lstStyle/>
            <a:p>
              <a:pPr marL="0" indent="0" algn="l" fontAlgn="base"/>
              <a:r>
                <a:rPr lang="zh-CN" sz="24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CAR</a:t>
              </a:r>
              <a:endParaRPr lang="zh-CN" sz="2400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25" name="组合 24"/>
          <p:cNvGrpSpPr/>
          <p:nvPr>
            <p:custDataLst>
              <p:tags r:id="rId16"/>
            </p:custDataLst>
          </p:nvPr>
        </p:nvGrpSpPr>
        <p:grpSpPr>
          <a:xfrm>
            <a:off x="6011626" y="1484150"/>
            <a:ext cx="2206286" cy="2206286"/>
            <a:chOff x="5820150" y="1817649"/>
            <a:chExt cx="2206286" cy="2206286"/>
          </a:xfrm>
        </p:grpSpPr>
        <p:sp>
          <p:nvSpPr>
            <p:cNvPr id="26" name="Teardrop 52"/>
            <p:cNvSpPr/>
            <p:nvPr>
              <p:custDataLst>
                <p:tags r:id="rId17"/>
              </p:custDataLst>
            </p:nvPr>
          </p:nvSpPr>
          <p:spPr>
            <a:xfrm rot="2700000">
              <a:off x="5820150" y="1817649"/>
              <a:ext cx="2206286" cy="2206286"/>
            </a:xfrm>
            <a:prstGeom prst="teardrop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algn="ctr">
                <a:defRPr/>
              </a:pPr>
              <a:endParaRPr lang="id-ID" sz="2400" kern="0">
                <a:solidFill>
                  <a:sysClr val="window" lastClr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27" name="组合 26"/>
            <p:cNvGrpSpPr/>
            <p:nvPr/>
          </p:nvGrpSpPr>
          <p:grpSpPr>
            <a:xfrm>
              <a:off x="6617541" y="2295096"/>
              <a:ext cx="571705" cy="793938"/>
              <a:chOff x="8032306" y="5624901"/>
              <a:chExt cx="429201" cy="596039"/>
            </a:xfrm>
            <a:solidFill>
              <a:sysClr val="window" lastClr="FFFFFF"/>
            </a:solidFill>
          </p:grpSpPr>
          <p:sp>
            <p:nvSpPr>
              <p:cNvPr id="29" name="Freeform 276"/>
              <p:cNvSpPr/>
              <p:nvPr>
                <p:custDataLst>
                  <p:tags r:id="rId18"/>
                </p:custDataLst>
              </p:nvPr>
            </p:nvSpPr>
            <p:spPr bwMode="auto">
              <a:xfrm>
                <a:off x="8032306" y="5715047"/>
                <a:ext cx="429201" cy="505893"/>
              </a:xfrm>
              <a:custGeom>
                <a:avLst/>
                <a:gdLst>
                  <a:gd name="T0" fmla="*/ 166 w 203"/>
                  <a:gd name="T1" fmla="*/ 0 h 239"/>
                  <a:gd name="T2" fmla="*/ 166 w 203"/>
                  <a:gd name="T3" fmla="*/ 22 h 239"/>
                  <a:gd name="T4" fmla="*/ 181 w 203"/>
                  <a:gd name="T5" fmla="*/ 37 h 239"/>
                  <a:gd name="T6" fmla="*/ 181 w 203"/>
                  <a:gd name="T7" fmla="*/ 203 h 239"/>
                  <a:gd name="T8" fmla="*/ 166 w 203"/>
                  <a:gd name="T9" fmla="*/ 218 h 239"/>
                  <a:gd name="T10" fmla="*/ 36 w 203"/>
                  <a:gd name="T11" fmla="*/ 218 h 239"/>
                  <a:gd name="T12" fmla="*/ 22 w 203"/>
                  <a:gd name="T13" fmla="*/ 203 h 239"/>
                  <a:gd name="T14" fmla="*/ 22 w 203"/>
                  <a:gd name="T15" fmla="*/ 37 h 239"/>
                  <a:gd name="T16" fmla="*/ 36 w 203"/>
                  <a:gd name="T17" fmla="*/ 22 h 239"/>
                  <a:gd name="T18" fmla="*/ 36 w 203"/>
                  <a:gd name="T19" fmla="*/ 0 h 239"/>
                  <a:gd name="T20" fmla="*/ 0 w 203"/>
                  <a:gd name="T21" fmla="*/ 37 h 239"/>
                  <a:gd name="T22" fmla="*/ 0 w 203"/>
                  <a:gd name="T23" fmla="*/ 203 h 239"/>
                  <a:gd name="T24" fmla="*/ 36 w 203"/>
                  <a:gd name="T25" fmla="*/ 239 h 239"/>
                  <a:gd name="T26" fmla="*/ 166 w 203"/>
                  <a:gd name="T27" fmla="*/ 239 h 239"/>
                  <a:gd name="T28" fmla="*/ 203 w 203"/>
                  <a:gd name="T29" fmla="*/ 203 h 239"/>
                  <a:gd name="T30" fmla="*/ 203 w 203"/>
                  <a:gd name="T31" fmla="*/ 37 h 239"/>
                  <a:gd name="T32" fmla="*/ 166 w 203"/>
                  <a:gd name="T33" fmla="*/ 0 h 239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</a:cxnLst>
                <a:rect l="0" t="0" r="r" b="b"/>
                <a:pathLst>
                  <a:path w="203" h="239">
                    <a:moveTo>
                      <a:pt x="166" y="0"/>
                    </a:moveTo>
                    <a:cubicBezTo>
                      <a:pt x="166" y="22"/>
                      <a:pt x="166" y="22"/>
                      <a:pt x="166" y="22"/>
                    </a:cubicBezTo>
                    <a:cubicBezTo>
                      <a:pt x="174" y="22"/>
                      <a:pt x="181" y="29"/>
                      <a:pt x="181" y="37"/>
                    </a:cubicBezTo>
                    <a:cubicBezTo>
                      <a:pt x="181" y="203"/>
                      <a:pt x="181" y="203"/>
                      <a:pt x="181" y="203"/>
                    </a:cubicBezTo>
                    <a:cubicBezTo>
                      <a:pt x="181" y="211"/>
                      <a:pt x="174" y="218"/>
                      <a:pt x="166" y="218"/>
                    </a:cubicBezTo>
                    <a:cubicBezTo>
                      <a:pt x="36" y="218"/>
                      <a:pt x="36" y="218"/>
                      <a:pt x="36" y="218"/>
                    </a:cubicBezTo>
                    <a:cubicBezTo>
                      <a:pt x="28" y="218"/>
                      <a:pt x="22" y="211"/>
                      <a:pt x="22" y="203"/>
                    </a:cubicBezTo>
                    <a:cubicBezTo>
                      <a:pt x="22" y="37"/>
                      <a:pt x="22" y="37"/>
                      <a:pt x="22" y="37"/>
                    </a:cubicBezTo>
                    <a:cubicBezTo>
                      <a:pt x="22" y="29"/>
                      <a:pt x="28" y="22"/>
                      <a:pt x="36" y="22"/>
                    </a:cubicBez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7"/>
                      <a:pt x="0" y="37"/>
                    </a:cubicBezTo>
                    <a:cubicBezTo>
                      <a:pt x="0" y="203"/>
                      <a:pt x="0" y="203"/>
                      <a:pt x="0" y="203"/>
                    </a:cubicBezTo>
                    <a:cubicBezTo>
                      <a:pt x="0" y="223"/>
                      <a:pt x="16" y="239"/>
                      <a:pt x="36" y="239"/>
                    </a:cubicBezTo>
                    <a:cubicBezTo>
                      <a:pt x="166" y="239"/>
                      <a:pt x="166" y="239"/>
                      <a:pt x="166" y="239"/>
                    </a:cubicBezTo>
                    <a:cubicBezTo>
                      <a:pt x="186" y="239"/>
                      <a:pt x="203" y="223"/>
                      <a:pt x="203" y="203"/>
                    </a:cubicBezTo>
                    <a:cubicBezTo>
                      <a:pt x="203" y="37"/>
                      <a:pt x="203" y="37"/>
                      <a:pt x="203" y="37"/>
                    </a:cubicBezTo>
                    <a:cubicBezTo>
                      <a:pt x="203" y="17"/>
                      <a:pt x="186" y="0"/>
                      <a:pt x="166" y="0"/>
                    </a:cubicBez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sz="2400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0" name="Freeform 277"/>
              <p:cNvSpPr/>
              <p:nvPr>
                <p:custDataLst>
                  <p:tags r:id="rId19"/>
                </p:custDataLst>
              </p:nvPr>
            </p:nvSpPr>
            <p:spPr bwMode="auto">
              <a:xfrm>
                <a:off x="8139943" y="5624901"/>
                <a:ext cx="213928" cy="137237"/>
              </a:xfrm>
              <a:custGeom>
                <a:avLst/>
                <a:gdLst>
                  <a:gd name="T0" fmla="*/ 101 w 101"/>
                  <a:gd name="T1" fmla="*/ 29 h 65"/>
                  <a:gd name="T2" fmla="*/ 79 w 101"/>
                  <a:gd name="T3" fmla="*/ 29 h 65"/>
                  <a:gd name="T4" fmla="*/ 50 w 101"/>
                  <a:gd name="T5" fmla="*/ 0 h 65"/>
                  <a:gd name="T6" fmla="*/ 21 w 101"/>
                  <a:gd name="T7" fmla="*/ 29 h 65"/>
                  <a:gd name="T8" fmla="*/ 0 w 101"/>
                  <a:gd name="T9" fmla="*/ 29 h 65"/>
                  <a:gd name="T10" fmla="*/ 0 w 101"/>
                  <a:gd name="T11" fmla="*/ 65 h 65"/>
                  <a:gd name="T12" fmla="*/ 101 w 101"/>
                  <a:gd name="T13" fmla="*/ 65 h 65"/>
                  <a:gd name="T14" fmla="*/ 101 w 101"/>
                  <a:gd name="T15" fmla="*/ 29 h 65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</a:cxnLst>
                <a:rect l="0" t="0" r="r" b="b"/>
                <a:pathLst>
                  <a:path w="101" h="65">
                    <a:moveTo>
                      <a:pt x="101" y="29"/>
                    </a:moveTo>
                    <a:cubicBezTo>
                      <a:pt x="79" y="29"/>
                      <a:pt x="79" y="29"/>
                      <a:pt x="79" y="29"/>
                    </a:cubicBezTo>
                    <a:cubicBezTo>
                      <a:pt x="79" y="13"/>
                      <a:pt x="66" y="0"/>
                      <a:pt x="50" y="0"/>
                    </a:cubicBezTo>
                    <a:cubicBezTo>
                      <a:pt x="34" y="0"/>
                      <a:pt x="21" y="13"/>
                      <a:pt x="21" y="29"/>
                    </a:cubicBezTo>
                    <a:cubicBezTo>
                      <a:pt x="0" y="29"/>
                      <a:pt x="0" y="29"/>
                      <a:pt x="0" y="29"/>
                    </a:cubicBezTo>
                    <a:cubicBezTo>
                      <a:pt x="0" y="65"/>
                      <a:pt x="0" y="65"/>
                      <a:pt x="0" y="65"/>
                    </a:cubicBezTo>
                    <a:cubicBezTo>
                      <a:pt x="101" y="65"/>
                      <a:pt x="101" y="65"/>
                      <a:pt x="101" y="65"/>
                    </a:cubicBezTo>
                    <a:lnTo>
                      <a:pt x="101" y="29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sz="2400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1" name="Rectangle 278"/>
              <p:cNvSpPr>
                <a:spLocks noChangeArrowheads="1"/>
              </p:cNvSpPr>
              <p:nvPr>
                <p:custDataLst>
                  <p:tags r:id="rId20"/>
                </p:custDataLst>
              </p:nvPr>
            </p:nvSpPr>
            <p:spPr bwMode="auto">
              <a:xfrm>
                <a:off x="8123797" y="5837484"/>
                <a:ext cx="244874" cy="32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sz="2400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2" name="Rectangle 279"/>
              <p:cNvSpPr>
                <a:spLocks noChangeArrowheads="1"/>
              </p:cNvSpPr>
              <p:nvPr>
                <p:custDataLst>
                  <p:tags r:id="rId21"/>
                </p:custDataLst>
              </p:nvPr>
            </p:nvSpPr>
            <p:spPr bwMode="auto">
              <a:xfrm>
                <a:off x="8123797" y="5914175"/>
                <a:ext cx="244874" cy="32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sz="2400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3" name="Rectangle 280"/>
              <p:cNvSpPr>
                <a:spLocks noChangeArrowheads="1"/>
              </p:cNvSpPr>
              <p:nvPr>
                <p:custDataLst>
                  <p:tags r:id="rId22"/>
                </p:custDataLst>
              </p:nvPr>
            </p:nvSpPr>
            <p:spPr bwMode="auto">
              <a:xfrm>
                <a:off x="8123797" y="5992211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sz="2400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34" name="Rectangle 281"/>
              <p:cNvSpPr>
                <a:spLocks noChangeArrowheads="1"/>
              </p:cNvSpPr>
              <p:nvPr>
                <p:custDataLst>
                  <p:tags r:id="rId23"/>
                </p:custDataLst>
              </p:nvPr>
            </p:nvSpPr>
            <p:spPr bwMode="auto">
              <a:xfrm>
                <a:off x="8123797" y="6068903"/>
                <a:ext cx="244874" cy="29600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>
                  <a:defRPr/>
                </a:pPr>
                <a:endParaRPr lang="en-US" sz="2400" kern="0">
                  <a:solidFill>
                    <a:sysClr val="windowText" lastClr="000000"/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28" name="矩形 27"/>
            <p:cNvSpPr/>
            <p:nvPr>
              <p:custDataLst>
                <p:tags r:id="rId24"/>
              </p:custDataLst>
            </p:nvPr>
          </p:nvSpPr>
          <p:spPr>
            <a:xfrm>
              <a:off x="6617075" y="3088919"/>
              <a:ext cx="615950" cy="457200"/>
            </a:xfrm>
            <a:prstGeom prst="rect">
              <a:avLst/>
            </a:prstGeom>
          </p:spPr>
          <p:txBody>
            <a:bodyPr wrap="square" lIns="76200" tIns="45720" rIns="76200" bIns="45720" anchor="ctr"/>
            <a:lstStyle/>
            <a:p>
              <a:pPr marL="0" indent="0" algn="l" fontAlgn="base"/>
              <a:r>
                <a:rPr lang="zh-CN" sz="24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ITS</a:t>
              </a:r>
              <a:endParaRPr lang="zh-CN" sz="2400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35" name="组合 34"/>
          <p:cNvGrpSpPr/>
          <p:nvPr>
            <p:custDataLst>
              <p:tags r:id="rId25"/>
            </p:custDataLst>
          </p:nvPr>
        </p:nvGrpSpPr>
        <p:grpSpPr>
          <a:xfrm>
            <a:off x="8415805" y="1484785"/>
            <a:ext cx="2452759" cy="2206286"/>
            <a:chOff x="7765026" y="1818284"/>
            <a:chExt cx="2452759" cy="2206286"/>
          </a:xfrm>
        </p:grpSpPr>
        <p:sp>
          <p:nvSpPr>
            <p:cNvPr id="36" name="Teardrop 53"/>
            <p:cNvSpPr/>
            <p:nvPr>
              <p:custDataLst>
                <p:tags r:id="rId26"/>
              </p:custDataLst>
            </p:nvPr>
          </p:nvSpPr>
          <p:spPr>
            <a:xfrm rot="2700000">
              <a:off x="7765026" y="1818284"/>
              <a:ext cx="2206286" cy="2206286"/>
            </a:xfrm>
            <a:prstGeom prst="teardrop">
              <a:avLst/>
            </a:prstGeom>
            <a:solidFill>
              <a:sysClr val="windowText" lastClr="000000">
                <a:lumMod val="65000"/>
                <a:lumOff val="35000"/>
                <a:alpha val="90000"/>
              </a:sysClr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id-ID" sz="2400" b="0" i="0" u="none" strike="noStrike" kern="0" cap="none" spc="0" normalizeH="0" baseline="0" noProof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grpSp>
          <p:nvGrpSpPr>
            <p:cNvPr id="37" name="组合 36"/>
            <p:cNvGrpSpPr/>
            <p:nvPr/>
          </p:nvGrpSpPr>
          <p:grpSpPr>
            <a:xfrm>
              <a:off x="8584939" y="2325564"/>
              <a:ext cx="568121" cy="733003"/>
              <a:chOff x="9501547" y="5685447"/>
              <a:chExt cx="426510" cy="550293"/>
            </a:xfrm>
            <a:solidFill>
              <a:sysClr val="window" lastClr="FFFFFF"/>
            </a:solidFill>
          </p:grpSpPr>
          <p:sp>
            <p:nvSpPr>
              <p:cNvPr id="39" name="Freeform 282"/>
              <p:cNvSpPr>
                <a:spLocks noEditPoints="1"/>
              </p:cNvSpPr>
              <p:nvPr>
                <p:custDataLst>
                  <p:tags r:id="rId27"/>
                </p:custDataLst>
              </p:nvPr>
            </p:nvSpPr>
            <p:spPr bwMode="auto">
              <a:xfrm>
                <a:off x="9501547" y="5685447"/>
                <a:ext cx="426510" cy="550293"/>
              </a:xfrm>
              <a:custGeom>
                <a:avLst/>
                <a:gdLst>
                  <a:gd name="T0" fmla="*/ 166 w 202"/>
                  <a:gd name="T1" fmla="*/ 0 h 260"/>
                  <a:gd name="T2" fmla="*/ 36 w 202"/>
                  <a:gd name="T3" fmla="*/ 0 h 260"/>
                  <a:gd name="T4" fmla="*/ 0 w 202"/>
                  <a:gd name="T5" fmla="*/ 36 h 260"/>
                  <a:gd name="T6" fmla="*/ 0 w 202"/>
                  <a:gd name="T7" fmla="*/ 224 h 260"/>
                  <a:gd name="T8" fmla="*/ 36 w 202"/>
                  <a:gd name="T9" fmla="*/ 260 h 260"/>
                  <a:gd name="T10" fmla="*/ 166 w 202"/>
                  <a:gd name="T11" fmla="*/ 260 h 260"/>
                  <a:gd name="T12" fmla="*/ 202 w 202"/>
                  <a:gd name="T13" fmla="*/ 224 h 260"/>
                  <a:gd name="T14" fmla="*/ 202 w 202"/>
                  <a:gd name="T15" fmla="*/ 36 h 260"/>
                  <a:gd name="T16" fmla="*/ 166 w 202"/>
                  <a:gd name="T17" fmla="*/ 0 h 260"/>
                  <a:gd name="T18" fmla="*/ 181 w 202"/>
                  <a:gd name="T19" fmla="*/ 224 h 260"/>
                  <a:gd name="T20" fmla="*/ 166 w 202"/>
                  <a:gd name="T21" fmla="*/ 239 h 260"/>
                  <a:gd name="T22" fmla="*/ 36 w 202"/>
                  <a:gd name="T23" fmla="*/ 239 h 260"/>
                  <a:gd name="T24" fmla="*/ 22 w 202"/>
                  <a:gd name="T25" fmla="*/ 224 h 260"/>
                  <a:gd name="T26" fmla="*/ 22 w 202"/>
                  <a:gd name="T27" fmla="*/ 36 h 260"/>
                  <a:gd name="T28" fmla="*/ 36 w 202"/>
                  <a:gd name="T29" fmla="*/ 22 h 260"/>
                  <a:gd name="T30" fmla="*/ 166 w 202"/>
                  <a:gd name="T31" fmla="*/ 22 h 260"/>
                  <a:gd name="T32" fmla="*/ 181 w 202"/>
                  <a:gd name="T33" fmla="*/ 36 h 260"/>
                  <a:gd name="T34" fmla="*/ 181 w 202"/>
                  <a:gd name="T35" fmla="*/ 224 h 26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</a:cxnLst>
                <a:rect l="0" t="0" r="r" b="b"/>
                <a:pathLst>
                  <a:path w="202" h="260">
                    <a:moveTo>
                      <a:pt x="166" y="0"/>
                    </a:moveTo>
                    <a:cubicBezTo>
                      <a:pt x="36" y="0"/>
                      <a:pt x="36" y="0"/>
                      <a:pt x="36" y="0"/>
                    </a:cubicBezTo>
                    <a:cubicBezTo>
                      <a:pt x="16" y="0"/>
                      <a:pt x="0" y="16"/>
                      <a:pt x="0" y="36"/>
                    </a:cubicBezTo>
                    <a:cubicBezTo>
                      <a:pt x="0" y="224"/>
                      <a:pt x="0" y="224"/>
                      <a:pt x="0" y="224"/>
                    </a:cubicBezTo>
                    <a:cubicBezTo>
                      <a:pt x="0" y="244"/>
                      <a:pt x="16" y="260"/>
                      <a:pt x="36" y="260"/>
                    </a:cubicBezTo>
                    <a:cubicBezTo>
                      <a:pt x="166" y="260"/>
                      <a:pt x="166" y="260"/>
                      <a:pt x="166" y="260"/>
                    </a:cubicBezTo>
                    <a:cubicBezTo>
                      <a:pt x="186" y="260"/>
                      <a:pt x="202" y="244"/>
                      <a:pt x="202" y="224"/>
                    </a:cubicBezTo>
                    <a:cubicBezTo>
                      <a:pt x="202" y="36"/>
                      <a:pt x="202" y="36"/>
                      <a:pt x="202" y="36"/>
                    </a:cubicBezTo>
                    <a:cubicBezTo>
                      <a:pt x="202" y="16"/>
                      <a:pt x="186" y="0"/>
                      <a:pt x="166" y="0"/>
                    </a:cubicBezTo>
                    <a:close/>
                    <a:moveTo>
                      <a:pt x="181" y="224"/>
                    </a:moveTo>
                    <a:cubicBezTo>
                      <a:pt x="181" y="232"/>
                      <a:pt x="174" y="239"/>
                      <a:pt x="166" y="239"/>
                    </a:cubicBezTo>
                    <a:cubicBezTo>
                      <a:pt x="36" y="239"/>
                      <a:pt x="36" y="239"/>
                      <a:pt x="36" y="239"/>
                    </a:cubicBezTo>
                    <a:cubicBezTo>
                      <a:pt x="28" y="239"/>
                      <a:pt x="22" y="232"/>
                      <a:pt x="22" y="224"/>
                    </a:cubicBezTo>
                    <a:cubicBezTo>
                      <a:pt x="22" y="36"/>
                      <a:pt x="22" y="36"/>
                      <a:pt x="22" y="36"/>
                    </a:cubicBezTo>
                    <a:cubicBezTo>
                      <a:pt x="22" y="28"/>
                      <a:pt x="28" y="22"/>
                      <a:pt x="36" y="22"/>
                    </a:cubicBezTo>
                    <a:cubicBezTo>
                      <a:pt x="166" y="22"/>
                      <a:pt x="166" y="22"/>
                      <a:pt x="166" y="22"/>
                    </a:cubicBezTo>
                    <a:cubicBezTo>
                      <a:pt x="174" y="22"/>
                      <a:pt x="181" y="28"/>
                      <a:pt x="181" y="36"/>
                    </a:cubicBezTo>
                    <a:lnTo>
                      <a:pt x="181" y="224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0" name="Freeform 283"/>
              <p:cNvSpPr>
                <a:spLocks noEditPoints="1"/>
              </p:cNvSpPr>
              <p:nvPr>
                <p:custDataLst>
                  <p:tags r:id="rId28"/>
                </p:custDataLst>
              </p:nvPr>
            </p:nvSpPr>
            <p:spPr bwMode="auto">
              <a:xfrm>
                <a:off x="9576893" y="5762138"/>
                <a:ext cx="274474" cy="367310"/>
              </a:xfrm>
              <a:custGeom>
                <a:avLst/>
                <a:gdLst>
                  <a:gd name="T0" fmla="*/ 0 w 204"/>
                  <a:gd name="T1" fmla="*/ 273 h 273"/>
                  <a:gd name="T2" fmla="*/ 204 w 204"/>
                  <a:gd name="T3" fmla="*/ 273 h 273"/>
                  <a:gd name="T4" fmla="*/ 204 w 204"/>
                  <a:gd name="T5" fmla="*/ 0 h 273"/>
                  <a:gd name="T6" fmla="*/ 0 w 204"/>
                  <a:gd name="T7" fmla="*/ 0 h 273"/>
                  <a:gd name="T8" fmla="*/ 0 w 204"/>
                  <a:gd name="T9" fmla="*/ 273 h 273"/>
                  <a:gd name="T10" fmla="*/ 11 w 204"/>
                  <a:gd name="T11" fmla="*/ 11 h 273"/>
                  <a:gd name="T12" fmla="*/ 193 w 204"/>
                  <a:gd name="T13" fmla="*/ 11 h 273"/>
                  <a:gd name="T14" fmla="*/ 193 w 204"/>
                  <a:gd name="T15" fmla="*/ 262 h 273"/>
                  <a:gd name="T16" fmla="*/ 11 w 204"/>
                  <a:gd name="T17" fmla="*/ 262 h 273"/>
                  <a:gd name="T18" fmla="*/ 11 w 204"/>
                  <a:gd name="T19" fmla="*/ 11 h 273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</a:cxnLst>
                <a:rect l="0" t="0" r="r" b="b"/>
                <a:pathLst>
                  <a:path w="204" h="273">
                    <a:moveTo>
                      <a:pt x="0" y="273"/>
                    </a:moveTo>
                    <a:lnTo>
                      <a:pt x="204" y="273"/>
                    </a:lnTo>
                    <a:lnTo>
                      <a:pt x="204" y="0"/>
                    </a:lnTo>
                    <a:lnTo>
                      <a:pt x="0" y="0"/>
                    </a:lnTo>
                    <a:lnTo>
                      <a:pt x="0" y="273"/>
                    </a:lnTo>
                    <a:close/>
                    <a:moveTo>
                      <a:pt x="11" y="11"/>
                    </a:moveTo>
                    <a:lnTo>
                      <a:pt x="193" y="11"/>
                    </a:lnTo>
                    <a:lnTo>
                      <a:pt x="193" y="262"/>
                    </a:lnTo>
                    <a:lnTo>
                      <a:pt x="11" y="262"/>
                    </a:lnTo>
                    <a:lnTo>
                      <a:pt x="11" y="11"/>
                    </a:lnTo>
                    <a:close/>
                  </a:path>
                </a:pathLst>
              </a:cu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  <p:sp>
            <p:nvSpPr>
              <p:cNvPr id="41" name="Rectangle 284"/>
              <p:cNvSpPr>
                <a:spLocks noChangeArrowheads="1"/>
              </p:cNvSpPr>
              <p:nvPr>
                <p:custDataLst>
                  <p:tags r:id="rId29"/>
                </p:custDataLst>
              </p:nvPr>
            </p:nvSpPr>
            <p:spPr bwMode="auto">
              <a:xfrm>
                <a:off x="9699330" y="6144248"/>
                <a:ext cx="29600" cy="32291"/>
              </a:xfrm>
              <a:prstGeom prst="rect">
                <a:avLst/>
              </a:prstGeom>
              <a:grpFill/>
              <a:ln>
                <a:noFill/>
              </a:ln>
            </p:spPr>
            <p:txBody>
              <a:bodyPr vert="horz" wrap="square" lIns="91440" tIns="45720" rIns="91440" bIns="45720" numCol="1" anchor="t" anchorCtr="0" compatLnSpc="1"/>
              <a:lstStyle/>
              <a:p>
                <a:pPr marL="0" marR="0" lvl="0" indent="0" defTabSz="91440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en-US" sz="2400" b="0" i="0" u="none" strike="noStrike" kern="0" cap="none" spc="0" normalizeH="0" baseline="0" noProof="0">
                  <a:ln>
                    <a:noFill/>
                  </a:ln>
                  <a:solidFill>
                    <a:sysClr val="windowText" lastClr="000000"/>
                  </a:solidFill>
                  <a:effectLst/>
                  <a:uLnTx/>
                  <a:uFillTx/>
                  <a:latin typeface="微软雅黑" panose="020B0503020204020204" pitchFamily="34" charset="-122"/>
                  <a:ea typeface="微软雅黑" panose="020B0503020204020204" pitchFamily="34" charset="-122"/>
                </a:endParaRPr>
              </a:p>
            </p:txBody>
          </p:sp>
        </p:grpSp>
        <p:sp>
          <p:nvSpPr>
            <p:cNvPr id="38" name="矩形 37"/>
            <p:cNvSpPr/>
            <p:nvPr>
              <p:custDataLst>
                <p:tags r:id="rId30"/>
              </p:custDataLst>
            </p:nvPr>
          </p:nvSpPr>
          <p:spPr>
            <a:xfrm>
              <a:off x="8503285" y="3088640"/>
              <a:ext cx="1714500" cy="457200"/>
            </a:xfrm>
            <a:prstGeom prst="rect">
              <a:avLst/>
            </a:prstGeom>
          </p:spPr>
          <p:txBody>
            <a:bodyPr wrap="square" lIns="76200" tIns="45720" rIns="76200" bIns="45720" anchor="ctr"/>
            <a:lstStyle/>
            <a:p>
              <a:pPr marL="0" indent="0" algn="l" fontAlgn="base"/>
              <a:r>
                <a:rPr lang="zh-CN" sz="24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诊断</a:t>
              </a:r>
              <a:endParaRPr lang="zh-CN" sz="2400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53" name="新增形状 53"/>
          <p:cNvSpPr/>
          <p:nvPr/>
        </p:nvSpPr>
        <p:spPr>
          <a:xfrm>
            <a:off x="4733925" y="4095750"/>
            <a:ext cx="2646680" cy="457200"/>
          </a:xfrm>
          <a:prstGeom prst="rect">
            <a:avLst/>
          </a:prstGeom>
          <a:noFill/>
          <a:ln w="0">
            <a:solidFill>
              <a:srgbClr val="FFFFFF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8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六步识别路径</a:t>
            </a:r>
            <a:endParaRPr lang="zh-CN" sz="2800" b="1">
              <a:solidFill>
                <a:srgbClr val="063F75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54" name="新增形状 54"/>
          <p:cNvSpPr/>
          <p:nvPr/>
        </p:nvSpPr>
        <p:spPr>
          <a:xfrm>
            <a:off x="666750" y="4810125"/>
            <a:ext cx="1428750" cy="609600"/>
          </a:xfrm>
          <a:prstGeom prst="roundRect">
            <a:avLst/>
          </a:prstGeom>
          <a:solidFill>
            <a:srgbClr val="07549A"/>
          </a:solidFill>
          <a:ln w="12700">
            <a:solidFill>
              <a:srgbClr val="07549A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1 事件核验</a:t>
            </a:r>
            <a:endParaRPr lang="zh-CN" b="1">
              <a:solidFill>
                <a:srgbClr val="FFFFFF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55" name="新增形状 55"/>
          <p:cNvSpPr/>
          <p:nvPr/>
        </p:nvSpPr>
        <p:spPr>
          <a:xfrm>
            <a:off x="2171700" y="4962525"/>
            <a:ext cx="266700" cy="304800"/>
          </a:xfrm>
          <a:prstGeom prst="chevron">
            <a:avLst/>
          </a:prstGeom>
          <a:solidFill>
            <a:srgbClr val="F5B800"/>
          </a:solidFill>
          <a:ln w="0">
            <a:solidFill>
              <a:srgbClr val="F5B800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400">
              <a:solidFill>
                <a:srgbClr val="F5B800"/>
              </a:solidFill>
            </a:endParaRPr>
          </a:p>
        </p:txBody>
      </p:sp>
      <p:sp>
        <p:nvSpPr>
          <p:cNvPr id="56" name="新增形状 56"/>
          <p:cNvSpPr/>
          <p:nvPr/>
        </p:nvSpPr>
        <p:spPr>
          <a:xfrm>
            <a:off x="2524125" y="4810125"/>
            <a:ext cx="1428750" cy="609600"/>
          </a:xfrm>
          <a:prstGeom prst="roundRect">
            <a:avLst/>
          </a:prstGeom>
          <a:solidFill>
            <a:srgbClr val="6D7782"/>
          </a:solidFill>
          <a:ln w="12700">
            <a:solidFill>
              <a:srgbClr val="6D7782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2 正常收益</a:t>
            </a:r>
            <a:endParaRPr lang="zh-CN" b="1">
              <a:solidFill>
                <a:srgbClr val="FFFFFF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57" name="新增形状 57"/>
          <p:cNvSpPr/>
          <p:nvPr/>
        </p:nvSpPr>
        <p:spPr>
          <a:xfrm>
            <a:off x="4029075" y="4962525"/>
            <a:ext cx="266700" cy="304800"/>
          </a:xfrm>
          <a:prstGeom prst="chevron">
            <a:avLst/>
          </a:prstGeom>
          <a:solidFill>
            <a:srgbClr val="F5B800"/>
          </a:solidFill>
          <a:ln w="0">
            <a:solidFill>
              <a:srgbClr val="F5B800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400">
              <a:solidFill>
                <a:srgbClr val="F5B800"/>
              </a:solidFill>
            </a:endParaRPr>
          </a:p>
        </p:txBody>
      </p:sp>
      <p:sp>
        <p:nvSpPr>
          <p:cNvPr id="58" name="新增形状 58"/>
          <p:cNvSpPr/>
          <p:nvPr/>
        </p:nvSpPr>
        <p:spPr>
          <a:xfrm>
            <a:off x="4381500" y="4810125"/>
            <a:ext cx="1428750" cy="609600"/>
          </a:xfrm>
          <a:prstGeom prst="roundRect">
            <a:avLst/>
          </a:prstGeom>
          <a:solidFill>
            <a:srgbClr val="07549A"/>
          </a:solidFill>
          <a:ln w="12700">
            <a:solidFill>
              <a:srgbClr val="07549A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3 AR / CAR</a:t>
            </a:r>
            <a:endParaRPr lang="zh-CN" b="1">
              <a:solidFill>
                <a:srgbClr val="FFFFFF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59" name="新增形状 59"/>
          <p:cNvSpPr/>
          <p:nvPr/>
        </p:nvSpPr>
        <p:spPr>
          <a:xfrm>
            <a:off x="5886450" y="4962525"/>
            <a:ext cx="266700" cy="304800"/>
          </a:xfrm>
          <a:prstGeom prst="chevron">
            <a:avLst/>
          </a:prstGeom>
          <a:solidFill>
            <a:srgbClr val="F5B800"/>
          </a:solidFill>
          <a:ln w="0">
            <a:solidFill>
              <a:srgbClr val="F5B800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400">
              <a:solidFill>
                <a:srgbClr val="F5B800"/>
              </a:solidFill>
            </a:endParaRPr>
          </a:p>
        </p:txBody>
      </p:sp>
      <p:sp>
        <p:nvSpPr>
          <p:cNvPr id="60" name="新增形状 60"/>
          <p:cNvSpPr/>
          <p:nvPr/>
        </p:nvSpPr>
        <p:spPr>
          <a:xfrm>
            <a:off x="6238875" y="4810125"/>
            <a:ext cx="1428750" cy="609600"/>
          </a:xfrm>
          <a:prstGeom prst="roundRect">
            <a:avLst/>
          </a:prstGeom>
          <a:solidFill>
            <a:srgbClr val="6D7782"/>
          </a:solidFill>
          <a:ln w="12700">
            <a:solidFill>
              <a:srgbClr val="6D7782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4 显著性</a:t>
            </a:r>
            <a:endParaRPr lang="zh-CN" b="1">
              <a:solidFill>
                <a:srgbClr val="FFFFFF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61" name="新增形状 61"/>
          <p:cNvSpPr/>
          <p:nvPr/>
        </p:nvSpPr>
        <p:spPr>
          <a:xfrm>
            <a:off x="7743825" y="4962525"/>
            <a:ext cx="266700" cy="304800"/>
          </a:xfrm>
          <a:prstGeom prst="chevron">
            <a:avLst/>
          </a:prstGeom>
          <a:solidFill>
            <a:srgbClr val="F5B800"/>
          </a:solidFill>
          <a:ln w="0">
            <a:solidFill>
              <a:srgbClr val="F5B800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400">
              <a:solidFill>
                <a:srgbClr val="F5B800"/>
              </a:solidFill>
            </a:endParaRPr>
          </a:p>
        </p:txBody>
      </p:sp>
      <p:sp>
        <p:nvSpPr>
          <p:cNvPr id="62" name="新增形状 62"/>
          <p:cNvSpPr/>
          <p:nvPr/>
        </p:nvSpPr>
        <p:spPr>
          <a:xfrm>
            <a:off x="8096250" y="4810125"/>
            <a:ext cx="1428750" cy="609600"/>
          </a:xfrm>
          <a:prstGeom prst="roundRect">
            <a:avLst/>
          </a:prstGeom>
          <a:solidFill>
            <a:srgbClr val="07549A"/>
          </a:solidFill>
          <a:ln w="12700">
            <a:solidFill>
              <a:srgbClr val="07549A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5 ITS 分离</a:t>
            </a:r>
            <a:endParaRPr lang="zh-CN" b="1">
              <a:solidFill>
                <a:srgbClr val="FFFFFF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63" name="新增形状 63"/>
          <p:cNvSpPr/>
          <p:nvPr/>
        </p:nvSpPr>
        <p:spPr>
          <a:xfrm>
            <a:off x="9601200" y="4962525"/>
            <a:ext cx="266700" cy="304800"/>
          </a:xfrm>
          <a:prstGeom prst="chevron">
            <a:avLst/>
          </a:prstGeom>
          <a:solidFill>
            <a:srgbClr val="F5B800"/>
          </a:solidFill>
          <a:ln w="0">
            <a:solidFill>
              <a:srgbClr val="F5B800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endParaRPr lang="zh-CN" sz="1400">
              <a:solidFill>
                <a:srgbClr val="F5B800"/>
              </a:solidFill>
            </a:endParaRPr>
          </a:p>
        </p:txBody>
      </p:sp>
      <p:sp>
        <p:nvSpPr>
          <p:cNvPr id="64" name="新增形状 64"/>
          <p:cNvSpPr/>
          <p:nvPr/>
        </p:nvSpPr>
        <p:spPr>
          <a:xfrm>
            <a:off x="9953625" y="4810125"/>
            <a:ext cx="1428750" cy="609600"/>
          </a:xfrm>
          <a:prstGeom prst="roundRect">
            <a:avLst/>
          </a:prstGeom>
          <a:solidFill>
            <a:srgbClr val="6D7782"/>
          </a:solidFill>
          <a:ln w="12700">
            <a:solidFill>
              <a:srgbClr val="6D7782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6 诊断断点</a:t>
            </a:r>
            <a:endParaRPr lang="zh-CN" b="1">
              <a:solidFill>
                <a:srgbClr val="FFFFFF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6096000" y="944801"/>
            <a:ext cx="6049548" cy="6049548"/>
          </a:xfrm>
          <a:prstGeom prst="rect">
            <a:avLst/>
          </a:prstGeom>
        </p:spPr>
      </p:pic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事件研究法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4" name="平行四边形 13"/>
          <p:cNvSpPr/>
          <p:nvPr/>
        </p:nvSpPr>
        <p:spPr>
          <a:xfrm>
            <a:off x="976344" y="1853457"/>
            <a:ext cx="3607243" cy="3559803"/>
          </a:xfrm>
          <a:prstGeom prst="parallelogram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5" name="平行四边形 14"/>
          <p:cNvSpPr/>
          <p:nvPr/>
        </p:nvSpPr>
        <p:spPr>
          <a:xfrm>
            <a:off x="788295" y="1688021"/>
            <a:ext cx="3607243" cy="3559803"/>
          </a:xfrm>
          <a:prstGeom prst="parallelogram">
            <a:avLst/>
          </a:prstGeom>
          <a:solidFill>
            <a:srgbClr val="0242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6" name="文本框 13"/>
          <p:cNvSpPr txBox="1"/>
          <p:nvPr/>
        </p:nvSpPr>
        <p:spPr>
          <a:xfrm>
            <a:off x="1991544" y="1915523"/>
            <a:ext cx="1888594" cy="523220"/>
          </a:xfrm>
          <a:prstGeom prst="rect">
            <a:avLst/>
          </a:prstGeom>
          <a:noFill/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200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市场模型</a:t>
            </a:r>
            <a:endParaRPr lang="zh-CN" sz="2200">
              <a:solidFill>
                <a:srgbClr val="FFFFFF"/>
              </a:solidFill>
            </a:endParaRPr>
          </a:p>
        </p:txBody>
      </p:sp>
      <p:sp>
        <p:nvSpPr>
          <p:cNvPr id="18" name="平行四边形 17"/>
          <p:cNvSpPr/>
          <p:nvPr/>
        </p:nvSpPr>
        <p:spPr>
          <a:xfrm>
            <a:off x="4373271" y="1853457"/>
            <a:ext cx="3607243" cy="3559803"/>
          </a:xfrm>
          <a:prstGeom prst="parallelogram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19" name="平行四边形 18"/>
          <p:cNvSpPr/>
          <p:nvPr/>
        </p:nvSpPr>
        <p:spPr>
          <a:xfrm>
            <a:off x="4185222" y="1688021"/>
            <a:ext cx="3607243" cy="3559803"/>
          </a:xfrm>
          <a:prstGeom prst="parallelogram">
            <a:avLst/>
          </a:prstGeom>
          <a:solidFill>
            <a:srgbClr val="0242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0" name="文本框 13"/>
          <p:cNvSpPr txBox="1"/>
          <p:nvPr/>
        </p:nvSpPr>
        <p:spPr>
          <a:xfrm>
            <a:off x="5388470" y="1915523"/>
            <a:ext cx="2025355" cy="523220"/>
          </a:xfrm>
          <a:prstGeom prst="rect">
            <a:avLst/>
          </a:prstGeom>
          <a:noFill/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200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AR 与 CAR</a:t>
            </a:r>
            <a:endParaRPr lang="zh-CN" sz="2200">
              <a:solidFill>
                <a:srgbClr val="FFFFFF"/>
              </a:solidFill>
            </a:endParaRPr>
          </a:p>
        </p:txBody>
      </p:sp>
      <p:sp>
        <p:nvSpPr>
          <p:cNvPr id="21" name="平行四边形 20"/>
          <p:cNvSpPr/>
          <p:nvPr/>
        </p:nvSpPr>
        <p:spPr>
          <a:xfrm>
            <a:off x="7770197" y="1853457"/>
            <a:ext cx="3607243" cy="3559803"/>
          </a:xfrm>
          <a:prstGeom prst="parallelogram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2" name="平行四边形 21"/>
          <p:cNvSpPr/>
          <p:nvPr/>
        </p:nvSpPr>
        <p:spPr>
          <a:xfrm>
            <a:off x="7582148" y="1688021"/>
            <a:ext cx="3607243" cy="3559803"/>
          </a:xfrm>
          <a:prstGeom prst="parallelogram">
            <a:avLst/>
          </a:prstGeom>
          <a:solidFill>
            <a:srgbClr val="024282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1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ndara" panose="020E0502030303020204"/>
              <a:ea typeface="华文楷体" panose="02010600040101010101" pitchFamily="2" charset="-122"/>
              <a:cs typeface="+mn-cs"/>
            </a:endParaRPr>
          </a:p>
        </p:txBody>
      </p:sp>
      <p:sp>
        <p:nvSpPr>
          <p:cNvPr id="23" name="文本框 14"/>
          <p:cNvSpPr txBox="1"/>
          <p:nvPr/>
        </p:nvSpPr>
        <p:spPr>
          <a:xfrm>
            <a:off x="8387411" y="2473791"/>
            <a:ext cx="2038989" cy="2377126"/>
          </a:xfrm>
          <a:prstGeom prst="rect">
            <a:avLst/>
          </a:prstGeom>
          <a:noFill/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1550" b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t = CAR / (σ̂AR √L)</a:t>
            </a:r>
            <a:endParaRPr lang="zh-CN" sz="1550">
              <a:solidFill>
                <a:srgbClr val="FFFFFF"/>
              </a:solidFill>
            </a:endParaRPr>
          </a:p>
          <a:p>
            <a:pPr marL="0" indent="0" algn="l" fontAlgn="base"/>
            <a:r>
              <a:rPr lang="zh-CN" sz="1550" b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L：事件窗口交易日数</a:t>
            </a:r>
            <a:endParaRPr lang="zh-CN" sz="1550">
              <a:solidFill>
                <a:srgbClr val="FFFFFF"/>
              </a:solidFill>
            </a:endParaRPr>
          </a:p>
          <a:p>
            <a:pPr marL="0" indent="0" algn="l" fontAlgn="base"/>
            <a:r>
              <a:rPr lang="zh-CN" sz="1550" b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窗口：[-1,+1]、[0,+3]、[0,+5]</a:t>
            </a:r>
            <a:endParaRPr lang="zh-CN" sz="1550">
              <a:solidFill>
                <a:srgbClr val="FFFFFF"/>
              </a:solidFill>
            </a:endParaRPr>
          </a:p>
          <a:p>
            <a:pPr marL="0" indent="0" algn="l" fontAlgn="base"/>
            <a:r>
              <a:rPr lang="zh-CN" sz="1550" b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补充 BH-FDR 与 Bonferroni</a:t>
            </a:r>
            <a:endParaRPr lang="zh-CN" sz="1550">
              <a:solidFill>
                <a:srgbClr val="FFFFFF"/>
              </a:solidFill>
            </a:endParaRPr>
          </a:p>
        </p:txBody>
      </p:sp>
      <p:sp>
        <p:nvSpPr>
          <p:cNvPr id="24" name="文本框 13"/>
          <p:cNvSpPr txBox="1"/>
          <p:nvPr/>
        </p:nvSpPr>
        <p:spPr>
          <a:xfrm>
            <a:off x="8785397" y="1915523"/>
            <a:ext cx="1852521" cy="523220"/>
          </a:xfrm>
          <a:prstGeom prst="rect">
            <a:avLst/>
          </a:prstGeom>
          <a:noFill/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200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显著性</a:t>
            </a:r>
            <a:endParaRPr lang="zh-CN" sz="2200">
              <a:solidFill>
                <a:srgbClr val="FFFFFF"/>
              </a:solidFill>
            </a:endParaRPr>
          </a:p>
        </p:txBody>
      </p:sp>
      <p:sp>
        <p:nvSpPr>
          <p:cNvPr id="25" name="文本框 14"/>
          <p:cNvSpPr txBox="1"/>
          <p:nvPr/>
        </p:nvSpPr>
        <p:spPr>
          <a:xfrm>
            <a:off x="4940882" y="2473791"/>
            <a:ext cx="2024431" cy="2377126"/>
          </a:xfrm>
          <a:prstGeom prst="rect">
            <a:avLst/>
          </a:prstGeom>
          <a:noFill/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1550" b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ARᵢ,ₜ = Rᵢ,ₜ − Ê(Rᵢ,ₜ)</a:t>
            </a:r>
            <a:endParaRPr lang="zh-CN" sz="1550">
              <a:solidFill>
                <a:srgbClr val="FFFFFF"/>
              </a:solidFill>
            </a:endParaRPr>
          </a:p>
          <a:p>
            <a:pPr marL="0" indent="0" algn="l" fontAlgn="base"/>
            <a:r>
              <a:rPr lang="zh-CN" sz="1550" b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CAR(τ₁,τ₂) = Σ ARᵢ,ₜ</a:t>
            </a:r>
            <a:endParaRPr lang="zh-CN" sz="1550">
              <a:solidFill>
                <a:srgbClr val="FFFFFF"/>
              </a:solidFill>
            </a:endParaRPr>
          </a:p>
          <a:p>
            <a:pPr marL="0" indent="0" algn="l" fontAlgn="base"/>
            <a:r>
              <a:rPr lang="zh-CN" sz="1550" b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作用：累积事件窗口内的异常反应</a:t>
            </a:r>
            <a:endParaRPr lang="zh-CN" sz="1550">
              <a:solidFill>
                <a:srgbClr val="FFFFFF"/>
              </a:solidFill>
            </a:endParaRPr>
          </a:p>
        </p:txBody>
      </p:sp>
      <p:sp>
        <p:nvSpPr>
          <p:cNvPr id="26" name="文本框 14"/>
          <p:cNvSpPr txBox="1"/>
          <p:nvPr/>
        </p:nvSpPr>
        <p:spPr>
          <a:xfrm>
            <a:off x="1524674" y="2473791"/>
            <a:ext cx="2148502" cy="2377126"/>
          </a:xfrm>
          <a:prstGeom prst="rect">
            <a:avLst/>
          </a:prstGeom>
          <a:noFill/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1550" b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Rᵢ,ₜ = αᵢ + βᵢRₘ,ₜ + εᵢ,ₜ</a:t>
            </a:r>
            <a:endParaRPr lang="zh-CN" sz="1550">
              <a:solidFill>
                <a:srgbClr val="FFFFFF"/>
              </a:solidFill>
            </a:endParaRPr>
          </a:p>
          <a:p>
            <a:pPr marL="0" indent="0" algn="l" fontAlgn="base"/>
            <a:r>
              <a:rPr lang="zh-CN" sz="1550" b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估计窗口：[-120,-21]</a:t>
            </a:r>
            <a:endParaRPr lang="zh-CN" sz="1550">
              <a:solidFill>
                <a:srgbClr val="FFFFFF"/>
              </a:solidFill>
            </a:endParaRPr>
          </a:p>
          <a:p>
            <a:pPr marL="0" indent="0" algn="l" fontAlgn="base"/>
            <a:r>
              <a:rPr lang="zh-CN" sz="1550" b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作用：预测无事件时的正常收益</a:t>
            </a:r>
            <a:endParaRPr lang="zh-CN" sz="1550">
              <a:solidFill>
                <a:srgbClr val="FFFFFF"/>
              </a:solidFill>
            </a:endParaRPr>
          </a:p>
        </p:txBody>
      </p:sp>
      <p:sp>
        <p:nvSpPr>
          <p:cNvPr id="53" name="新增形状 53"/>
          <p:cNvSpPr/>
          <p:nvPr/>
        </p:nvSpPr>
        <p:spPr>
          <a:xfrm>
            <a:off x="712470" y="885190"/>
            <a:ext cx="10928985" cy="629920"/>
          </a:xfrm>
          <a:prstGeom prst="roundRect">
            <a:avLst/>
          </a:prstGeom>
          <a:solidFill>
            <a:srgbClr val="E8F1F9"/>
          </a:solidFill>
          <a:ln w="0">
            <a:solidFill>
              <a:srgbClr val="E8F1F9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000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事件研究法以事件日为中心，先估计“无事件情形”的正常收益，再检验实际收益偏离是否显著。</a:t>
            </a:r>
            <a:endParaRPr lang="zh-CN" sz="2000" b="0">
              <a:solidFill>
                <a:srgbClr val="063F75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54" name="新增形状 54"/>
          <p:cNvSpPr/>
          <p:nvPr/>
        </p:nvSpPr>
        <p:spPr>
          <a:xfrm>
            <a:off x="624205" y="5521960"/>
            <a:ext cx="10657205" cy="1041400"/>
          </a:xfrm>
          <a:prstGeom prst="roundRect">
            <a:avLst/>
          </a:prstGeom>
          <a:solidFill>
            <a:srgbClr val="F3F7FC"/>
          </a:solidFill>
          <a:ln w="12700">
            <a:solidFill>
              <a:srgbClr val="9AB9D3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1600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变量对应：Rᵢ,ₜ=目标油价收益率；Rₘ,ₜ=市场因子收益率；αᵢ=平均水平；βᵢ=联动敏感度；εᵢ,ₜ=随机扰动；L=窗口长度。</a:t>
            </a:r>
            <a:endParaRPr lang="zh-CN" sz="1600">
              <a:solidFill>
                <a:srgbClr val="063F75"/>
              </a:solidFill>
            </a:endParaRPr>
          </a:p>
          <a:p>
            <a:pPr marL="0" indent="0" algn="l" fontAlgn="base"/>
            <a:r>
              <a:rPr lang="zh-CN" sz="1600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本研究中 WTI 与 Brent 互为市场因子，因此 CAR 表示相对异常反应。</a:t>
            </a:r>
            <a:endParaRPr lang="zh-CN" sz="1600" b="0">
              <a:solidFill>
                <a:srgbClr val="063F75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ITS 与诊断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359521" y="1196752"/>
            <a:ext cx="11472958" cy="4701822"/>
          </a:xfrm>
          <a:prstGeom prst="rect">
            <a:avLst/>
          </a:prstGeom>
          <a:solidFill>
            <a:srgbClr val="36254B">
              <a:alpha val="10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grpSp>
        <p:nvGrpSpPr>
          <p:cNvPr id="14" name="组合 13"/>
          <p:cNvGrpSpPr/>
          <p:nvPr/>
        </p:nvGrpSpPr>
        <p:grpSpPr>
          <a:xfrm>
            <a:off x="766372" y="1299951"/>
            <a:ext cx="2498725" cy="983615"/>
            <a:chOff x="827467" y="2958471"/>
            <a:chExt cx="1915524" cy="754040"/>
          </a:xfrm>
          <a:solidFill>
            <a:srgbClr val="0675A0"/>
          </a:solidFill>
        </p:grpSpPr>
        <p:sp>
          <p:nvSpPr>
            <p:cNvPr id="15" name="矩形 14"/>
            <p:cNvSpPr/>
            <p:nvPr/>
          </p:nvSpPr>
          <p:spPr>
            <a:xfrm>
              <a:off x="827467" y="2958471"/>
              <a:ext cx="1915524" cy="754040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16" name="文本框 4"/>
            <p:cNvSpPr txBox="1"/>
            <p:nvPr/>
          </p:nvSpPr>
          <p:spPr>
            <a:xfrm>
              <a:off x="924825" y="3115218"/>
              <a:ext cx="1781656" cy="452229"/>
            </a:xfrm>
            <a:prstGeom prst="rect">
              <a:avLst/>
            </a:prstGeom>
            <a:noFill/>
          </p:spPr>
          <p:txBody>
            <a:bodyPr wrap="square" lIns="76200" tIns="45720" rIns="76200" bIns="45720" anchor="ctr"/>
            <a:lstStyle/>
            <a:p>
              <a:pPr marL="0" indent="0" algn="l" fontAlgn="base"/>
              <a:r>
                <a:rPr lang="zh-CN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ITS：</a:t>
              </a:r>
              <a:r>
                <a:rPr lang="zh-CN" altLang="en-US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中断时间序列分析</a:t>
              </a:r>
              <a:endParaRPr lang="zh-CN" altLang="en-US" sz="2000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18" name="组合 17"/>
          <p:cNvGrpSpPr/>
          <p:nvPr/>
        </p:nvGrpSpPr>
        <p:grpSpPr>
          <a:xfrm>
            <a:off x="3486150" y="1299845"/>
            <a:ext cx="2578100" cy="983615"/>
            <a:chOff x="3970073" y="2147212"/>
            <a:chExt cx="1976446" cy="597408"/>
          </a:xfrm>
        </p:grpSpPr>
        <p:sp>
          <p:nvSpPr>
            <p:cNvPr id="19" name="矩形 18"/>
            <p:cNvSpPr/>
            <p:nvPr/>
          </p:nvSpPr>
          <p:spPr>
            <a:xfrm>
              <a:off x="3970073" y="2147212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0" name="文本框 19"/>
            <p:cNvSpPr txBox="1"/>
            <p:nvPr/>
          </p:nvSpPr>
          <p:spPr>
            <a:xfrm>
              <a:off x="3970073" y="2228975"/>
              <a:ext cx="1976446" cy="400715"/>
            </a:xfrm>
            <a:prstGeom prst="rect">
              <a:avLst/>
            </a:prstGeom>
            <a:noFill/>
          </p:spPr>
          <p:txBody>
            <a:bodyPr wrap="square" lIns="76200" tIns="45720" rIns="76200" bIns="45720" anchor="ctr"/>
            <a:lstStyle/>
            <a:p>
              <a:pPr marL="0" algn="l" fontAlgn="base">
                <a:buClrTx/>
                <a:buSzTx/>
                <a:buFontTx/>
              </a:pPr>
              <a:r>
                <a:rPr lang="zh-CN" altLang="en-US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Durbin–Watson检验</a:t>
              </a:r>
              <a:endParaRPr lang="zh-CN" altLang="en-US" sz="2000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6205855" y="1299845"/>
            <a:ext cx="2498725" cy="983615"/>
            <a:chOff x="5534462" y="3115218"/>
            <a:chExt cx="1915595" cy="597408"/>
          </a:xfrm>
          <a:solidFill>
            <a:srgbClr val="C00000"/>
          </a:solidFill>
        </p:grpSpPr>
        <p:sp>
          <p:nvSpPr>
            <p:cNvPr id="22" name="矩形 21"/>
            <p:cNvSpPr/>
            <p:nvPr/>
          </p:nvSpPr>
          <p:spPr>
            <a:xfrm>
              <a:off x="5534462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3" name="文本框 21"/>
            <p:cNvSpPr txBox="1"/>
            <p:nvPr/>
          </p:nvSpPr>
          <p:spPr>
            <a:xfrm>
              <a:off x="5697543" y="3239405"/>
              <a:ext cx="1578723" cy="306610"/>
            </a:xfrm>
            <a:prstGeom prst="rect">
              <a:avLst/>
            </a:prstGeom>
            <a:noFill/>
          </p:spPr>
          <p:txBody>
            <a:bodyPr wrap="square" lIns="76200" tIns="45720" rIns="76200" bIns="45720" anchor="ctr"/>
            <a:lstStyle/>
            <a:p>
              <a:pPr marL="0" algn="l" fontAlgn="base">
                <a:buClrTx/>
                <a:buSzTx/>
                <a:buFontTx/>
              </a:pPr>
              <a:r>
                <a:rPr lang="zh-CN" altLang="en-US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Breusch–Pagan检验</a:t>
              </a:r>
              <a:endParaRPr lang="zh-CN" altLang="en-US" sz="2000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pSp>
        <p:nvGrpSpPr>
          <p:cNvPr id="24" name="组合 23"/>
          <p:cNvGrpSpPr/>
          <p:nvPr/>
        </p:nvGrpSpPr>
        <p:grpSpPr>
          <a:xfrm>
            <a:off x="8925560" y="1299845"/>
            <a:ext cx="2498725" cy="983615"/>
            <a:chOff x="8270100" y="3115218"/>
            <a:chExt cx="1915595" cy="597408"/>
          </a:xfrm>
          <a:solidFill>
            <a:srgbClr val="C00000"/>
          </a:solidFill>
        </p:grpSpPr>
        <p:sp>
          <p:nvSpPr>
            <p:cNvPr id="25" name="矩形 24"/>
            <p:cNvSpPr/>
            <p:nvPr/>
          </p:nvSpPr>
          <p:spPr>
            <a:xfrm>
              <a:off x="8270100" y="3115218"/>
              <a:ext cx="1915595" cy="597408"/>
            </a:xfrm>
            <a:prstGeom prst="rect">
              <a:avLst/>
            </a:prstGeom>
            <a:solidFill>
              <a:srgbClr val="024282"/>
            </a:solidFill>
            <a:ln w="12700" cap="flat" cmpd="sng" algn="ctr">
              <a:noFill/>
              <a:prstDash val="solid"/>
              <a:miter lim="800000"/>
            </a:ln>
            <a:effectLst/>
          </p:spPr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noAutofit/>
            </a:bodyPr>
            <a:lstStyle/>
            <a:p>
              <a:pPr algn="ctr">
                <a:defRPr/>
              </a:pPr>
              <a:endParaRPr lang="zh-CN" altLang="en-US" kern="0">
                <a:solidFill>
                  <a:srgbClr val="FFFFFF"/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  <p:sp>
          <p:nvSpPr>
            <p:cNvPr id="26" name="文本框 22"/>
            <p:cNvSpPr txBox="1"/>
            <p:nvPr/>
          </p:nvSpPr>
          <p:spPr>
            <a:xfrm>
              <a:off x="8382066" y="3260617"/>
              <a:ext cx="1734989" cy="306610"/>
            </a:xfrm>
            <a:prstGeom prst="rect">
              <a:avLst/>
            </a:prstGeom>
            <a:noFill/>
          </p:spPr>
          <p:txBody>
            <a:bodyPr wrap="square" lIns="76200" tIns="45720" rIns="76200" bIns="45720" anchor="ctr"/>
            <a:lstStyle/>
            <a:p>
              <a:pPr marL="0" algn="l" fontAlgn="base">
                <a:buClrTx/>
                <a:buSzTx/>
                <a:buFontTx/>
              </a:pPr>
              <a:r>
                <a:rPr lang="zh-CN" altLang="en-US" sz="2000" b="1">
                  <a:solidFill>
                    <a:srgbClr val="FFFFFF"/>
                  </a:solidFill>
                  <a:latin typeface="Aptos"/>
                  <a:ea typeface="微软雅黑" panose="020B0503020204020204" pitchFamily="34" charset="-122"/>
                  <a:cs typeface="Aptos"/>
                </a:rPr>
                <a:t>Newey–West修正</a:t>
              </a:r>
              <a:endParaRPr lang="zh-CN" altLang="en-US" sz="2000" b="1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27" name="矩形 26"/>
          <p:cNvSpPr/>
          <p:nvPr/>
        </p:nvSpPr>
        <p:spPr>
          <a:xfrm>
            <a:off x="785286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3466126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6221137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8938947" y="2464138"/>
            <a:ext cx="2498818" cy="3091536"/>
          </a:xfrm>
          <a:prstGeom prst="rect">
            <a:avLst/>
          </a:prstGeom>
          <a:noFill/>
          <a:ln w="12700" cap="flat" cmpd="sng" algn="ctr">
            <a:solidFill>
              <a:srgbClr val="024282"/>
            </a:solidFill>
            <a:prstDash val="solid"/>
            <a:miter lim="800000"/>
          </a:ln>
          <a:effectLst/>
        </p:spPr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noAutofit/>
          </a:bodyPr>
          <a:lstStyle/>
          <a:p>
            <a:pPr algn="ctr">
              <a:defRPr/>
            </a:pPr>
            <a:endParaRPr lang="zh-CN" altLang="en-US" kern="0">
              <a:solidFill>
                <a:srgbClr val="FFFFFF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1" name="文本框 24"/>
          <p:cNvSpPr txBox="1"/>
          <p:nvPr/>
        </p:nvSpPr>
        <p:spPr>
          <a:xfrm>
            <a:off x="857250" y="2498725"/>
            <a:ext cx="2347595" cy="3003550"/>
          </a:xfrm>
          <a:prstGeom prst="rect">
            <a:avLst/>
          </a:prstGeom>
          <a:noFill/>
        </p:spPr>
        <p:txBody>
          <a:bodyPr wrap="square" lIns="76200" tIns="45720" rIns="76200" bIns="45720" anchor="t"/>
          <a:lstStyle/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回答：事件是否改变收益率路径？</a:t>
            </a:r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rₜ = β₀ + β₁timeₜ + β₂postₜ</a:t>
            </a:r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    + β₃time_afterₜ + εₜ</a:t>
            </a:r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β₂：即时水平冲击</a:t>
            </a:r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β₃：事件后的趋势变化</a:t>
            </a:r>
            <a:endParaRPr lang="zh-CN" b="0">
              <a:solidFill>
                <a:srgbClr val="063F75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2" name="文本框 24"/>
          <p:cNvSpPr txBox="1"/>
          <p:nvPr/>
        </p:nvSpPr>
        <p:spPr>
          <a:xfrm>
            <a:off x="3471730" y="2498708"/>
            <a:ext cx="2354694" cy="3003515"/>
          </a:xfrm>
          <a:prstGeom prst="rect">
            <a:avLst/>
          </a:prstGeom>
          <a:noFill/>
        </p:spPr>
        <p:txBody>
          <a:bodyPr wrap="square" lIns="76200" tIns="45720" rIns="76200" bIns="45720" anchor="t"/>
          <a:lstStyle/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检查：残差是否存在一阶自相关</a:t>
            </a:r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DW ≈ 2：相关性较弱</a:t>
            </a:r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明显偏离 2：OLS 标准误可能失真</a:t>
            </a:r>
            <a:endParaRPr lang="zh-CN" b="0">
              <a:solidFill>
                <a:srgbClr val="063F75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3" name="文本框 24"/>
          <p:cNvSpPr txBox="1"/>
          <p:nvPr/>
        </p:nvSpPr>
        <p:spPr>
          <a:xfrm>
            <a:off x="6226740" y="2498708"/>
            <a:ext cx="2354695" cy="3003515"/>
          </a:xfrm>
          <a:prstGeom prst="rect">
            <a:avLst/>
          </a:prstGeom>
          <a:noFill/>
        </p:spPr>
        <p:txBody>
          <a:bodyPr wrap="square" lIns="76200" tIns="45720" rIns="76200" bIns="45720" anchor="t"/>
          <a:lstStyle/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检查：残差方差是否恒定</a:t>
            </a:r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p &lt; 0.05：存在异方差</a:t>
            </a:r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需要使用稳健标准误进行推断</a:t>
            </a:r>
            <a:endParaRPr lang="zh-CN" b="0">
              <a:solidFill>
                <a:srgbClr val="063F75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4" name="文本框 24"/>
          <p:cNvSpPr txBox="1"/>
          <p:nvPr/>
        </p:nvSpPr>
        <p:spPr>
          <a:xfrm>
            <a:off x="8931437" y="2498708"/>
            <a:ext cx="2403449" cy="3003515"/>
          </a:xfrm>
          <a:prstGeom prst="rect">
            <a:avLst/>
          </a:prstGeom>
          <a:noFill/>
        </p:spPr>
        <p:txBody>
          <a:bodyPr wrap="square" lIns="76200" tIns="45720" rIns="76200" bIns="45720" anchor="t"/>
          <a:lstStyle/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修正：同时容许异方差与自相关</a:t>
            </a:r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断点：RSS/BIC 搜索结构变化</a:t>
            </a:r>
            <a:endParaRPr lang="zh-CN">
              <a:solidFill>
                <a:srgbClr val="063F75"/>
              </a:solidFill>
            </a:endParaRPr>
          </a:p>
          <a:p>
            <a:pPr marL="0" indent="0" algn="l" fontAlgn="base"/>
            <a:r>
              <a:rPr lang="zh-CN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验证：统计断点是否靠近事件日</a:t>
            </a:r>
            <a:endParaRPr lang="zh-CN" b="0">
              <a:solidFill>
                <a:srgbClr val="063F75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53" name="新增形状 53"/>
          <p:cNvSpPr/>
          <p:nvPr/>
        </p:nvSpPr>
        <p:spPr>
          <a:xfrm>
            <a:off x="-635" y="6223000"/>
            <a:ext cx="12192635" cy="634365"/>
          </a:xfrm>
          <a:prstGeom prst="rect">
            <a:avLst/>
          </a:prstGeom>
          <a:solidFill>
            <a:srgbClr val="E8F1F9"/>
          </a:solidFill>
          <a:ln w="0">
            <a:solidFill>
              <a:srgbClr val="E8F1F9"/>
            </a:solidFill>
          </a:ln>
        </p:spPr>
        <p:txBody>
          <a:bodyPr wrap="square" lIns="76200" tIns="45720" rIns="76200" bIns="45720" anchor="ctr"/>
          <a:lstStyle/>
          <a:p>
            <a:pPr marL="0" indent="0" algn="ctr" fontAlgn="base"/>
            <a:r>
              <a:rPr lang="zh-CN" sz="20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ITS 负责估计冲击如何改变收益率路径；DW、BP 与 Newey-West 用于判断推断是否可靠。</a:t>
            </a:r>
            <a:endParaRPr lang="zh-CN" sz="2000" b="1">
              <a:solidFill>
                <a:srgbClr val="063F75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" name="图片 2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717529" y="140750"/>
            <a:ext cx="7019929" cy="7019929"/>
          </a:xfrm>
          <a:prstGeom prst="rect">
            <a:avLst/>
          </a:prstGeom>
        </p:spPr>
      </p:pic>
      <p:sp>
        <p:nvSpPr>
          <p:cNvPr id="2" name="文本占位符 3"/>
          <p:cNvSpPr txBox="1"/>
          <p:nvPr/>
        </p:nvSpPr>
        <p:spPr>
          <a:xfrm>
            <a:off x="6436079" y="779207"/>
            <a:ext cx="4256684" cy="1612900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6000" b="1" kern="1200"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19900" b="1" i="0" u="none" strike="noStrike" kern="1200" cap="none" spc="0" normalizeH="0" baseline="0" noProof="0" dirty="0">
                <a:ln>
                  <a:noFill/>
                </a:ln>
                <a:gradFill>
                  <a:gsLst>
                    <a:gs pos="36000">
                      <a:srgbClr val="024282"/>
                    </a:gs>
                    <a:gs pos="100000">
                      <a:srgbClr val="2764A7">
                        <a:lumMod val="15000"/>
                        <a:lumOff val="85000"/>
                        <a:alpha val="27000"/>
                      </a:srgbClr>
                    </a:gs>
                  </a:gsLst>
                  <a:lin ang="5400000" scaled="0"/>
                </a:gradFill>
                <a:effectLst/>
                <a:uLnTx/>
                <a:uFillTx/>
                <a:latin typeface="Arial Black" panose="020B0A04020102020204" pitchFamily="34" charset="0"/>
                <a:ea typeface="微软雅黑" panose="020B0503020204020204" pitchFamily="34" charset="-122"/>
                <a:cs typeface="+mn-cs"/>
              </a:rPr>
              <a:t>03</a:t>
            </a:r>
            <a:endParaRPr kumimoji="0" lang="zh-CN" altLang="en-US" sz="19900" b="1" i="0" u="none" strike="noStrike" kern="1200" cap="none" spc="0" normalizeH="0" baseline="0" noProof="0" dirty="0">
              <a:ln>
                <a:noFill/>
              </a:ln>
              <a:gradFill>
                <a:gsLst>
                  <a:gs pos="36000">
                    <a:srgbClr val="024282"/>
                  </a:gs>
                  <a:gs pos="100000">
                    <a:srgbClr val="2764A7">
                      <a:lumMod val="15000"/>
                      <a:lumOff val="85000"/>
                      <a:alpha val="27000"/>
                    </a:srgbClr>
                  </a:gs>
                </a:gsLst>
                <a:lin ang="5400000" scaled="0"/>
              </a:gradFill>
              <a:effectLst/>
              <a:uLnTx/>
              <a:uFillTx/>
              <a:latin typeface="Arial Black" panose="020B0A04020102020204" pitchFamily="34" charset="0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" name="文本占位符 4"/>
          <p:cNvSpPr txBox="1"/>
          <p:nvPr/>
        </p:nvSpPr>
        <p:spPr>
          <a:xfrm>
            <a:off x="1853072" y="3246898"/>
            <a:ext cx="7302822" cy="660400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44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实证结果与解释</a:t>
            </a:r>
            <a:endParaRPr kumimoji="0" lang="zh-CN" altLang="en-US" sz="4800" b="1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B0503020204020204" pitchFamily="34" charset="-122"/>
              <a:ea typeface="微软雅黑" panose="020B0503020204020204" pitchFamily="34" charset="-122"/>
              <a:cs typeface="Aptos"/>
            </a:endParaRPr>
          </a:p>
        </p:txBody>
      </p:sp>
      <p:grpSp>
        <p:nvGrpSpPr>
          <p:cNvPr id="4" name="组合 3"/>
          <p:cNvGrpSpPr/>
          <p:nvPr/>
        </p:nvGrpSpPr>
        <p:grpSpPr>
          <a:xfrm>
            <a:off x="-3049556" y="-2033814"/>
            <a:ext cx="7489372" cy="4795157"/>
            <a:chOff x="-3802743" y="-2148114"/>
            <a:chExt cx="7489372" cy="4795157"/>
          </a:xfrm>
        </p:grpSpPr>
        <p:sp>
          <p:nvSpPr>
            <p:cNvPr id="5" name="平行四边形 4"/>
            <p:cNvSpPr/>
            <p:nvPr/>
          </p:nvSpPr>
          <p:spPr>
            <a:xfrm>
              <a:off x="-3802743" y="-2148114"/>
              <a:ext cx="7489372" cy="4795157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7" name="组合 6"/>
          <p:cNvGrpSpPr/>
          <p:nvPr/>
        </p:nvGrpSpPr>
        <p:grpSpPr>
          <a:xfrm flipH="1" flipV="1">
            <a:off x="7824192" y="4149080"/>
            <a:ext cx="7489372" cy="4651141"/>
            <a:chOff x="-3802743" y="-2004098"/>
            <a:chExt cx="7489372" cy="4651141"/>
          </a:xfrm>
        </p:grpSpPr>
        <p:sp>
          <p:nvSpPr>
            <p:cNvPr id="8" name="平行四边形 7"/>
            <p:cNvSpPr/>
            <p:nvPr/>
          </p:nvSpPr>
          <p:spPr>
            <a:xfrm>
              <a:off x="-3802743" y="-2004098"/>
              <a:ext cx="7489372" cy="4651141"/>
            </a:xfrm>
            <a:prstGeom prst="parallelogram">
              <a:avLst/>
            </a:prstGeom>
            <a:solidFill>
              <a:srgbClr val="024282">
                <a:alpha val="32000"/>
              </a:srgb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9" name="平行四边形 8"/>
            <p:cNvSpPr/>
            <p:nvPr/>
          </p:nvSpPr>
          <p:spPr>
            <a:xfrm>
              <a:off x="-3483429" y="-1482271"/>
              <a:ext cx="6429829" cy="3628571"/>
            </a:xfrm>
            <a:prstGeom prst="parallelogram">
              <a:avLst/>
            </a:prstGeom>
            <a:solidFill>
              <a:srgbClr val="024282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16" name="直接连接符 15"/>
          <p:cNvCxnSpPr/>
          <p:nvPr/>
        </p:nvCxnSpPr>
        <p:spPr>
          <a:xfrm>
            <a:off x="2156111" y="4293096"/>
            <a:ext cx="6696744" cy="0"/>
          </a:xfrm>
          <a:prstGeom prst="line">
            <a:avLst/>
          </a:prstGeom>
          <a:ln w="2857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2156111" y="4824882"/>
            <a:ext cx="6088996" cy="39878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F0302020204030204" pitchFamily="34" charset="0"/>
                <a:ea typeface="微软雅黑" panose="020B0503020204020204" pitchFamily="34" charset="-122"/>
                <a:cs typeface="Aptos"/>
              </a:rPr>
              <a:t>统计显著性、</a:t>
            </a:r>
            <a:r>
              <a:rPr kumimoji="0" lang="zh-CN" altLang="zh-CN" sz="20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F0302020204030204" pitchFamily="34" charset="0"/>
                <a:ea typeface="微软雅黑" panose="020B0503020204020204" pitchFamily="34" charset="-122"/>
                <a:cs typeface="Aptos"/>
              </a:rPr>
              <a:t>经济幅度与冲击机制需要结合解读</a:t>
            </a:r>
            <a:endParaRPr kumimoji="0" lang="zh-CN" altLang="zh-CN" sz="2000" b="0" i="0" u="none" strike="noStrike" kern="1200" cap="none" spc="0" normalizeH="0" baseline="0" noProof="0" dirty="0">
              <a:ln>
                <a:noFill/>
              </a:ln>
              <a:solidFill>
                <a:srgbClr val="024282"/>
              </a:solidFill>
              <a:effectLst/>
              <a:uLnTx/>
              <a:uFillTx/>
              <a:latin typeface="Aptos" panose="020F0302020204030204" pitchFamily="34" charset="0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22" name="图片 2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60134" y="6274257"/>
            <a:ext cx="2583927" cy="412859"/>
          </a:xfrm>
          <a:prstGeom prst="rect">
            <a:avLst/>
          </a:prstGeom>
        </p:spPr>
      </p:pic>
      <p:grpSp>
        <p:nvGrpSpPr>
          <p:cNvPr id="23" name="组合 22"/>
          <p:cNvGrpSpPr/>
          <p:nvPr/>
        </p:nvGrpSpPr>
        <p:grpSpPr>
          <a:xfrm>
            <a:off x="9114765" y="102733"/>
            <a:ext cx="2879308" cy="743473"/>
            <a:chOff x="825667" y="458497"/>
            <a:chExt cx="4856203" cy="1253932"/>
          </a:xfrm>
        </p:grpSpPr>
        <p:pic>
          <p:nvPicPr>
            <p:cNvPr id="24" name="图片 2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825667" y="458497"/>
              <a:ext cx="1253932" cy="1253932"/>
            </a:xfrm>
            <a:prstGeom prst="rect">
              <a:avLst/>
            </a:prstGeom>
          </p:spPr>
        </p:pic>
        <p:pic>
          <p:nvPicPr>
            <p:cNvPr id="25" name="图片 2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26" name="矩形 2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600">
        <p14:gallery dir="l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收益率特征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aphicFrame>
        <p:nvGraphicFramePr>
          <p:cNvPr id="13" name="图表 12"/>
          <p:cNvGraphicFramePr/>
          <p:nvPr/>
        </p:nvGraphicFramePr>
        <p:xfrm>
          <a:off x="407988" y="1120811"/>
          <a:ext cx="4140200" cy="2760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graphicFrame>
        <p:nvGraphicFramePr>
          <p:cNvPr id="14" name="图表 13"/>
          <p:cNvGraphicFramePr/>
          <p:nvPr/>
        </p:nvGraphicFramePr>
        <p:xfrm>
          <a:off x="4025900" y="1120811"/>
          <a:ext cx="4140200" cy="2760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15" name="图表 14"/>
          <p:cNvGraphicFramePr/>
          <p:nvPr/>
        </p:nvGraphicFramePr>
        <p:xfrm>
          <a:off x="7643812" y="1120811"/>
          <a:ext cx="4140200" cy="27601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6" name="矩形 15"/>
          <p:cNvSpPr/>
          <p:nvPr/>
        </p:nvSpPr>
        <p:spPr>
          <a:xfrm>
            <a:off x="1556385" y="1852613"/>
            <a:ext cx="2150745" cy="86614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zh-CN" sz="4200" b="1" dirty="0">
                <a:solidFill>
                  <a:srgbClr val="005197"/>
                </a:solidFill>
                <a:latin typeface="Aptos"/>
                <a:ea typeface="微软雅黑" panose="020B0503020204020204" pitchFamily="34" charset="-122"/>
                <a:cs typeface="Aptos"/>
              </a:rPr>
              <a:t>2.901%</a:t>
            </a:r>
            <a:endParaRPr lang="zh-CN" altLang="en-US" sz="4200" b="1" dirty="0">
              <a:solidFill>
                <a:srgbClr val="005197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5124450" y="1852613"/>
            <a:ext cx="2111375" cy="86614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zh-CN" sz="4200" b="1" dirty="0">
                <a:solidFill>
                  <a:srgbClr val="005197"/>
                </a:solidFill>
                <a:latin typeface="Aptos"/>
                <a:ea typeface="微软雅黑" panose="020B0503020204020204" pitchFamily="34" charset="-122"/>
                <a:cs typeface="Aptos"/>
              </a:rPr>
              <a:t>2.984%</a:t>
            </a:r>
            <a:endParaRPr lang="zh-CN" altLang="en-US" sz="4200" b="1" dirty="0">
              <a:solidFill>
                <a:srgbClr val="005197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8884920" y="1859598"/>
            <a:ext cx="1758315" cy="86614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zh-CN" sz="4200" b="1" dirty="0">
                <a:solidFill>
                  <a:srgbClr val="FFC000"/>
                </a:solidFill>
                <a:latin typeface="Aptos"/>
                <a:ea typeface="微软雅黑" panose="020B0503020204020204" pitchFamily="34" charset="-122"/>
                <a:cs typeface="Aptos"/>
              </a:rPr>
              <a:t>0.845</a:t>
            </a:r>
            <a:endParaRPr lang="zh-CN" altLang="en-US" sz="4200" b="1" dirty="0">
              <a:solidFill>
                <a:srgbClr val="FFC000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1769029" y="2910884"/>
            <a:ext cx="1418118" cy="362792"/>
          </a:xfrm>
          <a:prstGeom prst="roundRect">
            <a:avLst/>
          </a:prstGeom>
          <a:solidFill>
            <a:srgbClr val="E8F1F9"/>
          </a:solidFill>
          <a:ln w="0">
            <a:solidFill>
              <a:srgbClr val="E8F1F9"/>
            </a:solidFill>
          </a:ln>
        </p:spPr>
        <p:txBody>
          <a:bodyPr wrap="square" lIns="76200" tIns="45720" rIns="76200" bIns="45720" anchor="ctr"/>
          <a:lstStyle/>
          <a:p>
            <a:pPr marL="0" indent="0" algn="ctr" fontAlgn="base"/>
            <a:r>
              <a:rPr lang="zh-CN" sz="15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WTI 波动</a:t>
            </a:r>
            <a:endParaRPr lang="zh-CN" sz="1500">
              <a:solidFill>
                <a:srgbClr val="063F75"/>
              </a:solidFill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5386941" y="2974384"/>
            <a:ext cx="1418118" cy="362792"/>
          </a:xfrm>
          <a:prstGeom prst="roundRect">
            <a:avLst/>
          </a:prstGeom>
          <a:solidFill>
            <a:srgbClr val="E8F1F9"/>
          </a:solidFill>
          <a:ln w="0">
            <a:solidFill>
              <a:srgbClr val="E8F1F9"/>
            </a:solidFill>
          </a:ln>
        </p:spPr>
        <p:txBody>
          <a:bodyPr wrap="square" lIns="76200" tIns="45720" rIns="76200" bIns="45720" anchor="ctr"/>
          <a:lstStyle/>
          <a:p>
            <a:pPr marL="0" indent="0" algn="ctr" fontAlgn="base"/>
            <a:r>
              <a:rPr lang="zh-CN" sz="15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Brent σ</a:t>
            </a:r>
            <a:endParaRPr lang="zh-CN" sz="1500">
              <a:solidFill>
                <a:srgbClr val="063F75"/>
              </a:solidFill>
            </a:endParaRPr>
          </a:p>
        </p:txBody>
      </p:sp>
      <p:sp>
        <p:nvSpPr>
          <p:cNvPr id="23" name="矩形 22"/>
          <p:cNvSpPr/>
          <p:nvPr/>
        </p:nvSpPr>
        <p:spPr>
          <a:xfrm>
            <a:off x="9004853" y="2910884"/>
            <a:ext cx="1418118" cy="362792"/>
          </a:xfrm>
          <a:prstGeom prst="roundRect">
            <a:avLst/>
          </a:prstGeom>
          <a:solidFill>
            <a:srgbClr val="E8F1F9"/>
          </a:solidFill>
          <a:ln w="0">
            <a:solidFill>
              <a:srgbClr val="E8F1F9"/>
            </a:solidFill>
          </a:ln>
        </p:spPr>
        <p:txBody>
          <a:bodyPr wrap="square" lIns="76200" tIns="45720" rIns="76200" bIns="45720" anchor="ctr"/>
          <a:lstStyle/>
          <a:p>
            <a:pPr marL="0" indent="0" algn="ctr" fontAlgn="base"/>
            <a:r>
              <a:rPr lang="zh-CN" sz="1500" b="1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相关系数</a:t>
            </a:r>
            <a:endParaRPr lang="zh-CN" sz="1500">
              <a:solidFill>
                <a:srgbClr val="063F75"/>
              </a:solidFill>
            </a:endParaRPr>
          </a:p>
        </p:txBody>
      </p:sp>
      <p:sp>
        <p:nvSpPr>
          <p:cNvPr id="26" name="矩形 25"/>
          <p:cNvSpPr/>
          <p:nvPr/>
        </p:nvSpPr>
        <p:spPr>
          <a:xfrm>
            <a:off x="4653795" y="4101727"/>
            <a:ext cx="2884411" cy="2135585"/>
          </a:xfrm>
          <a:prstGeom prst="roundRect">
            <a:avLst/>
          </a:prstGeom>
          <a:solidFill>
            <a:srgbClr val="F3F7FC"/>
          </a:solidFill>
          <a:ln w="15875">
            <a:solidFill>
              <a:srgbClr val="9AB9D3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000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均值 0.080%；偏度 -0.547；峰度 8.391。Brent 同样呈现明显高峰厚尾。</a:t>
            </a:r>
            <a:endParaRPr lang="zh-CN" sz="2000" b="0">
              <a:solidFill>
                <a:srgbClr val="063F75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1035883" y="4101727"/>
            <a:ext cx="2884411" cy="2135585"/>
          </a:xfrm>
          <a:prstGeom prst="roundRect">
            <a:avLst/>
          </a:prstGeom>
          <a:solidFill>
            <a:srgbClr val="F3F7FC"/>
          </a:solidFill>
          <a:ln w="15875">
            <a:solidFill>
              <a:srgbClr val="9AB9D3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000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均值 0.081%；偏度 -0.888；峰度 9.855。负偏与高峰度表明下行尾部风险突出。</a:t>
            </a:r>
            <a:endParaRPr lang="zh-CN" sz="2000" b="0">
              <a:solidFill>
                <a:srgbClr val="063F75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8271707" y="4101727"/>
            <a:ext cx="2884411" cy="2135585"/>
          </a:xfrm>
          <a:prstGeom prst="roundRect">
            <a:avLst/>
          </a:prstGeom>
          <a:solidFill>
            <a:srgbClr val="F3F7FC"/>
          </a:solidFill>
          <a:ln w="15875">
            <a:solidFill>
              <a:srgbClr val="9AB9D3"/>
            </a:solidFill>
          </a:ln>
        </p:spPr>
        <p:txBody>
          <a:bodyPr wrap="square" lIns="76200" tIns="45720" rIns="76200" bIns="45720" anchor="ctr"/>
          <a:lstStyle/>
          <a:p>
            <a:pPr marL="0" indent="0" algn="l" fontAlgn="base"/>
            <a:r>
              <a:rPr lang="zh-CN" sz="2000" b="0">
                <a:solidFill>
                  <a:srgbClr val="063F75"/>
                </a:solidFill>
                <a:latin typeface="Aptos"/>
                <a:ea typeface="微软雅黑" panose="020B0503020204020204" pitchFamily="34" charset="-122"/>
                <a:cs typeface="Aptos"/>
              </a:rPr>
              <a:t>两种基准油价高度联动，但对中东供应风险的敏感度和反应幅度并不完全一致。</a:t>
            </a:r>
            <a:endParaRPr lang="zh-CN" sz="2000" b="0">
              <a:solidFill>
                <a:srgbClr val="063F75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CAR 核心结果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graphicFrame>
        <p:nvGraphicFramePr>
          <p:cNvPr id="13" name="图表 12"/>
          <p:cNvGraphicFramePr/>
          <p:nvPr/>
        </p:nvGraphicFramePr>
        <p:xfrm>
          <a:off x="673100" y="2348890"/>
          <a:ext cx="10845800" cy="3886812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14" name="矩形 13"/>
          <p:cNvSpPr/>
          <p:nvPr/>
        </p:nvSpPr>
        <p:spPr>
          <a:xfrm>
            <a:off x="908691" y="1209666"/>
            <a:ext cx="10845800" cy="829945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2000" b="1" dirty="0">
                <a:solidFill>
                  <a:schemeClr val="tx1"/>
                </a:solidFill>
                <a:latin typeface="Aptos"/>
                <a:ea typeface="微软雅黑" panose="020B0503020204020204" pitchFamily="34" charset="-122"/>
                <a:cs typeface="Aptos"/>
              </a:rPr>
              <a:t>E4 冲击最强：Brent CAR 为 13.552%，WTI 相对 CAR 为 -10.198%，经 BH-FDR 与 Bonferroni 修正后仍显著。E2、E3 仅在原始检验中呈边际显著，修正后不稳健。</a:t>
            </a:r>
            <a:endParaRPr lang="zh-CN" altLang="en-US" sz="2000" b="1" dirty="0">
              <a:solidFill>
                <a:schemeClr val="tx1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ITS 与断点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6954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5400" y="1340768"/>
            <a:ext cx="4965700" cy="75923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47623" y="247205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E3 Brent 即时水平冲击：+3.344%，NW p = 0.0109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50706" y="1453370"/>
            <a:ext cx="4304499" cy="534035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2400" b="1" dirty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ITS 核心发现</a:t>
            </a:r>
            <a:endParaRPr lang="zh-CN" altLang="en-US" sz="2400" b="1" dirty="0">
              <a:solidFill>
                <a:srgbClr val="FFFFFF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47623" y="366077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E4 WTI 相对即时冲击：-3.082%，NW p = 0.0459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47623" y="484949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其余事件的即时或趋势变化多数缺乏稳健显著性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980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80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980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8832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24" name="直接连接符 23"/>
          <p:cNvCxnSpPr/>
          <p:nvPr/>
        </p:nvCxnSpPr>
        <p:spPr>
          <a:xfrm>
            <a:off x="8832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25" name="check_97186"/>
          <p:cNvSpPr>
            <a:spLocks noChangeAspect="1"/>
          </p:cNvSpPr>
          <p:nvPr/>
        </p:nvSpPr>
        <p:spPr bwMode="auto">
          <a:xfrm>
            <a:off x="923231" y="1564071"/>
            <a:ext cx="435512" cy="345592"/>
          </a:xfrm>
          <a:custGeom>
            <a:avLst/>
            <a:gdLst>
              <a:gd name="T0" fmla="*/ 2641 w 3160"/>
              <a:gd name="T1" fmla="*/ 0 h 2511"/>
              <a:gd name="T2" fmla="*/ 1167 w 3160"/>
              <a:gd name="T3" fmla="*/ 1474 h 2511"/>
              <a:gd name="T4" fmla="*/ 519 w 3160"/>
              <a:gd name="T5" fmla="*/ 826 h 2511"/>
              <a:gd name="T6" fmla="*/ 0 w 3160"/>
              <a:gd name="T7" fmla="*/ 1344 h 2511"/>
              <a:gd name="T8" fmla="*/ 1167 w 3160"/>
              <a:gd name="T9" fmla="*/ 2511 h 2511"/>
              <a:gd name="T10" fmla="*/ 3160 w 3160"/>
              <a:gd name="T11" fmla="*/ 519 h 2511"/>
              <a:gd name="T12" fmla="*/ 2641 w 3160"/>
              <a:gd name="T13" fmla="*/ 0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60" h="2511">
                <a:moveTo>
                  <a:pt x="2641" y="0"/>
                </a:moveTo>
                <a:lnTo>
                  <a:pt x="1167" y="1474"/>
                </a:lnTo>
                <a:lnTo>
                  <a:pt x="519" y="826"/>
                </a:lnTo>
                <a:lnTo>
                  <a:pt x="0" y="1344"/>
                </a:lnTo>
                <a:lnTo>
                  <a:pt x="1167" y="2511"/>
                </a:lnTo>
                <a:lnTo>
                  <a:pt x="3160" y="519"/>
                </a:lnTo>
                <a:lnTo>
                  <a:pt x="2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矩形 25"/>
          <p:cNvSpPr/>
          <p:nvPr/>
        </p:nvSpPr>
        <p:spPr>
          <a:xfrm>
            <a:off x="65882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588200" y="1340768"/>
            <a:ext cx="4965700" cy="75923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140423" y="247205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DW 多数接近 2，残差一阶自相关总体有限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243506" y="1453370"/>
            <a:ext cx="4304499" cy="534035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2400" b="1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诊断与断点</a:t>
            </a:r>
            <a:endParaRPr lang="zh-CN" altLang="en-US" sz="2400" b="1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140423" y="366077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部分 BP 检验显著，因此使用 Newey-West 修正推断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140423" y="484949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WTI/Brent 断点集中于 2026-02-27 至 03-02，与 E3 高度重合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6908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908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908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67760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36" name="直接连接符 35"/>
          <p:cNvCxnSpPr/>
          <p:nvPr/>
        </p:nvCxnSpPr>
        <p:spPr>
          <a:xfrm>
            <a:off x="67760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37" name="up-arrow_2486"/>
          <p:cNvSpPr>
            <a:spLocks noChangeAspect="1"/>
          </p:cNvSpPr>
          <p:nvPr/>
        </p:nvSpPr>
        <p:spPr bwMode="auto">
          <a:xfrm>
            <a:off x="6868694" y="1531940"/>
            <a:ext cx="322150" cy="435512"/>
          </a:xfrm>
          <a:custGeom>
            <a:avLst/>
            <a:gdLst>
              <a:gd name="T0" fmla="*/ 142 w 268"/>
              <a:gd name="T1" fmla="*/ 11 h 363"/>
              <a:gd name="T2" fmla="*/ 252 w 268"/>
              <a:gd name="T3" fmla="*/ 144 h 363"/>
              <a:gd name="T4" fmla="*/ 250 w 268"/>
              <a:gd name="T5" fmla="*/ 160 h 363"/>
              <a:gd name="T6" fmla="*/ 188 w 268"/>
              <a:gd name="T7" fmla="*/ 160 h 363"/>
              <a:gd name="T8" fmla="*/ 188 w 268"/>
              <a:gd name="T9" fmla="*/ 187 h 363"/>
              <a:gd name="T10" fmla="*/ 188 w 268"/>
              <a:gd name="T11" fmla="*/ 354 h 363"/>
              <a:gd name="T12" fmla="*/ 176 w 268"/>
              <a:gd name="T13" fmla="*/ 363 h 363"/>
              <a:gd name="T14" fmla="*/ 89 w 268"/>
              <a:gd name="T15" fmla="*/ 363 h 363"/>
              <a:gd name="T16" fmla="*/ 79 w 268"/>
              <a:gd name="T17" fmla="*/ 355 h 363"/>
              <a:gd name="T18" fmla="*/ 79 w 268"/>
              <a:gd name="T19" fmla="*/ 188 h 363"/>
              <a:gd name="T20" fmla="*/ 79 w 268"/>
              <a:gd name="T21" fmla="*/ 164 h 363"/>
              <a:gd name="T22" fmla="*/ 22 w 268"/>
              <a:gd name="T23" fmla="*/ 164 h 363"/>
              <a:gd name="T24" fmla="*/ 16 w 268"/>
              <a:gd name="T25" fmla="*/ 147 h 363"/>
              <a:gd name="T26" fmla="*/ 123 w 268"/>
              <a:gd name="T27" fmla="*/ 10 h 363"/>
              <a:gd name="T28" fmla="*/ 142 w 268"/>
              <a:gd name="T29" fmla="*/ 11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8" h="363">
                <a:moveTo>
                  <a:pt x="142" y="11"/>
                </a:moveTo>
                <a:lnTo>
                  <a:pt x="252" y="144"/>
                </a:lnTo>
                <a:cubicBezTo>
                  <a:pt x="252" y="144"/>
                  <a:pt x="268" y="160"/>
                  <a:pt x="250" y="160"/>
                </a:cubicBezTo>
                <a:lnTo>
                  <a:pt x="188" y="160"/>
                </a:lnTo>
                <a:lnTo>
                  <a:pt x="188" y="187"/>
                </a:lnTo>
                <a:lnTo>
                  <a:pt x="188" y="354"/>
                </a:lnTo>
                <a:cubicBezTo>
                  <a:pt x="188" y="354"/>
                  <a:pt x="191" y="363"/>
                  <a:pt x="176" y="363"/>
                </a:cubicBezTo>
                <a:lnTo>
                  <a:pt x="89" y="363"/>
                </a:lnTo>
                <a:cubicBezTo>
                  <a:pt x="79" y="363"/>
                  <a:pt x="79" y="355"/>
                  <a:pt x="79" y="355"/>
                </a:cubicBezTo>
                <a:lnTo>
                  <a:pt x="79" y="188"/>
                </a:lnTo>
                <a:lnTo>
                  <a:pt x="79" y="164"/>
                </a:lnTo>
                <a:lnTo>
                  <a:pt x="22" y="164"/>
                </a:lnTo>
                <a:cubicBezTo>
                  <a:pt x="0" y="164"/>
                  <a:pt x="16" y="147"/>
                  <a:pt x="16" y="147"/>
                </a:cubicBezTo>
                <a:cubicBezTo>
                  <a:pt x="16" y="147"/>
                  <a:pt x="110" y="23"/>
                  <a:pt x="123" y="10"/>
                </a:cubicBezTo>
                <a:cubicBezTo>
                  <a:pt x="133" y="0"/>
                  <a:pt x="142" y="11"/>
                  <a:pt x="142" y="11"/>
                </a:cubicBez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</p:sp>
      <p:sp>
        <p:nvSpPr>
          <p:cNvPr id="38" name="矩形 37"/>
          <p:cNvSpPr/>
          <p:nvPr/>
        </p:nvSpPr>
        <p:spPr>
          <a:xfrm>
            <a:off x="695400" y="5917849"/>
            <a:ext cx="4965700" cy="4571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588200" y="5917849"/>
            <a:ext cx="4965700" cy="4571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组合 3"/>
          <p:cNvGrpSpPr/>
          <p:nvPr/>
        </p:nvGrpSpPr>
        <p:grpSpPr>
          <a:xfrm>
            <a:off x="335361" y="116633"/>
            <a:ext cx="629872" cy="612768"/>
            <a:chOff x="3070727" y="196457"/>
            <a:chExt cx="692047" cy="673255"/>
          </a:xfrm>
        </p:grpSpPr>
        <p:sp>
          <p:nvSpPr>
            <p:cNvPr id="5" name="平行四边形 4"/>
            <p:cNvSpPr/>
            <p:nvPr/>
          </p:nvSpPr>
          <p:spPr>
            <a:xfrm>
              <a:off x="3070727" y="196457"/>
              <a:ext cx="629587" cy="612775"/>
            </a:xfrm>
            <a:prstGeom prst="parallelogram">
              <a:avLst/>
            </a:prstGeom>
            <a:solidFill>
              <a:srgbClr val="024282"/>
            </a:solidFill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  <p:sp>
          <p:nvSpPr>
            <p:cNvPr id="6" name="平行四边形 5"/>
            <p:cNvSpPr/>
            <p:nvPr/>
          </p:nvSpPr>
          <p:spPr>
            <a:xfrm>
              <a:off x="3133187" y="256937"/>
              <a:ext cx="629587" cy="612775"/>
            </a:xfrm>
            <a:prstGeom prst="parallelogram">
              <a:avLst/>
            </a:prstGeom>
            <a:noFill/>
            <a:ln>
              <a:solidFill>
                <a:srgbClr val="024282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宋体" panose="02010600030101010101" pitchFamily="2" charset="-122"/>
                <a:cs typeface="+mn-cs"/>
              </a:endParaRPr>
            </a:p>
          </p:txBody>
        </p:sp>
      </p:grpSp>
      <p:cxnSp>
        <p:nvCxnSpPr>
          <p:cNvPr id="7" name="直接连接符 6"/>
          <p:cNvCxnSpPr/>
          <p:nvPr/>
        </p:nvCxnSpPr>
        <p:spPr>
          <a:xfrm>
            <a:off x="367840" y="809674"/>
            <a:ext cx="11488800" cy="0"/>
          </a:xfrm>
          <a:prstGeom prst="line">
            <a:avLst/>
          </a:prstGeom>
          <a:ln w="9525">
            <a:solidFill>
              <a:srgbClr val="02428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文本占位符 5"/>
          <p:cNvSpPr txBox="1"/>
          <p:nvPr/>
        </p:nvSpPr>
        <p:spPr>
          <a:xfrm>
            <a:off x="1127448" y="193957"/>
            <a:ext cx="5040313" cy="612775"/>
          </a:xfrm>
          <a:prstGeom prst="rect">
            <a:avLst/>
          </a:prstGeom>
        </p:spPr>
        <p:txBody>
          <a:bodyPr vert="horz" lIns="76200" tIns="45720" rIns="76200" bIns="45720" rtlCol="0" anchor="ctr">
            <a:norm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3200" b="1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1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结论与展望</a:t>
            </a:r>
            <a:endParaRPr lang="zh-CN" sz="28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框 16"/>
          <p:cNvSpPr txBox="1"/>
          <p:nvPr/>
        </p:nvSpPr>
        <p:spPr>
          <a:xfrm>
            <a:off x="10813677" y="6398695"/>
            <a:ext cx="1099981" cy="369332"/>
          </a:xfrm>
          <a:prstGeom prst="rect">
            <a:avLst/>
          </a:prstGeom>
          <a:noFill/>
        </p:spPr>
        <p:txBody>
          <a:bodyPr wrap="none" lIns="76200" tIns="45720" rIns="76200" bIns="45720" rtlCol="0" anchor="ctr"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900" b="0" i="0" u="none" strike="noStrike" kern="1200" cap="none" spc="0" normalizeH="0" baseline="0" noProof="0" dirty="0">
                <a:ln>
                  <a:noFill/>
                </a:ln>
                <a:solidFill>
                  <a:prstClr val="white">
                    <a:lumMod val="75000"/>
                  </a:prstClr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rPr>
              <a:t>2026.06</a:t>
            </a:r>
            <a:endParaRPr kumimoji="0" lang="zh-CN" altLang="en-US" sz="900" b="0" i="0" u="none" strike="noStrike" kern="1200" cap="none" spc="0" normalizeH="0" baseline="30000" noProof="0" dirty="0">
              <a:ln>
                <a:noFill/>
              </a:ln>
              <a:solidFill>
                <a:prstClr val="white">
                  <a:lumMod val="75000"/>
                </a:prstClr>
              </a:solidFill>
              <a:effectLst/>
              <a:uLnTx/>
              <a:uFillTx/>
              <a:latin typeface="Aptos"/>
              <a:ea typeface="微软雅黑" panose="020B0503020204020204" pitchFamily="34" charset="-122"/>
              <a:cs typeface="Aptos"/>
            </a:endParaRPr>
          </a:p>
        </p:txBody>
      </p:sp>
      <p:pic>
        <p:nvPicPr>
          <p:cNvPr id="52" name="图片 51"/>
          <p:cNvPicPr>
            <a:picLocks noChangeAspect="1"/>
          </p:cNvPicPr>
          <p:nvPr/>
        </p:nvPicPr>
        <p:blipFill>
          <a:blip r:embed="rId1">
            <a:extLst>
              <a:ext uri="{BEBA8EAE-BF5A-486C-A8C5-ECC9F3942E4B}">
                <a14:imgProps xmlns:a14="http://schemas.microsoft.com/office/drawing/2010/main">
                  <a14:imgLayer r:embed="rId2">
                    <a14:imgEffect>
                      <a14:brightnessContrast bright="-40000" contrast="2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85270" y="6444305"/>
            <a:ext cx="2117266" cy="338296"/>
          </a:xfrm>
          <a:prstGeom prst="rect">
            <a:avLst/>
          </a:prstGeom>
        </p:spPr>
      </p:pic>
      <p:grpSp>
        <p:nvGrpSpPr>
          <p:cNvPr id="43" name="组合 42"/>
          <p:cNvGrpSpPr/>
          <p:nvPr/>
        </p:nvGrpSpPr>
        <p:grpSpPr>
          <a:xfrm>
            <a:off x="9154205" y="116633"/>
            <a:ext cx="2764918" cy="612776"/>
            <a:chOff x="1018596" y="583069"/>
            <a:chExt cx="4663274" cy="1033500"/>
          </a:xfrm>
        </p:grpSpPr>
        <p:pic>
          <p:nvPicPr>
            <p:cNvPr id="44" name="图片 43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018596" y="583069"/>
              <a:ext cx="1033500" cy="1033500"/>
            </a:xfrm>
            <a:prstGeom prst="rect">
              <a:avLst/>
            </a:prstGeom>
          </p:spPr>
        </p:pic>
        <p:pic>
          <p:nvPicPr>
            <p:cNvPr id="45" name="图片 44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2006780" y="606338"/>
              <a:ext cx="3642029" cy="596779"/>
            </a:xfrm>
            <a:prstGeom prst="rect">
              <a:avLst/>
            </a:prstGeom>
          </p:spPr>
        </p:pic>
        <p:sp>
          <p:nvSpPr>
            <p:cNvPr id="46" name="矩形 45"/>
            <p:cNvSpPr/>
            <p:nvPr/>
          </p:nvSpPr>
          <p:spPr>
            <a:xfrm>
              <a:off x="2085463" y="1172848"/>
              <a:ext cx="3596407" cy="363365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lang="zh-CN" sz="900" b="0"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3" name="矩形 12"/>
          <p:cNvSpPr/>
          <p:nvPr/>
        </p:nvSpPr>
        <p:spPr>
          <a:xfrm>
            <a:off x="6954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695400" y="1340768"/>
            <a:ext cx="4965700" cy="75923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247623" y="247205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事件冲击并非普遍显著，E4 是主窗口中最稳健、经济幅度最大的事件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6" name="矩形 15"/>
          <p:cNvSpPr/>
          <p:nvPr/>
        </p:nvSpPr>
        <p:spPr>
          <a:xfrm>
            <a:off x="1350706" y="1416540"/>
            <a:ext cx="4304499" cy="607695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2800" b="1" dirty="0">
                <a:solidFill>
                  <a:srgbClr val="FFFFFF"/>
                </a:solidFill>
                <a:latin typeface="Aptos"/>
                <a:ea typeface="微软雅黑" panose="020B0503020204020204" pitchFamily="34" charset="-122"/>
                <a:cs typeface="Aptos"/>
              </a:rPr>
              <a:t>主要结论</a:t>
            </a:r>
            <a:endParaRPr lang="zh-CN" altLang="en-US" sz="2800" b="1" dirty="0">
              <a:solidFill>
                <a:srgbClr val="FFFFFF"/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8" name="矩形 17"/>
          <p:cNvSpPr/>
          <p:nvPr/>
        </p:nvSpPr>
        <p:spPr>
          <a:xfrm>
            <a:off x="1247623" y="366077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Brent 对中东供应风险反应更直接，支持基准油价敏感度差异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9" name="矩形 18"/>
          <p:cNvSpPr/>
          <p:nvPr/>
        </p:nvSpPr>
        <p:spPr>
          <a:xfrm>
            <a:off x="1247623" y="484949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CAR、ITS 与断点结果共同支持事件影响具有类型和时点异质性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0" name="矩形 19"/>
          <p:cNvSpPr/>
          <p:nvPr/>
        </p:nvSpPr>
        <p:spPr>
          <a:xfrm>
            <a:off x="7980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7980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22" name="矩形 21"/>
          <p:cNvSpPr/>
          <p:nvPr/>
        </p:nvSpPr>
        <p:spPr>
          <a:xfrm>
            <a:off x="7980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23" name="直接连接符 22"/>
          <p:cNvCxnSpPr/>
          <p:nvPr/>
        </p:nvCxnSpPr>
        <p:spPr>
          <a:xfrm>
            <a:off x="8832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24" name="直接连接符 23"/>
          <p:cNvCxnSpPr/>
          <p:nvPr/>
        </p:nvCxnSpPr>
        <p:spPr>
          <a:xfrm>
            <a:off x="8832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25" name="check_97186"/>
          <p:cNvSpPr>
            <a:spLocks noChangeAspect="1"/>
          </p:cNvSpPr>
          <p:nvPr/>
        </p:nvSpPr>
        <p:spPr bwMode="auto">
          <a:xfrm>
            <a:off x="923231" y="1564071"/>
            <a:ext cx="435512" cy="345592"/>
          </a:xfrm>
          <a:custGeom>
            <a:avLst/>
            <a:gdLst>
              <a:gd name="T0" fmla="*/ 2641 w 3160"/>
              <a:gd name="T1" fmla="*/ 0 h 2511"/>
              <a:gd name="T2" fmla="*/ 1167 w 3160"/>
              <a:gd name="T3" fmla="*/ 1474 h 2511"/>
              <a:gd name="T4" fmla="*/ 519 w 3160"/>
              <a:gd name="T5" fmla="*/ 826 h 2511"/>
              <a:gd name="T6" fmla="*/ 0 w 3160"/>
              <a:gd name="T7" fmla="*/ 1344 h 2511"/>
              <a:gd name="T8" fmla="*/ 1167 w 3160"/>
              <a:gd name="T9" fmla="*/ 2511 h 2511"/>
              <a:gd name="T10" fmla="*/ 3160 w 3160"/>
              <a:gd name="T11" fmla="*/ 519 h 2511"/>
              <a:gd name="T12" fmla="*/ 2641 w 3160"/>
              <a:gd name="T13" fmla="*/ 0 h 251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</a:cxnLst>
            <a:rect l="0" t="0" r="r" b="b"/>
            <a:pathLst>
              <a:path w="3160" h="2511">
                <a:moveTo>
                  <a:pt x="2641" y="0"/>
                </a:moveTo>
                <a:lnTo>
                  <a:pt x="1167" y="1474"/>
                </a:lnTo>
                <a:lnTo>
                  <a:pt x="519" y="826"/>
                </a:lnTo>
                <a:lnTo>
                  <a:pt x="0" y="1344"/>
                </a:lnTo>
                <a:lnTo>
                  <a:pt x="1167" y="2511"/>
                </a:lnTo>
                <a:lnTo>
                  <a:pt x="3160" y="519"/>
                </a:lnTo>
                <a:lnTo>
                  <a:pt x="2641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</p:sp>
      <p:sp>
        <p:nvSpPr>
          <p:cNvPr id="26" name="矩形 25"/>
          <p:cNvSpPr/>
          <p:nvPr/>
        </p:nvSpPr>
        <p:spPr>
          <a:xfrm>
            <a:off x="6588200" y="1340768"/>
            <a:ext cx="4965700" cy="4622800"/>
          </a:xfrm>
          <a:prstGeom prst="rect">
            <a:avLst/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317500" sx="98000" sy="98000" algn="ctr" rotWithShape="0">
              <a:prstClr val="black">
                <a:alpha val="20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7" name="矩形 26"/>
          <p:cNvSpPr/>
          <p:nvPr/>
        </p:nvSpPr>
        <p:spPr>
          <a:xfrm>
            <a:off x="6588200" y="1340768"/>
            <a:ext cx="4965700" cy="75923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28" name="矩形 27"/>
          <p:cNvSpPr/>
          <p:nvPr/>
        </p:nvSpPr>
        <p:spPr>
          <a:xfrm>
            <a:off x="7140423" y="247205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WTI 与 Brent 互为市场因子，CAR 是相对异常反应而非绝对因果效应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29" name="矩形 28"/>
          <p:cNvSpPr/>
          <p:nvPr/>
        </p:nvSpPr>
        <p:spPr>
          <a:xfrm>
            <a:off x="7243506" y="1416540"/>
            <a:ext cx="4304499" cy="607695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sz="2800" b="1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局限与展望</a:t>
            </a:r>
            <a:endParaRPr lang="zh-CN" altLang="en-US" sz="2800" b="1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0" name="矩形 29"/>
          <p:cNvSpPr/>
          <p:nvPr/>
        </p:nvSpPr>
        <p:spPr>
          <a:xfrm>
            <a:off x="7140423" y="366077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ACLED 为周度汇总，不能替代 actor、地点和 notes 层面的逐事件数据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1" name="矩形 30"/>
          <p:cNvSpPr/>
          <p:nvPr/>
        </p:nvSpPr>
        <p:spPr>
          <a:xfrm>
            <a:off x="7140423" y="4849494"/>
            <a:ext cx="4248605" cy="755650"/>
          </a:xfrm>
          <a:prstGeom prst="rect">
            <a:avLst/>
          </a:prstGeom>
        </p:spPr>
        <p:txBody>
          <a:bodyPr wrap="square" lIns="76200" tIns="45720" rIns="76200" bIns="45720" anchor="ctr">
            <a:spAutoFit/>
          </a:bodyPr>
          <a:lstStyle/>
          <a:p>
            <a:pPr marL="0" indent="0" algn="l" fontAlgn="base">
              <a:lnSpc>
                <a:spcPct val="120000"/>
              </a:lnSpc>
            </a:pPr>
            <a:r>
              <a:rPr lang="zh-CN" altLang="en-US" b="0" dirty="0">
                <a:solidFill>
                  <a:prstClr val="black">
                    <a:lumMod val="75000"/>
                    <a:lumOff val="25000"/>
                  </a:prstClr>
                </a:solidFill>
                <a:latin typeface="Aptos"/>
                <a:ea typeface="微软雅黑" panose="020B0503020204020204" pitchFamily="34" charset="-122"/>
                <a:cs typeface="Aptos"/>
              </a:rPr>
              <a:t>后续引入独立商品指数、汇率与库存控制，并扩展联合事件模型</a:t>
            </a:r>
            <a:endParaRPr lang="zh-CN" altLang="en-US" b="0" dirty="0">
              <a:solidFill>
                <a:prstClr val="black">
                  <a:lumMod val="75000"/>
                  <a:lumOff val="25000"/>
                </a:prstClr>
              </a:solidFill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32" name="矩形 31"/>
          <p:cNvSpPr/>
          <p:nvPr/>
        </p:nvSpPr>
        <p:spPr>
          <a:xfrm>
            <a:off x="6690844" y="242417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1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3" name="矩形 32"/>
          <p:cNvSpPr/>
          <p:nvPr/>
        </p:nvSpPr>
        <p:spPr>
          <a:xfrm>
            <a:off x="6690844" y="3595746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2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sp>
        <p:nvSpPr>
          <p:cNvPr id="34" name="矩形 33"/>
          <p:cNvSpPr/>
          <p:nvPr/>
        </p:nvSpPr>
        <p:spPr>
          <a:xfrm>
            <a:off x="6690844" y="4767321"/>
            <a:ext cx="449580" cy="82952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20000"/>
              </a:lnSpc>
            </a:pPr>
            <a:r>
              <a:rPr lang="en-US" altLang="zh-CN" sz="4400" dirty="0">
                <a:solidFill>
                  <a:prstClr val="black">
                    <a:lumMod val="75000"/>
                    <a:lumOff val="25000"/>
                  </a:prstClr>
                </a:solidFill>
                <a:latin typeface="Century Gothic" panose="020B0502020202020204"/>
                <a:ea typeface="微软雅黑" panose="020B0503020204020204" pitchFamily="34" charset="-122"/>
              </a:rPr>
              <a:t>3</a:t>
            </a:r>
            <a:endParaRPr lang="zh-CN" altLang="en-US" sz="4400" dirty="0">
              <a:solidFill>
                <a:prstClr val="black">
                  <a:lumMod val="75000"/>
                  <a:lumOff val="25000"/>
                </a:prstClr>
              </a:solidFill>
              <a:latin typeface="Century Gothic" panose="020B0502020202020204"/>
              <a:ea typeface="微软雅黑" panose="020B0503020204020204" pitchFamily="34" charset="-122"/>
            </a:endParaRPr>
          </a:p>
        </p:txBody>
      </p:sp>
      <p:cxnSp>
        <p:nvCxnSpPr>
          <p:cNvPr id="35" name="直接连接符 34"/>
          <p:cNvCxnSpPr/>
          <p:nvPr/>
        </p:nvCxnSpPr>
        <p:spPr>
          <a:xfrm>
            <a:off x="6776047" y="344423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cxnSp>
        <p:nvCxnSpPr>
          <p:cNvPr id="36" name="直接连接符 35"/>
          <p:cNvCxnSpPr/>
          <p:nvPr/>
        </p:nvCxnSpPr>
        <p:spPr>
          <a:xfrm>
            <a:off x="6776047" y="4632959"/>
            <a:ext cx="4590006" cy="0"/>
          </a:xfrm>
          <a:prstGeom prst="line">
            <a:avLst/>
          </a:prstGeom>
          <a:noFill/>
          <a:ln w="6350" cap="flat" cmpd="sng" algn="ctr">
            <a:solidFill>
              <a:sysClr val="windowText" lastClr="000000">
                <a:lumMod val="50000"/>
                <a:lumOff val="50000"/>
              </a:sysClr>
            </a:solidFill>
            <a:prstDash val="solid"/>
            <a:miter lim="800000"/>
          </a:ln>
          <a:effectLst/>
        </p:spPr>
      </p:cxnSp>
      <p:sp>
        <p:nvSpPr>
          <p:cNvPr id="37" name="up-arrow_2486"/>
          <p:cNvSpPr>
            <a:spLocks noChangeAspect="1"/>
          </p:cNvSpPr>
          <p:nvPr/>
        </p:nvSpPr>
        <p:spPr bwMode="auto">
          <a:xfrm>
            <a:off x="6868694" y="1531940"/>
            <a:ext cx="322150" cy="435512"/>
          </a:xfrm>
          <a:custGeom>
            <a:avLst/>
            <a:gdLst>
              <a:gd name="T0" fmla="*/ 142 w 268"/>
              <a:gd name="T1" fmla="*/ 11 h 363"/>
              <a:gd name="T2" fmla="*/ 252 w 268"/>
              <a:gd name="T3" fmla="*/ 144 h 363"/>
              <a:gd name="T4" fmla="*/ 250 w 268"/>
              <a:gd name="T5" fmla="*/ 160 h 363"/>
              <a:gd name="T6" fmla="*/ 188 w 268"/>
              <a:gd name="T7" fmla="*/ 160 h 363"/>
              <a:gd name="T8" fmla="*/ 188 w 268"/>
              <a:gd name="T9" fmla="*/ 187 h 363"/>
              <a:gd name="T10" fmla="*/ 188 w 268"/>
              <a:gd name="T11" fmla="*/ 354 h 363"/>
              <a:gd name="T12" fmla="*/ 176 w 268"/>
              <a:gd name="T13" fmla="*/ 363 h 363"/>
              <a:gd name="T14" fmla="*/ 89 w 268"/>
              <a:gd name="T15" fmla="*/ 363 h 363"/>
              <a:gd name="T16" fmla="*/ 79 w 268"/>
              <a:gd name="T17" fmla="*/ 355 h 363"/>
              <a:gd name="T18" fmla="*/ 79 w 268"/>
              <a:gd name="T19" fmla="*/ 188 h 363"/>
              <a:gd name="T20" fmla="*/ 79 w 268"/>
              <a:gd name="T21" fmla="*/ 164 h 363"/>
              <a:gd name="T22" fmla="*/ 22 w 268"/>
              <a:gd name="T23" fmla="*/ 164 h 363"/>
              <a:gd name="T24" fmla="*/ 16 w 268"/>
              <a:gd name="T25" fmla="*/ 147 h 363"/>
              <a:gd name="T26" fmla="*/ 123 w 268"/>
              <a:gd name="T27" fmla="*/ 10 h 363"/>
              <a:gd name="T28" fmla="*/ 142 w 268"/>
              <a:gd name="T29" fmla="*/ 11 h 363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</a:cxnLst>
            <a:rect l="0" t="0" r="r" b="b"/>
            <a:pathLst>
              <a:path w="268" h="363">
                <a:moveTo>
                  <a:pt x="142" y="11"/>
                </a:moveTo>
                <a:lnTo>
                  <a:pt x="252" y="144"/>
                </a:lnTo>
                <a:cubicBezTo>
                  <a:pt x="252" y="144"/>
                  <a:pt x="268" y="160"/>
                  <a:pt x="250" y="160"/>
                </a:cubicBezTo>
                <a:lnTo>
                  <a:pt x="188" y="160"/>
                </a:lnTo>
                <a:lnTo>
                  <a:pt x="188" y="187"/>
                </a:lnTo>
                <a:lnTo>
                  <a:pt x="188" y="354"/>
                </a:lnTo>
                <a:cubicBezTo>
                  <a:pt x="188" y="354"/>
                  <a:pt x="191" y="363"/>
                  <a:pt x="176" y="363"/>
                </a:cubicBezTo>
                <a:lnTo>
                  <a:pt x="89" y="363"/>
                </a:lnTo>
                <a:cubicBezTo>
                  <a:pt x="79" y="363"/>
                  <a:pt x="79" y="355"/>
                  <a:pt x="79" y="355"/>
                </a:cubicBezTo>
                <a:lnTo>
                  <a:pt x="79" y="188"/>
                </a:lnTo>
                <a:lnTo>
                  <a:pt x="79" y="164"/>
                </a:lnTo>
                <a:lnTo>
                  <a:pt x="22" y="164"/>
                </a:lnTo>
                <a:cubicBezTo>
                  <a:pt x="0" y="164"/>
                  <a:pt x="16" y="147"/>
                  <a:pt x="16" y="147"/>
                </a:cubicBezTo>
                <a:cubicBezTo>
                  <a:pt x="16" y="147"/>
                  <a:pt x="110" y="23"/>
                  <a:pt x="123" y="10"/>
                </a:cubicBezTo>
                <a:cubicBezTo>
                  <a:pt x="133" y="0"/>
                  <a:pt x="142" y="11"/>
                  <a:pt x="142" y="11"/>
                </a:cubicBezTo>
                <a:close/>
              </a:path>
            </a:pathLst>
          </a:custGeom>
          <a:solidFill>
            <a:sysClr val="windowText" lastClr="000000">
              <a:lumMod val="75000"/>
              <a:lumOff val="25000"/>
            </a:sysClr>
          </a:solidFill>
          <a:ln>
            <a:noFill/>
          </a:ln>
        </p:spPr>
      </p:sp>
      <p:sp>
        <p:nvSpPr>
          <p:cNvPr id="38" name="矩形 37"/>
          <p:cNvSpPr/>
          <p:nvPr/>
        </p:nvSpPr>
        <p:spPr>
          <a:xfrm>
            <a:off x="695400" y="5917849"/>
            <a:ext cx="4965700" cy="45719"/>
          </a:xfrm>
          <a:prstGeom prst="rect">
            <a:avLst/>
          </a:prstGeom>
          <a:solidFill>
            <a:srgbClr val="00519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  <p:sp>
        <p:nvSpPr>
          <p:cNvPr id="39" name="矩形 38"/>
          <p:cNvSpPr/>
          <p:nvPr/>
        </p:nvSpPr>
        <p:spPr>
          <a:xfrm>
            <a:off x="6588200" y="5917849"/>
            <a:ext cx="4965700" cy="45719"/>
          </a:xfrm>
          <a:prstGeom prst="rect">
            <a:avLst/>
          </a:prstGeom>
          <a:solidFill>
            <a:srgbClr val="FFC000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entury Gothic" panose="020B05020202020202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250">
        <p14:gallery dir="l"/>
      </p:transition>
    </mc:Choice>
    <mc:Fallback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图片 19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764852" y="1350313"/>
            <a:ext cx="6117528" cy="6117528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91345" y="116631"/>
            <a:ext cx="11809308" cy="5226782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91345" y="116631"/>
            <a:ext cx="11809309" cy="5226782"/>
          </a:xfrm>
          <a:prstGeom prst="rect">
            <a:avLst/>
          </a:prstGeom>
          <a:solidFill>
            <a:srgbClr val="024282">
              <a:alpha val="82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0" name="平行四边形 9"/>
          <p:cNvSpPr/>
          <p:nvPr/>
        </p:nvSpPr>
        <p:spPr>
          <a:xfrm>
            <a:off x="4949527" y="5155867"/>
            <a:ext cx="2292946" cy="383827"/>
          </a:xfrm>
          <a:prstGeom prst="parallelogram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1" name="平行四边形 10"/>
          <p:cNvSpPr/>
          <p:nvPr/>
        </p:nvSpPr>
        <p:spPr>
          <a:xfrm>
            <a:off x="2999656" y="5935211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2" name="平行四边形 11"/>
          <p:cNvSpPr/>
          <p:nvPr/>
        </p:nvSpPr>
        <p:spPr>
          <a:xfrm>
            <a:off x="6427748" y="5935210"/>
            <a:ext cx="2764598" cy="487239"/>
          </a:xfrm>
          <a:prstGeom prst="parallelogram">
            <a:avLst/>
          </a:prstGeom>
          <a:solidFill>
            <a:srgbClr val="02428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15" name="文本占位符 30"/>
          <p:cNvSpPr txBox="1"/>
          <p:nvPr/>
        </p:nvSpPr>
        <p:spPr>
          <a:xfrm>
            <a:off x="3121932" y="6033862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汇报人：XXX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6" name="文本占位符 31"/>
          <p:cNvSpPr txBox="1"/>
          <p:nvPr/>
        </p:nvSpPr>
        <p:spPr>
          <a:xfrm>
            <a:off x="6460218" y="6033862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en-US" sz="1500" b="0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指导教师：XXX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sp>
        <p:nvSpPr>
          <p:cNvPr id="17" name="文本占位符 32"/>
          <p:cNvSpPr txBox="1"/>
          <p:nvPr/>
        </p:nvSpPr>
        <p:spPr>
          <a:xfrm>
            <a:off x="5374005" y="5155317"/>
            <a:ext cx="2609850" cy="29654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Tx/>
              <a:buNone/>
              <a:defRPr sz="1800" kern="1200">
                <a:solidFill>
                  <a:srgbClr val="024282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zh-CN" altLang="zh-CN" sz="1500" b="0" i="0" u="none" strike="noStrike" kern="1200" cap="none" spc="0" normalizeH="0" baseline="0" noProof="0" dirty="0">
                <a:ln>
                  <a:noFill/>
                </a:ln>
                <a:solidFill>
                  <a:srgbClr val="024282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2026年6月12日</a:t>
            </a:r>
            <a:endParaRPr lang="zh-CN" sz="1500" b="0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grpSp>
        <p:nvGrpSpPr>
          <p:cNvPr id="19" name="组合 18"/>
          <p:cNvGrpSpPr/>
          <p:nvPr/>
        </p:nvGrpSpPr>
        <p:grpSpPr>
          <a:xfrm>
            <a:off x="3879975" y="1131474"/>
            <a:ext cx="4918925" cy="1253932"/>
            <a:chOff x="751446" y="486412"/>
            <a:chExt cx="4918925" cy="1253932"/>
          </a:xfrm>
        </p:grpSpPr>
        <p:pic>
          <p:nvPicPr>
            <p:cNvPr id="21" name="图片 20"/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751446" y="486412"/>
              <a:ext cx="1253932" cy="1253932"/>
            </a:xfrm>
            <a:prstGeom prst="rect">
              <a:avLst/>
            </a:prstGeom>
          </p:spPr>
        </p:pic>
        <p:pic>
          <p:nvPicPr>
            <p:cNvPr id="22" name="图片 21"/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>
            <a:xfrm>
              <a:off x="1960350" y="609785"/>
              <a:ext cx="3710021" cy="607920"/>
            </a:xfrm>
            <a:prstGeom prst="rect">
              <a:avLst/>
            </a:prstGeom>
          </p:spPr>
        </p:pic>
        <p:sp>
          <p:nvSpPr>
            <p:cNvPr id="23" name="矩形 22"/>
            <p:cNvSpPr/>
            <p:nvPr/>
          </p:nvSpPr>
          <p:spPr>
            <a:xfrm>
              <a:off x="2167394" y="1226892"/>
              <a:ext cx="3502977" cy="307777"/>
            </a:xfrm>
            <a:prstGeom prst="rect">
              <a:avLst/>
            </a:prstGeom>
          </p:spPr>
          <p:txBody>
            <a:bodyPr wrap="square" lIns="76200" tIns="45720" rIns="76200" bIns="45720" anchor="ctr">
              <a:spAutoFit/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defRPr/>
              </a:pPr>
              <a:r>
                <a:rPr kumimoji="0" lang="zh-CN" altLang="zh-CN" sz="900" b="0" i="0" u="none" strike="noStrike" kern="1200" cap="none" spc="0" normalizeH="0" baseline="0" noProof="0" dirty="0">
                  <a:ln>
                    <a:noFill/>
                  </a:ln>
                  <a:solidFill>
                    <a:prstClr val="white"/>
                  </a:solidFill>
                  <a:effectLst/>
                  <a:uLnTx/>
                  <a:uFillTx/>
                  <a:latin typeface="Aptos"/>
                  <a:ea typeface="微软雅黑" panose="020B0503020204020204" pitchFamily="34" charset="-122"/>
                  <a:cs typeface="Aptos"/>
                </a:rPr>
                <a:t>BEIHANG UNIVERSITY</a:t>
              </a:r>
              <a:endParaRPr kumimoji="0" lang="zh-CN" altLang="en-US" sz="9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ptos"/>
                <a:ea typeface="微软雅黑" panose="020B0503020204020204" pitchFamily="34" charset="-122"/>
                <a:cs typeface="Aptos"/>
              </a:endParaRPr>
            </a:p>
          </p:txBody>
        </p:sp>
      </p:grpSp>
      <p:sp>
        <p:nvSpPr>
          <p:cNvPr id="18" name="文本占位符 24"/>
          <p:cNvSpPr txBox="1"/>
          <p:nvPr/>
        </p:nvSpPr>
        <p:spPr>
          <a:xfrm>
            <a:off x="3514725" y="2359025"/>
            <a:ext cx="5018405" cy="1415415"/>
          </a:xfrm>
          <a:prstGeom prst="rect">
            <a:avLst/>
          </a:prstGeom>
        </p:spPr>
        <p:txBody>
          <a:bodyPr vert="horz" lIns="76200" tIns="45720" rIns="76200" bIns="45720" rtlCol="0"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5400" b="1" kern="1200">
                <a:solidFill>
                  <a:schemeClr val="bg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2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4200" b="1" i="0" u="none" strike="noStrike" kern="1200" cap="none" spc="0" normalizeH="0" baseline="0" noProof="0" dirty="0">
                <a:ln>
                  <a:noFill/>
                </a:ln>
                <a:solidFill>
                  <a:sysClr val="window" lastClr="FFFFFF"/>
                </a:solidFill>
                <a:effectLst/>
                <a:uLnTx/>
                <a:uFillTx/>
                <a:latin typeface="Aptos" panose="020B0503020204020204" pitchFamily="34" charset="-122"/>
                <a:ea typeface="微软雅黑" panose="020B0503020204020204" pitchFamily="34" charset="-122"/>
                <a:cs typeface="Aptos"/>
              </a:rPr>
              <a:t>汇报结束  感谢聆听！</a:t>
            </a:r>
            <a:endParaRPr lang="zh-CN" sz="4200" b="1">
              <a:latin typeface="Aptos"/>
              <a:ea typeface="微软雅黑" panose="020B0503020204020204" pitchFamily="34" charset="-122"/>
              <a:cs typeface="Aptos"/>
            </a:endParaRPr>
          </a:p>
        </p:txBody>
      </p:sp>
      <p:cxnSp>
        <p:nvCxnSpPr>
          <p:cNvPr id="26" name="直接连接符 25"/>
          <p:cNvCxnSpPr/>
          <p:nvPr/>
        </p:nvCxnSpPr>
        <p:spPr>
          <a:xfrm>
            <a:off x="2567608" y="3888438"/>
            <a:ext cx="6912768" cy="0"/>
          </a:xfrm>
          <a:prstGeom prst="line">
            <a:avLst/>
          </a:prstGeom>
          <a:ln w="28575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7" name="图片 2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39657" y="4040776"/>
            <a:ext cx="8112685" cy="7343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</p:sld>
</file>

<file path=ppt/tags/tag1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2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3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4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5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6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7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8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9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10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11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12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13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14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15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16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17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18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19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20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21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22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23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24.xml><?xml version="1.0" encoding="utf-8"?>
<p:tagLst xmlns:p="http://schemas.openxmlformats.org/presentationml/2006/main">
  <p:tag name="KSO_WM_DIAGRAM_VIRTUALLY_FRAME" val="{&quot;height&quot;:407.94559055118106,&quot;left&quot;:429.1567716535433,&quot;top&quot;:76.23566929133858,&quot;width&quot;:413.49937007874024}"/>
</p:tagLst>
</file>

<file path=ppt/tags/tag25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26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27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28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29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30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31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32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33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34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35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36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37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38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39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40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41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42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43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44.xml><?xml version="1.0" encoding="utf-8"?>
<p:tagLst xmlns:p="http://schemas.openxmlformats.org/presentationml/2006/main">
  <p:tag name="KSO_WM_DIAGRAM_VIRTUALLY_FRAME" val="{&quot;height&quot;:373.40889763779523,&quot;left&quot;:75.5,&quot;top&quot;:112.5,&quot;width&quot;:795.7245669291339}"/>
</p:tagLst>
</file>

<file path=ppt/tags/tag45.xml><?xml version="1.0" encoding="utf-8"?>
<p:tagLst xmlns:p="http://schemas.openxmlformats.org/presentationml/2006/main">
  <p:tag name="KSO_DOCER_RESOURCE_TRACE_INFO" val="{&quot;id&quot;:&quot;3658623&quot;,&quot;origin&quot;:0,&quot;type&quot;:&quot;icons&quot;,&quot;user&quot;:&quot;1641686151&quot;}"/>
  <p:tag name="KSO_WM_DIAGRAM_VIRTUALLY_FRAME" val="{&quot;height&quot;:373.40889763779523,&quot;left&quot;:75.5,&quot;top&quot;:112.5,&quot;width&quot;:795.7245669291339}"/>
</p:tagLst>
</file>

<file path=ppt/tags/tag46.xml><?xml version="1.0" encoding="utf-8"?>
<p:tagLst xmlns:p="http://schemas.openxmlformats.org/presentationml/2006/main">
  <p:tag name="KSO_DOCER_RESOURCE_TRACE_INFO" val="{&quot;id&quot;:&quot;21582145&quot;,&quot;origin&quot;:0,&quot;type&quot;:&quot;icons&quot;,&quot;user&quot;:&quot;1641686151&quot;}"/>
  <p:tag name="KSO_WM_DIAGRAM_VIRTUALLY_FRAME" val="{&quot;height&quot;:373.40889763779523,&quot;left&quot;:75.5,&quot;top&quot;:112.5,&quot;width&quot;:795.7245669291339}"/>
</p:tagLst>
</file>

<file path=ppt/tags/tag47.xml><?xml version="1.0" encoding="utf-8"?>
<p:tagLst xmlns:p="http://schemas.openxmlformats.org/presentationml/2006/main">
  <p:tag name="KSO_DOCER_RESOURCE_TRACE_INFO" val="{&quot;id&quot;:&quot;21553483&quot;,&quot;origin&quot;:0,&quot;type&quot;:&quot;icons&quot;,&quot;user&quot;:&quot;1641686151&quot;}"/>
  <p:tag name="KSO_WM_DIAGRAM_VIRTUALLY_FRAME" val="{&quot;height&quot;:373.40889763779523,&quot;left&quot;:75.5,&quot;top&quot;:112.5,&quot;width&quot;:795.7245669291339}"/>
</p:tagLst>
</file>

<file path=ppt/tags/tag48.xml><?xml version="1.0" encoding="utf-8"?>
<p:tagLst xmlns:p="http://schemas.openxmlformats.org/presentationml/2006/main">
  <p:tag name="KSO_DOCER_RESOURCE_TRACE_INFO" val="{&quot;id&quot;:&quot;3649177&quot;,&quot;origin&quot;:0,&quot;type&quot;:&quot;icons&quot;,&quot;user&quot;:&quot;1641686151&quot;}"/>
  <p:tag name="KSO_WM_DIAGRAM_VIRTUALLY_FRAME" val="{&quot;height&quot;:373.40889763779523,&quot;left&quot;:75.5,&quot;top&quot;:112.5,&quot;width&quot;:795.7245669291339}"/>
</p:tagLst>
</file>

<file path=ppt/tags/tag49.xml><?xml version="1.0" encoding="utf-8"?>
<p:tagLst xmlns:p="http://schemas.openxmlformats.org/presentationml/2006/main">
  <p:tag name="KSO_WM_DIAGRAM_VIRTUALLY_FRAME" val="{&quot;height&quot;:223.7,&quot;left&quot;:97.35,&quot;top&quot;:217.55,&quot;width&quot;:815.55}"/>
</p:tagLst>
</file>

<file path=ppt/tags/tag50.xml><?xml version="1.0" encoding="utf-8"?>
<p:tagLst xmlns:p="http://schemas.openxmlformats.org/presentationml/2006/main">
  <p:tag name="KSO_WM_DIAGRAM_VIRTUALLY_FRAME" val="{&quot;height&quot;:223.7,&quot;left&quot;:97.35,&quot;top&quot;:217.55,&quot;width&quot;:815.55}"/>
</p:tagLst>
</file>

<file path=ppt/tags/tag51.xml><?xml version="1.0" encoding="utf-8"?>
<p:tagLst xmlns:p="http://schemas.openxmlformats.org/presentationml/2006/main">
  <p:tag name="KSO_WM_DIAGRAM_VIRTUALLY_FRAME" val="{&quot;height&quot;:223.7,&quot;left&quot;:97.35,&quot;top&quot;:217.55,&quot;width&quot;:815.55}"/>
</p:tagLst>
</file>

<file path=ppt/tags/tag52.xml><?xml version="1.0" encoding="utf-8"?>
<p:tagLst xmlns:p="http://schemas.openxmlformats.org/presentationml/2006/main">
  <p:tag name="KSO_WM_DIAGRAM_VIRTUALLY_FRAME" val="{&quot;height&quot;:223.7,&quot;left&quot;:97.35,&quot;top&quot;:217.55,&quot;width&quot;:815.55}"/>
</p:tagLst>
</file>

<file path=ppt/tags/tag53.xml><?xml version="1.0" encoding="utf-8"?>
<p:tagLst xmlns:p="http://schemas.openxmlformats.org/presentationml/2006/main">
  <p:tag name="KSO_WM_DIAGRAM_VIRTUALLY_FRAME" val="{&quot;height&quot;:223.7,&quot;left&quot;:97.35,&quot;top&quot;:217.55,&quot;width&quot;:815.55}"/>
</p:tagLst>
</file>

<file path=ppt/tags/tag54.xml><?xml version="1.0" encoding="utf-8"?>
<p:tagLst xmlns:p="http://schemas.openxmlformats.org/presentationml/2006/main">
  <p:tag name="KSO_WM_DIAGRAM_VIRTUALLY_FRAME" val="{&quot;height&quot;:223.7,&quot;left&quot;:97.35,&quot;top&quot;:217.55,&quot;width&quot;:815.55}"/>
</p:tagLst>
</file>

<file path=ppt/tags/tag55.xml><?xml version="1.0" encoding="utf-8"?>
<p:tagLst xmlns:p="http://schemas.openxmlformats.org/presentationml/2006/main">
  <p:tag name="KSO_WM_DIAGRAM_VIRTUALLY_FRAME" val="{&quot;height&quot;:223.7,&quot;left&quot;:97.35,&quot;top&quot;:217.55,&quot;width&quot;:815.55}"/>
</p:tagLst>
</file>

<file path=ppt/tags/tag56.xml><?xml version="1.0" encoding="utf-8"?>
<p:tagLst xmlns:p="http://schemas.openxmlformats.org/presentationml/2006/main">
  <p:tag name="KSO_WM_DIAGRAM_VIRTUALLY_FRAME" val="{&quot;height&quot;:223.7,&quot;left&quot;:97.35,&quot;top&quot;:217.55,&quot;width&quot;:815.55}"/>
</p:tagLst>
</file>

<file path=ppt/tags/tag57.xml><?xml version="1.0" encoding="utf-8"?>
<p:tagLst xmlns:p="http://schemas.openxmlformats.org/presentationml/2006/main">
  <p:tag name="KSO_WM_DIAGRAM_VIRTUALLY_FRAME" val="{&quot;height&quot;:223.7,&quot;left&quot;:97.35,&quot;top&quot;:217.55,&quot;width&quot;:815.55}"/>
</p:tagLst>
</file>

<file path=ppt/tags/tag58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59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60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61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62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63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64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65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66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67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68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69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70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71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72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73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74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75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76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77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78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79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80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81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82.xml><?xml version="1.0" encoding="utf-8"?>
<p:tagLst xmlns:p="http://schemas.openxmlformats.org/presentationml/2006/main">
  <p:tag name="KSO_WM_DIAGRAM_VIRTUALLY_FRAME" val="{&quot;height&quot;:173.72338582677168,&quot;left&quot;:94.44535433070867,&quot;top&quot;:116.91212598425197,&quot;width&quot;:741.9397637795275}"/>
</p:tagLst>
</file>

<file path=ppt/tags/tag83.xml><?xml version="1.0" encoding="utf-8"?>
<p:tagLst xmlns:p="http://schemas.openxmlformats.org/presentationml/2006/main">
  <p:tag name="resource_record_key" val="{&quot;10&quot;:[3658623,21582145,21553483,3649177]}"/>
</p:tagLst>
</file>

<file path=ppt/theme/theme1.xml><?xml version="1.0" encoding="utf-8"?>
<a:theme xmlns:a="http://schemas.openxmlformats.org/drawingml/2006/main" name="1_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2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3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ppt/theme/themeOverride4.xml><?xml version="1.0" encoding="utf-8"?>
<a:themeOverride xmlns:a="http://schemas.openxmlformats.org/drawingml/2006/main">
  <a:clrScheme name="理工大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005197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自定义 1">
    <a:majorFont>
      <a:latin typeface="Century Gothic"/>
      <a:ea typeface="微软雅黑"/>
      <a:cs typeface=""/>
    </a:majorFont>
    <a:minorFont>
      <a:latin typeface="Century Gothic"/>
      <a:ea typeface="微软雅黑"/>
      <a:cs typeface="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2673</Words>
  <Application>WPS 演示</Application>
  <PresentationFormat>宽屏</PresentationFormat>
  <Paragraphs>357</Paragraphs>
  <Slides>16</Slides>
  <Notes>2</Notes>
  <HiddenSlides>0</HiddenSlides>
  <MMClips>0</MMClips>
  <ScaleCrop>false</ScaleCrop>
  <HeadingPairs>
    <vt:vector size="6" baseType="variant">
      <vt:variant>
        <vt:lpstr>已用的字体</vt:lpstr>
      </vt:variant>
      <vt:variant>
        <vt:i4>19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16</vt:i4>
      </vt:variant>
    </vt:vector>
  </HeadingPairs>
  <TitlesOfParts>
    <vt:vector size="36" baseType="lpstr">
      <vt:lpstr>Arial</vt:lpstr>
      <vt:lpstr>宋体</vt:lpstr>
      <vt:lpstr>Wingdings</vt:lpstr>
      <vt:lpstr>Calibri</vt:lpstr>
      <vt:lpstr>微软雅黑</vt:lpstr>
      <vt:lpstr>Aptos</vt:lpstr>
      <vt:lpstr>Segoe UI</vt:lpstr>
      <vt:lpstr>Aptos</vt:lpstr>
      <vt:lpstr>Arial</vt:lpstr>
      <vt:lpstr>Calibri</vt:lpstr>
      <vt:lpstr>Arial Black</vt:lpstr>
      <vt:lpstr>Calibri Light</vt:lpstr>
      <vt:lpstr>方正宋刻本秀楷简体</vt:lpstr>
      <vt:lpstr>Aptos</vt:lpstr>
      <vt:lpstr>Century Gothic</vt:lpstr>
      <vt:lpstr>Candara</vt:lpstr>
      <vt:lpstr>华文楷体</vt:lpstr>
      <vt:lpstr>Arial Unicode MS</vt:lpstr>
      <vt:lpstr>等线</vt:lpstr>
      <vt:lpstr>1_Office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ASUS</dc:creator>
  <cp:lastModifiedBy>张行舟</cp:lastModifiedBy>
  <cp:revision>28</cp:revision>
  <dcterms:created xsi:type="dcterms:W3CDTF">2020-07-27T01:08:00Z</dcterms:created>
  <dcterms:modified xsi:type="dcterms:W3CDTF">2026-06-13T04:07:53Z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2052-12.1.0.26895</vt:lpwstr>
  </property>
  <property fmtid="{D5CDD505-2E9C-101B-9397-08002B2CF9AE}" pid="3" name="ICV">
    <vt:lpwstr>0E689E4F5D7144DBA1A5E0FD3CEEA70C_12</vt:lpwstr>
  </property>
</Properties>
</file>