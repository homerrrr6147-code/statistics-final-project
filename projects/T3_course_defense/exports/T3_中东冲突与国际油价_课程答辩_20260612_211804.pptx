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svg" ContentType="image/svg+xml"/>
  <ns0:Default Extension="wdp" ContentType="image/vnd.ms-photo"/>
  <ns0:Default Extension="xlsx" ContentType="application/vnd.openxmlformats-officedocument.spreadsheetml.sheet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theme/theme2.xml" ContentType="application/vnd.openxmlformats-officedocument.theme+xml"/>
  <ns0:Override PartName="/ppt/charts/style1.xml" ContentType="application/vnd.ms-office.chartstyle+xml"/>
  <ns0:Override PartName="/ppt/charts/colors1.xml" ContentType="application/vnd.ms-office.chartcolorstyle+xml"/>
  <ns0:Override PartName="/ppt/theme/themeOverride1.xml" ContentType="application/vnd.openxmlformats-officedocument.themeOverride+xml"/>
  <ns0:Override PartName="/ppt/charts/style2.xml" ContentType="application/vnd.ms-office.chartstyle+xml"/>
  <ns0:Override PartName="/ppt/charts/colors2.xml" ContentType="application/vnd.ms-office.chartcolorstyle+xml"/>
  <ns0:Override PartName="/ppt/theme/themeOverride2.xml" ContentType="application/vnd.openxmlformats-officedocument.themeOverride+xml"/>
  <ns0:Override PartName="/ppt/charts/style3.xml" ContentType="application/vnd.ms-office.chartstyle+xml"/>
  <ns0:Override PartName="/ppt/charts/colors3.xml" ContentType="application/vnd.ms-office.chartcolorstyle+xml"/>
  <ns0:Override PartName="/ppt/theme/themeOverride3.xml" ContentType="application/vnd.openxmlformats-officedocument.themeOverride+xml"/>
  <ns0:Override PartName="/ppt/charts/style4.xml" ContentType="application/vnd.ms-office.chartstyle+xml"/>
  <ns0:Override PartName="/ppt/charts/colors4.xml" ContentType="application/vnd.ms-office.chartcolorstyle+xml"/>
  <ns0:Override PartName="/ppt/theme/themeOverride4.xml" ContentType="application/vnd.openxmlformats-officedocument.themeOverr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37.xml" ContentType="application/vnd.openxmlformats-officedocument.presentationml.slide+xml"/>
  <ns0:Override PartName="/ppt/notesSlides/notesSlide37.xml" ContentType="application/vnd.openxmlformats-officedocument.presentationml.notesSlide+xml"/>
  <ns0:Override PartName="/ppt/slides/slide38.xml" ContentType="application/vnd.openxmlformats-officedocument.presentationml.slide+xml"/>
  <ns0:Override PartName="/ppt/notesSlides/notesSlide38.xml" ContentType="application/vnd.openxmlformats-officedocument.presentationml.notesSlide+xml"/>
  <ns0:Override PartName="/ppt/slides/slide39.xml" ContentType="application/vnd.openxmlformats-officedocument.presentationml.slide+xml"/>
  <ns0:Override PartName="/ppt/notesSlides/notesSlide39.xml" ContentType="application/vnd.openxmlformats-officedocument.presentationml.notesSlide+xml"/>
  <ns0:Override PartName="/ppt/slides/slide40.xml" ContentType="application/vnd.openxmlformats-officedocument.presentationml.slide+xml"/>
  <ns0:Override PartName="/ppt/notesSlides/notesSlide40.xml" ContentType="application/vnd.openxmlformats-officedocument.presentationml.notesSlide+xml"/>
  <ns0:Override PartName="/ppt/slides/slide41.xml" ContentType="application/vnd.openxmlformats-officedocument.presentationml.slide+xml"/>
  <ns0:Override PartName="/ppt/notesSlides/notesSlide41.xml" ContentType="application/vnd.openxmlformats-officedocument.presentationml.notesSlide+xml"/>
  <ns0:Override PartName="/ppt/slides/slide42.xml" ContentType="application/vnd.openxmlformats-officedocument.presentationml.slide+xml"/>
  <ns0:Override PartName="/ppt/notesSlides/notesSlide42.xml" ContentType="application/vnd.openxmlformats-officedocument.presentationml.notesSlide+xml"/>
  <ns0:Override PartName="/ppt/slides/slide43.xml" ContentType="application/vnd.openxmlformats-officedocument.presentationml.slide+xml"/>
  <ns0:Override PartName="/ppt/notesSlides/notesSlide43.xml" ContentType="application/vnd.openxmlformats-officedocument.presentationml.notesSlide+xml"/>
  <ns0:Override PartName="/ppt/slides/slide44.xml" ContentType="application/vnd.openxmlformats-officedocument.presentationml.slide+xml"/>
  <ns0:Override PartName="/ppt/notesSlides/notesSlide44.xml" ContentType="application/vnd.openxmlformats-officedocument.presentationml.notesSlide+xml"/>
  <ns0:Override PartName="/ppt/slides/slide45.xml" ContentType="application/vnd.openxmlformats-officedocument.presentationml.slide+xml"/>
  <ns0:Override PartName="/ppt/notesSlides/notesSlide45.xml" ContentType="application/vnd.openxmlformats-officedocument.presentationml.notesSlide+xml"/>
  <ns0:Override PartName="/ppt/slides/slide46.xml" ContentType="application/vnd.openxmlformats-officedocument.presentationml.slide+xml"/>
  <ns0:Override PartName="/ppt/notesSlides/notesSlide46.xml" ContentType="application/vnd.openxmlformats-officedocument.presentationml.notesSlide+xml"/>
  <ns0:Override PartName="/ppt/slides/slide47.xml" ContentType="application/vnd.openxmlformats-officedocument.presentationml.slide+xml"/>
  <ns0:Override PartName="/ppt/notesSlides/notesSlide47.xml" ContentType="application/vnd.openxmlformats-officedocument.presentationml.notesSlide+xml"/>
  <ns0:Override PartName="/ppt/charts/chart6.xml" ContentType="application/vnd.openxmlformats-officedocument.drawingml.chart+xml"/>
  <ns0:Override PartName="/ppt/embeddings/templateFillChart1.xlsx" ContentType="application/vnd.openxmlformats-officedocument.spreadsheetml.sheet"/>
  <ns0:Override PartName="/ppt/charts/chart7.xml" ContentType="application/vnd.openxmlformats-officedocument.drawingml.chart+xml"/>
  <ns0:Override PartName="/ppt/embeddings/templateFillChart2.xlsx" ContentType="application/vnd.openxmlformats-officedocument.spreadsheetml.sheet"/>
  <ns0:Override PartName="/ppt/charts/chart8.xml" ContentType="application/vnd.openxmlformats-officedocument.drawingml.chart+xml"/>
  <ns0:Override PartName="/ppt/embeddings/templateFillChart3.xlsx" ContentType="application/vnd.openxmlformats-officedocument.spreadsheetml.sheet"/>
  <ns0:Override PartName="/ppt/slides/slide48.xml" ContentType="application/vnd.openxmlformats-officedocument.presentationml.slide+xml"/>
  <ns0:Override PartName="/ppt/notesSlides/notesSlide48.xml" ContentType="application/vnd.openxmlformats-officedocument.presentationml.notesSlide+xml"/>
  <ns0:Override PartName="/ppt/charts/chart9.xml" ContentType="application/vnd.openxmlformats-officedocument.drawingml.chart+xml"/>
  <ns0:Override PartName="/ppt/embeddings/templateFillChart4.xlsx" ContentType="application/vnd.openxmlformats-officedocument.spreadsheetml.sheet"/>
  <ns0:Override PartName="/ppt/slides/slide49.xml" ContentType="application/vnd.openxmlformats-officedocument.presentationml.slide+xml"/>
  <ns0:Override PartName="/ppt/notesSlides/notesSlide49.xml" ContentType="application/vnd.openxmlformats-officedocument.presentationml.notesSlide+xml"/>
  <ns0:Override PartName="/ppt/slides/slide50.xml" ContentType="application/vnd.openxmlformats-officedocument.presentationml.slide+xml"/>
  <ns0:Override PartName="/ppt/notesSlides/notesSlide50.xml" ContentType="application/vnd.openxmlformats-officedocument.presentationml.notesSlide+xml"/>
  <ns0:Override PartName="/ppt/slides/slide51.xml" ContentType="application/vnd.openxmlformats-officedocument.presentationml.slide+xml"/>
  <ns0:Override PartName="/ppt/notesSlides/notesSlide51.xml" ContentType="application/vnd.openxmlformats-officedocument.presentationml.notesSlide+xml"/>
  <ns0:Override PartName="/ppt/slides/slide52.xml" ContentType="application/vnd.openxmlformats-officedocument.presentationml.slide+xml"/>
  <ns0:Override PartName="/ppt/notesSlides/notesSlide52.xml" ContentType="application/vnd.openxmlformats-officedocument.presentationml.notes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38"/>
  </p:notesMasterIdLst>
  <p:sldIdLst>
    <p:sldId id="256" r:id="rId43"/>
    <p:sldId id="257" r:id="rId44"/>
    <p:sldId id="258" r:id="rId45"/>
    <p:sldId id="259" r:id="rId46"/>
    <p:sldId id="260" r:id="rId47"/>
    <p:sldId id="261" r:id="rId48"/>
    <p:sldId id="262" r:id="rId49"/>
    <p:sldId id="263" r:id="rId50"/>
    <p:sldId id="264" r:id="rId51"/>
    <p:sldId id="265" r:id="rId52"/>
    <p:sldId id="266" r:id="rId53"/>
    <p:sldId id="267" r:id="rId54"/>
    <p:sldId id="268" r:id="rId55"/>
    <p:sldId id="269" r:id="rId56"/>
    <p:sldId id="270" r:id="rId57"/>
    <p:sldId id="271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712" y="5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39" Type="http://schemas.openxmlformats.org/officeDocument/2006/relationships/presProps" Target="presProps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0" Type="http://schemas.openxmlformats.org/officeDocument/2006/relationships/viewProps" Target="viewProps.xml" /><Relationship Id="rId38" Type="http://schemas.openxmlformats.org/officeDocument/2006/relationships/notesMaster" Target="notesMasters/notesMaster1.xml" /><Relationship Id="rId43" Type="http://schemas.openxmlformats.org/officeDocument/2006/relationships/slide" Target="slides/slide37.xml" /><Relationship Id="rId44" Type="http://schemas.openxmlformats.org/officeDocument/2006/relationships/slide" Target="slides/slide38.xml" /><Relationship Id="rId45" Type="http://schemas.openxmlformats.org/officeDocument/2006/relationships/slide" Target="slides/slide39.xml" /><Relationship Id="rId46" Type="http://schemas.openxmlformats.org/officeDocument/2006/relationships/slide" Target="slides/slide40.xml" /><Relationship Id="rId47" Type="http://schemas.openxmlformats.org/officeDocument/2006/relationships/slide" Target="slides/slide41.xml" /><Relationship Id="rId48" Type="http://schemas.openxmlformats.org/officeDocument/2006/relationships/slide" Target="slides/slide42.xml" /><Relationship Id="rId49" Type="http://schemas.openxmlformats.org/officeDocument/2006/relationships/slide" Target="slides/slide43.xml" /><Relationship Id="rId50" Type="http://schemas.openxmlformats.org/officeDocument/2006/relationships/slide" Target="slides/slide44.xml" /><Relationship Id="rId51" Type="http://schemas.openxmlformats.org/officeDocument/2006/relationships/slide" Target="slides/slide45.xml" /><Relationship Id="rId52" Type="http://schemas.openxmlformats.org/officeDocument/2006/relationships/slide" Target="slides/slide46.xml" /><Relationship Id="rId53" Type="http://schemas.openxmlformats.org/officeDocument/2006/relationships/slide" Target="slides/slide47.xml" /><Relationship Id="rId54" Type="http://schemas.openxmlformats.org/officeDocument/2006/relationships/slide" Target="slides/slide48.xml" /><Relationship Id="rId55" Type="http://schemas.openxmlformats.org/officeDocument/2006/relationships/slide" Target="slides/slide49.xml" /><Relationship Id="rId56" Type="http://schemas.openxmlformats.org/officeDocument/2006/relationships/slide" Target="slides/slide50.xml" /><Relationship Id="rId57" Type="http://schemas.openxmlformats.org/officeDocument/2006/relationships/slide" Target="slides/slide51.xml" /><Relationship Id="rId58" Type="http://schemas.openxmlformats.org/officeDocument/2006/relationships/slide" Target="slides/slide52.xml" /></Relationships>
</file>

<file path=ppt/charts/_rels/chart6.xml.rels><?xml version='1.0' encoding='utf-8'?>
<Relationships xmlns="http://schemas.openxmlformats.org/package/2006/relationships"><Relationship Id="rId3" Type="http://schemas.openxmlformats.org/officeDocument/2006/relationships/themeOverride" Target="../theme/themeOverride2.xml" /><Relationship Id="rId2" Type="http://schemas.microsoft.com/office/2011/relationships/chartColorStyle" Target="colors2.xml" /><Relationship Id="rId1" Type="http://schemas.microsoft.com/office/2011/relationships/chartStyle" Target="style2.xml" /><Relationship Id="rId4" Type="http://schemas.openxmlformats.org/officeDocument/2006/relationships/package" Target="../embeddings/templateFillChart1.xlsx" /></Relationships>
</file>

<file path=ppt/charts/_rels/chart7.xml.rels><?xml version='1.0' encoding='utf-8'?>
<Relationships xmlns="http://schemas.openxmlformats.org/package/2006/relationships"><Relationship Id="rId3" Type="http://schemas.openxmlformats.org/officeDocument/2006/relationships/themeOverride" Target="../theme/themeOverride3.xml" /><Relationship Id="rId2" Type="http://schemas.microsoft.com/office/2011/relationships/chartColorStyle" Target="colors3.xml" /><Relationship Id="rId1" Type="http://schemas.microsoft.com/office/2011/relationships/chartStyle" Target="style3.xml" /><Relationship Id="rId4" Type="http://schemas.openxmlformats.org/officeDocument/2006/relationships/package" Target="../embeddings/templateFillChart2.xlsx" /></Relationships>
</file>

<file path=ppt/charts/_rels/chart8.xml.rels><?xml version='1.0' encoding='utf-8'?>
<Relationships xmlns="http://schemas.openxmlformats.org/package/2006/relationships"><Relationship Id="rId3" Type="http://schemas.openxmlformats.org/officeDocument/2006/relationships/themeOverride" Target="../theme/themeOverride4.xml" /><Relationship Id="rId2" Type="http://schemas.microsoft.com/office/2011/relationships/chartColorStyle" Target="colors4.xml" /><Relationship Id="rId1" Type="http://schemas.microsoft.com/office/2011/relationships/chartStyle" Target="style4.xml" /><Relationship Id="rId4" Type="http://schemas.openxmlformats.org/officeDocument/2006/relationships/package" Target="../embeddings/templateFillChart3.xlsx" /></Relationships>
</file>

<file path=ppt/charts/_rels/chart9.xml.rels><?xml version='1.0' encoding='utf-8'?>
<Relationships xmlns="http://schemas.openxmlformats.org/package/2006/relationships"><Relationship Id="rId3" Type="http://schemas.openxmlformats.org/officeDocument/2006/relationships/themeOverride" Target="../theme/themeOverride1.xml" /><Relationship Id="rId2" Type="http://schemas.microsoft.com/office/2011/relationships/chartColorStyle" Target="colors1.xml" /><Relationship Id="rId1" Type="http://schemas.microsoft.com/office/2011/relationships/chartStyle" Target="style1.xml" /><Relationship Id="rId4" Type="http://schemas.openxmlformats.org/officeDocument/2006/relationships/package" Target="../embeddings/templateFillChart4.xlsx" /></Relationships>
</file>

<file path=ppt/charts/chart6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ns5="http://schemas.microsoft.com/office/drawing/2017/03/chart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WTI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uri="{C3380CC4-5D6E-409C-BE32-E72D297353CC}">
                <c16:uniqueId val="{00000001-CEF3-4A9C-B89D-5507D5152DDF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uri="{C3380CC4-5D6E-409C-BE32-E72D297353CC}">
                <c16:uniqueId val="{00000003-CEF3-4A9C-B89D-5507D5152DDF}"/>
              </c:ext>
            </c:extLst>
          </c:dPt>
          <c:cat>
            <c:strRef>
              <c:f>Sheet1!$A$2:$A$3</c:f>
              <c:strCache>
                <c:ptCount val="2"/>
                <c:pt idx="0">
                  <c:v>标准差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2.901</c:v>
                </c:pt>
                <c:pt idx="1">
                  <c:v>97.099</c:v>
                </c:pt>
              </c:numCache>
            </c:numRef>
          </c:val>
          <c:extLst>
            <c:ext uri="{C3380CC4-5D6E-409C-BE32-E72D297353CC}">
              <c16:uniqueId val="{00000004-CEF3-4A9C-B89D-5507D5152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uri="{56B9EC1D-385E-4148-901F-78D8002777C0}">
        <ns5:dataDisplayOptions16>
          <ns5:dispNaAsBlank val="1"/>
        </ns5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ns5="http://schemas.microsoft.com/office/drawing/2017/03/chart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uri="{C3380CC4-5D6E-409C-BE32-E72D297353CC}">
                <c16:uniqueId val="{00000001-8A63-4A03-A113-B06BBDC2A59D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uri="{C3380CC4-5D6E-409C-BE32-E72D297353CC}">
                <c16:uniqueId val="{00000003-8A63-4A03-A113-B06BBDC2A59D}"/>
              </c:ext>
            </c:extLst>
          </c:dPt>
          <c:cat>
            <c:strRef>
              <c:f>Sheet1!$A$2:$A$3</c:f>
              <c:strCache>
                <c:ptCount val="2"/>
                <c:pt idx="0">
                  <c:v>标准差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2.984</c:v>
                </c:pt>
                <c:pt idx="1">
                  <c:v>97.016</c:v>
                </c:pt>
              </c:numCache>
            </c:numRef>
          </c:val>
          <c:extLst>
            <c:ext uri="{C3380CC4-5D6E-409C-BE32-E72D297353CC}">
              <c16:uniqueId val="{00000004-8A63-4A03-A113-B06BBDC2A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uri="{56B9EC1D-385E-4148-901F-78D8002777C0}">
        <ns5:dataDisplayOptions16>
          <ns5:dispNaAsBlank val="1"/>
        </ns5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ns5="http://schemas.microsoft.com/office/drawing/2017/03/chart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相关系数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uri="{C3380CC4-5D6E-409C-BE32-E72D297353CC}">
                <c16:uniqueId val="{00000001-BA7F-48E9-BCF7-3E2E0CCA0F22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uri="{C3380CC4-5D6E-409C-BE32-E72D297353CC}">
                <c16:uniqueId val="{00000003-BA7F-48E9-BCF7-3E2E0CCA0F22}"/>
              </c:ext>
            </c:extLst>
          </c:dPt>
          <c:cat>
            <c:strRef>
              <c:f>Sheet1!$A$2:$A$3</c:f>
              <c:strCache>
                <c:ptCount val="2"/>
                <c:pt idx="0">
                  <c:v>相关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84.5</c:v>
                </c:pt>
                <c:pt idx="1">
                  <c:v>15.5</c:v>
                </c:pt>
              </c:numCache>
            </c:numRef>
          </c:val>
          <c:extLst>
            <c:ext uri="{C3380CC4-5D6E-409C-BE32-E72D297353CC}">
              <c16:uniqueId val="{00000004-BA7F-48E9-BCF7-3E2E0CCA0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uri="{56B9EC1D-385E-4148-901F-78D8002777C0}">
        <ns5:dataDisplayOptions16>
          <ns5:dispNaAsBlank val="1"/>
        </ns5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mc="http://schemas.openxmlformats.org/markup-compatibility/2006" xmlns:ns5="http://schemas.microsoft.com/office/drawing/2017/03/chart" xmlns:r="http://schemas.openxmlformats.org/officeDocument/2006/relationships">
  <c:date1904 val="0"/>
  <c:lang val="zh-CN"/>
  <c:roundedCorners val="0"/>
  <mc:AlternateContent>
    <mc:Choice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2018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年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XXXX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发展趋势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WTI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0.214</c:v>
                </c:pt>
                <c:pt idx="1">
                  <c:v>-3.681</c:v>
                </c:pt>
                <c:pt idx="2">
                  <c:v>2.567</c:v>
                </c:pt>
                <c:pt idx="3">
                  <c:v>-10.198</c:v>
                </c:pt>
                <c:pt idx="4">
                  <c:v>-0.165</c:v>
                </c:pt>
              </c:numCache>
            </c:numRef>
          </c:val>
          <c:extLst>
            <c:ext uri="{C3380CC4-5D6E-409C-BE32-E72D297353CC}">
              <c16:uniqueId val="{00000000-6774-4E8F-815F-0F817A8ACD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2.265</c:v>
                </c:pt>
                <c:pt idx="1">
                  <c:v>2.859</c:v>
                </c:pt>
                <c:pt idx="2">
                  <c:v>2.474</c:v>
                </c:pt>
                <c:pt idx="3">
                  <c:v>13.552</c:v>
                </c:pt>
                <c:pt idx="4">
                  <c:v>-0.711</c:v>
                </c:pt>
              </c:numCache>
            </c:numRef>
          </c:val>
          <c:extLst>
            <c:ext uri="{C3380CC4-5D6E-409C-BE32-E72D297353CC}">
              <c16:uniqueId val="{00000001-6774-4E8F-815F-0F817A8ACD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929066816"/>
        <c:axId val="-929088032"/>
      </c:barChart>
      <c:catAx>
        <c:axId val="-92906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929088032"/>
        <c:crosses val="autoZero"/>
        <c:auto val="1"/>
        <c:lblAlgn val="ctr"/>
        <c:lblOffset val="100"/>
        <c:noMultiLvlLbl val="0"/>
      </c:catAx>
      <c:valAx>
        <c:axId val="-92908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929066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uri="{56B9EC1D-385E-4148-901F-78D8002777C0}">
        <ns5:dataDisplayOptions16>
          <ns5:dispNaAsBlank val="1"/>
        </ns5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07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7.xml" /></Relationships>
</file>

<file path=ppt/notesSlides/_rels/notesSlide3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8.xml" /></Relationships>
</file>

<file path=ppt/notesSlides/_rels/notesSlide3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9.xml" /></Relationships>
</file>

<file path=ppt/notesSlides/_rels/notesSlide4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0.xml" /></Relationships>
</file>

<file path=ppt/notesSlides/_rels/notesSlide4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1.xml" /></Relationships>
</file>

<file path=ppt/notesSlides/_rels/notesSlide4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2.xml" /></Relationships>
</file>

<file path=ppt/notesSlides/_rels/notesSlide4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3.xml" /></Relationships>
</file>

<file path=ppt/notesSlides/_rels/notesSlide4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4.xml" /></Relationships>
</file>

<file path=ppt/notesSlides/_rels/notesSlide4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5.xml" /></Relationships>
</file>

<file path=ppt/notesSlides/_rels/notesSlide4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6.xml" /></Relationships>
</file>

<file path=ppt/notesSlides/_rels/notesSlide4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7.xml" /></Relationships>
</file>

<file path=ppt/notesSlides/_rels/notesSlide4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8.xml" /></Relationships>
</file>

<file path=ppt/notesSlides/_rels/notesSlide4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9.xml" /></Relationships>
</file>

<file path=ppt/notesSlides/_rels/notesSlide5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0.xml" /></Relationships>
</file>

<file path=ppt/notesSlides/_rels/notesSlide5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1.xml" /></Relationships>
</file>

<file path=ppt/notesSlides/_rels/notesSlide5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2.xml" /></Relationship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各位老师好，我汇报的题目是中东冲突对国际油价冲击。本文使用事件研究和中断时间序列，比较五次关键事件后 WTI 与 Brent 的相对异常反应。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汇报分为四部分。先说明研究问题和数据，再介绍统计方法链，随后展示核心实证结果，最后总结结论与不足。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首先从经济机制出发，说明为什么中东冲突可能快速传导到国际油价，并据此提出可检验的研究假设。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冲突并不一定要实际减少产量才会影响油价。供应设施、航运通道、市场预期和风险溢价四条渠道可以同时作用，因此价格反应往往具有突发性和非对称性。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本文的核心不是只观察油价是否上涨，而是识别每个事件的异常反应是否具有统计显著性，并比较不同事件和不同基准油价之间的差异。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价格数据采用 FRED 日度 WTI 与 Brent，冲突背景使用 ACLED 周度汇总数据。事件样本由外部新闻事实与冲突严重程度确定，避免根据油价结果反向挑选事件。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在明确数据与事件后，下面介绍完整统计方法链。方法设计同时回答短期异常收益、动态水平变化和序列结构变化三个问题。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整个分析从外部事实确定事件开始，先估计正常收益和 CAR，再用 ITS 分离即时与趋势冲击，最后通过残差诊断、稳健标准误和结构断点进行验证。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事件研究的关键是构造反事实，即如果没有事件，油价收益率本应是多少。实际收益与市场模型预测值的差异就是异常收益，跨事件窗口累加后得到 CAR。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CAR 描述事件窗口内的累计异常收益，而 ITS 进一步把冲击拆成事件后的即时水平变化和后续趋势变化。由于金融收益率可能存在异方差和自相关，最终推断采用 Newey-West 标准误。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下面进入实证结果。重点关注三个层面：收益率的基本特征、CAR 的事件排序，以及 ITS 和结构断点能否提供一致证据。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WTI 和 Brent 的日收益率均呈现高峰厚尾，说明极端波动出现频率高于正态分布。两者相关系数为零点八四五，但并非完全同步，这为相对异常收益分析提供了变化空间。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主窗口零到加三日中，E4 的相对异常反应最强，并在多重检验修正后仍显著。WTI 的负 CAR 不是绝对价格必然下跌，而是相对于作为市场因子的 Brent 表现更弱。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ITS 与 CAR 给出了互补证据。E3 对 Brent 的即时冲击和 E4 对 WTI 的相对即时冲击在 Newey-West 修正后显著，同时断点集中在 E3 对应交易日前后。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综合来看，冲突事件的市场影响具有明显异质性，真正涉及出口设施和地区供应风险的事件更容易产生稳健异常反应。本文结果应理解为相对价格反应，未来可通过独立商品市场因子和逐事件 ACLED 数据提高因果识别。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我的汇报到这里结束，感谢各位老师的聆听，欢迎批评指正。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4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5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36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79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93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58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69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66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3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1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45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jpg" /><Relationship Id="rId7" Type="http://schemas.openxmlformats.org/officeDocument/2006/relationships/notesSlide" Target="../notesSlides/notesSlide37.xml" /></Relationships>
</file>

<file path=ppt/slides/_rels/slide38.xml.rels><?xml version='1.0' encoding='utf-8'?>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Relationship Id="rId7" Type="http://schemas.openxmlformats.org/officeDocument/2006/relationships/notesSlide" Target="../notesSlides/notesSlide38.xml" /></Relationships>
</file>

<file path=ppt/slides/_rels/slide39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6" Type="http://schemas.openxmlformats.org/officeDocument/2006/relationships/notesSlide" Target="../notesSlides/notesSlide39.xml" /></Relationships>
</file>

<file path=ppt/slides/_rels/slide40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7" Type="http://schemas.openxmlformats.org/officeDocument/2006/relationships/image" Target="../media/image16.jpe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5.jpeg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8" Type="http://schemas.openxmlformats.org/officeDocument/2006/relationships/notesSlide" Target="../notesSlides/notesSlide40.xml" /></Relationships>
</file>

<file path=ppt/slides/_rels/slide41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7" Type="http://schemas.openxmlformats.org/officeDocument/2006/relationships/notesSlide" Target="../notesSlides/notesSlide41.xml" /></Relationships>
</file>

<file path=ppt/slides/_rels/slide42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6" Type="http://schemas.openxmlformats.org/officeDocument/2006/relationships/notesSlide" Target="../notesSlides/notesSlide42.xml" /></Relationships>
</file>

<file path=ppt/slides/_rels/slide43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6" Type="http://schemas.openxmlformats.org/officeDocument/2006/relationships/notesSlide" Target="../notesSlides/notesSlide43.xml" /></Relationships>
</file>

<file path=ppt/slides/_rels/slide44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7" Type="http://schemas.openxmlformats.org/officeDocument/2006/relationships/notesSlide" Target="../notesSlides/notesSlide44.xml" /></Relationships>
</file>

<file path=ppt/slides/_rels/slide45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7" Type="http://schemas.openxmlformats.org/officeDocument/2006/relationships/notesSlide" Target="../notesSlides/notesSlide45.xml" /></Relationships>
</file>

<file path=ppt/slides/_rels/slide46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6" Type="http://schemas.openxmlformats.org/officeDocument/2006/relationships/notesSlide" Target="../notesSlides/notesSlide46.xml" /></Relationships>
</file>

<file path=ppt/slides/_rels/slide47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6" Type="http://schemas.openxmlformats.org/officeDocument/2006/relationships/notesSlide" Target="../notesSlides/notesSlide47.xml" /></Relationships>
</file>

<file path=ppt/slides/_rels/slide48.xml.rels><?xml version='1.0' encoding='utf-8'?>
<Relationships xmlns="http://schemas.openxmlformats.org/package/2006/relationships"><Relationship Id="rId8" Type="http://schemas.openxmlformats.org/officeDocument/2006/relationships/chart" Target="../charts/chart8.xml" /><Relationship Id="rId3" Type="http://schemas.microsoft.com/office/2007/relationships/hdphoto" Target="../media/hdphoto1.wdp" /><Relationship Id="rId7" Type="http://schemas.openxmlformats.org/officeDocument/2006/relationships/chart" Target="../charts/chart7.xml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6" Type="http://schemas.openxmlformats.org/officeDocument/2006/relationships/chart" Target="../charts/chart6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9" Type="http://schemas.openxmlformats.org/officeDocument/2006/relationships/notesSlide" Target="../notesSlides/notesSlide48.xml" /></Relationships>
</file>

<file path=ppt/slides/_rels/slide49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6" Type="http://schemas.openxmlformats.org/officeDocument/2006/relationships/chart" Target="../charts/chart9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7" Type="http://schemas.openxmlformats.org/officeDocument/2006/relationships/notesSlide" Target="../notesSlides/notesSlide49.xml" /></Relationships>
</file>

<file path=ppt/slides/_rels/slide50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6" Type="http://schemas.openxmlformats.org/officeDocument/2006/relationships/notesSlide" Target="../notesSlides/notesSlide50.xml" /></Relationships>
</file>

<file path=ppt/slides/_rels/slide51.xml.rels><?xml version='1.0' encoding='utf-8'?>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6" Type="http://schemas.openxmlformats.org/officeDocument/2006/relationships/notesSlide" Target="../notesSlides/notesSlide51.xml" /></Relationships>
</file>

<file path=ppt/slides/_rels/slide52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42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34.jpg" /><Relationship Id="rId8" Type="http://schemas.openxmlformats.org/officeDocument/2006/relationships/notesSlide" Target="../notesSlides/notesSlide52.xml" /></Relationships>
</file>

<file path=ppt/slides/slide37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ns2:creationId id="{974FAECE-52C2-4A19-98CB-143BFA01D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ns2:creationId id="{FE573614-05E6-400F-AF88-EA6961E083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ns4:useLocalDpi val="0"/>
              </a:ext>
            </a:extLst>
          </a:blip>
          <a:srcRect t="7863"/>
          <a:stretch/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ns2:creationId id="{C9FC9252-9697-4073-AFE0-28B73C8FCF98}"/>
              </a:ext>
            </a:extLst>
          </p:cNvPr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>
            <a:extLst>
              <a:ext uri="{FF2B5EF4-FFF2-40B4-BE49-F238E27FC236}">
                <ns2:creationId id="{193FE55D-C9BC-4524-BCA9-805B717C2634}"/>
              </a:ext>
            </a:extLst>
          </p:cNvPr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>
            <a:extLst>
              <a:ext uri="{FF2B5EF4-FFF2-40B4-BE49-F238E27FC236}">
                <ns2:creationId id="{A430C48D-9E63-4B2D-94B2-FD35F0F118B3}"/>
              </a:ext>
            </a:extLst>
          </p:cNvPr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>
            <a:extLst>
              <a:ext uri="{FF2B5EF4-FFF2-40B4-BE49-F238E27FC236}">
                <ns2:creationId id="{DC882D8F-DD28-475A-9EE6-2E7CBB373069}"/>
              </a:ext>
            </a:extLst>
          </p:cNvPr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>
            <a:extLst>
              <a:ext uri="{FF2B5EF4-FFF2-40B4-BE49-F238E27FC236}">
                <ns2:creationId id="{AEC1EBF5-5340-4DC9-8A70-4D38A7CD9401}"/>
              </a:ext>
            </a:extLst>
          </p:cNvPr>
          <p:cNvSpPr txBox="1">
            <a:spLocks/>
          </p:cNvSpPr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汇报人：XXX</a:t>
            </a:r>
          </a:p>
        </p:txBody>
      </p:sp>
      <p:sp>
        <p:nvSpPr>
          <p:cNvPr id="16" name="文本占位符 31">
            <a:extLst>
              <a:ext uri="{FF2B5EF4-FFF2-40B4-BE49-F238E27FC236}">
                <ns2:creationId id="{DF081BEA-0677-4367-99A9-244DBE9DC50B}"/>
              </a:ext>
            </a:extLst>
          </p:cNvPr>
          <p:cNvSpPr txBox="1">
            <a:spLocks/>
          </p:cNvSpPr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指导教师：XXX</a:t>
            </a:r>
          </a:p>
        </p:txBody>
      </p:sp>
      <p:sp>
        <p:nvSpPr>
          <p:cNvPr id="17" name="文本占位符 32">
            <a:extLst>
              <a:ext uri="{FF2B5EF4-FFF2-40B4-BE49-F238E27FC236}">
                <ns2:creationId id="{272C9CE6-48E9-484C-AF23-6EFF74EA78D6}"/>
              </a:ext>
            </a:extLst>
          </p:cNvPr>
          <p:cNvSpPr txBox="1">
            <a:spLocks/>
          </p:cNvSpPr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2026年6月12日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</a:p>
        </p:txBody>
      </p:sp>
      <p:sp>
        <p:nvSpPr>
          <p:cNvPr id="24" name="文本占位符 24">
            <a:extLst>
              <a:ext uri="{FF2B5EF4-FFF2-40B4-BE49-F238E27FC236}">
                <ns2:creationId id="{A49E83CE-18D3-4A6B-8794-76401D64547B}"/>
              </a:ext>
            </a:extLst>
          </p:cNvPr>
          <p:cNvSpPr txBox="1">
            <a:spLocks/>
          </p:cNvSpPr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ysClr val="window" lastClr="FFFFFF"/>
                </a:solidFill>
              </a:rPr>
              <a:t>中东冲突对国际油价冲击
事件研究法与回归分析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</a:p>
        </p:txBody>
      </p:sp>
      <p:sp>
        <p:nvSpPr>
          <p:cNvPr id="25" name="文本占位符 27">
            <a:extLst>
              <a:ext uri="{FF2B5EF4-FFF2-40B4-BE49-F238E27FC236}">
                <ns2:creationId id="{8AC2E976-0B7D-4741-A5E4-598AC5CF5CED}"/>
              </a:ext>
            </a:extLst>
          </p:cNvPr>
          <p:cNvSpPr txBox="1">
            <a:spLocks/>
          </p:cNvSpPr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数理统计课程作业答辩</a:t>
            </a:r>
            <a:r>
              <a:rPr lang="en-US" altLang="zh-CN" dirty="0">
                <a:solidFill>
                  <a:sysClr val="window" lastClr="FFFFFF"/>
                </a:solidFill>
              </a:rPr>
              <a:t/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ns2:creationId id="{B9984857-D4DE-4A88-B618-4A71AD549DFA}"/>
              </a:ext>
            </a:extLst>
          </p:cNvPr>
          <p:cNvCxnSpPr>
            <a:cxnSpLocks/>
          </p:cNvCxnSpPr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ns2:creationId id="{84995886-2C45-43AA-97AB-D7F04D61C9DF}"/>
              </a:ext>
            </a:extLst>
          </p:cNvPr>
          <p:cNvGrpSpPr/>
          <p:nvPr/>
        </p:nvGrpSpPr>
        <p:grpSpPr>
          <a:xfrm>
            <a:off x="3879975" y="981574"/>
            <a:ext cx="4918925" cy="1253932"/>
            <a:chOff x="751446" y="486412"/>
            <a:chExt cx="4918925" cy="1253932"/>
          </a:xfrm>
        </p:grpSpPr>
        <p:pic>
          <p:nvPicPr>
            <p:cNvPr id="21" name="图片 20">
              <a:extLst>
                <a:ext uri="{FF2B5EF4-FFF2-40B4-BE49-F238E27FC236}">
                  <ns2:creationId id="{06EB3F4A-6D0E-42C9-A048-FCD40EC74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ns2:creationId id="{EB2FA68D-EEA8-4FAB-AD8F-D4B373F2E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ns2:creationId id="{3B0BCE8E-261E-425C-A6BF-96341D5501E7}"/>
                </a:ext>
              </a:extLst>
            </p:cNvPr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1400" b="1" dirty="0">
                  <a:solidFill>
                    <a:prstClr val="white"/>
                  </a:solidFill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val="433541658"/>
      </p:ext>
    </p:extLst>
  </p:cSld>
  <p:clrMapOvr>
    <a:masterClrMapping/>
  </p:clrMapOvr>
  <p:transition p14:dur="500">
    <p:fade/>
  </p:transition>
  <mc:AlternateContent>
    <mc:Choice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>
            <a:extLst>
              <a:ext uri="{FF2B5EF4-FFF2-40B4-BE49-F238E27FC236}">
                <ns2:creationId id="{DAF5AB12-05DE-4714-943A-B41A5AA7C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6030031" y="522153"/>
            <a:ext cx="6049548" cy="604954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ns2:creationId id="{98AE344B-6678-453A-82EF-ACEA0B8BC1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ns4:useLocalDpi val="0"/>
              </a:ext>
            </a:extLst>
          </a:blip>
          <a:srcRect l="12290" r="16132"/>
          <a:stretch/>
        </p:blipFill>
        <p:spPr>
          <a:xfrm>
            <a:off x="1" y="-1"/>
            <a:ext cx="6240014" cy="687298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ns2:creationId id="{4C588F26-1CFB-40E2-96B3-8F047D3BF6CF}"/>
              </a:ext>
            </a:extLst>
          </p:cNvPr>
          <p:cNvSpPr/>
          <p:nvPr/>
        </p:nvSpPr>
        <p:spPr>
          <a:xfrm>
            <a:off x="-19601" y="0"/>
            <a:ext cx="6259616" cy="687299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ns2:creationId id="{982EF669-C6C0-4501-BB74-B2334633C168}"/>
              </a:ext>
            </a:extLst>
          </p:cNvPr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>
              <a:extLst>
                <a:ext uri="{FF2B5EF4-FFF2-40B4-BE49-F238E27FC236}">
                  <ns2:creationId id="{4315C31A-B49E-4E2A-8ED7-7B1309176C6E}"/>
                </a:ext>
              </a:extLst>
            </p:cNvPr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ns2:creationId id="{5AFEF92C-A8B8-425A-8984-6CD39896DBBD}"/>
                </a:ext>
              </a:extLst>
            </p:cNvPr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  <a:extLst>
                  <a:ext uri="{FF2B5EF4-FFF2-40B4-BE49-F238E27FC236}">
                    <ns2:creationId id="{CCA2D74D-60CD-4B4B-899F-3CB6F1FDCE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78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89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/>
                    <a:ea typeface="微软雅黑"/>
                    <a:cs typeface="+mn-cs"/>
                    <a:sym typeface="Calibri" panose="020F0502020204030204" pitchFamily="34" charset="0"/>
                  </a:rPr>
                  <a:t>CONTENTS</a:t>
                </a: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  <a:extLst>
                  <a:ext uri="{FF2B5EF4-FFF2-40B4-BE49-F238E27FC236}">
                    <ns2:creationId id="{28ABCAB4-C892-46A6-941B-6D634EB439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78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89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/>
                    <a:ea typeface="微软雅黑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ns2:creationId id="{9016EEE6-E325-4DBA-BDD6-4D6694C4CC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>
            <a:extLst>
              <a:ext uri="{FF2B5EF4-FFF2-40B4-BE49-F238E27FC236}">
                <ns2:creationId id="{35B453DA-1046-402C-A089-32D076E8E824}"/>
              </a:ext>
            </a:extLst>
          </p:cNvPr>
          <p:cNvGrpSpPr/>
          <p:nvPr/>
        </p:nvGrpSpPr>
        <p:grpSpPr>
          <a:xfrm>
            <a:off x="5519934" y="111241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>
              <a:extLst>
                <a:ext uri="{FF2B5EF4-FFF2-40B4-BE49-F238E27FC236}">
                  <ns2:creationId id="{1C3599B1-4D20-4671-BEF4-65C9EAB2EF63}"/>
                </a:ext>
              </a:extLst>
            </p:cNvPr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<a:extLst>
                <a:ext uri="{FF2B5EF4-FFF2-40B4-BE49-F238E27FC236}">
                  <ns2:creationId id="{EAADFE1E-A461-4378-BEA8-75231538E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78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89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/>
                  <a:cs typeface="+mn-cs"/>
                  <a:sym typeface="Calibri" panose="020F0502020204030204" pitchFamily="34" charset="0"/>
                </a:rPr>
                <a:t>01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ns2:creationId id="{4970C482-E917-4E9C-8032-BAB8936864D8}"/>
              </a:ext>
            </a:extLst>
          </p:cNvPr>
          <p:cNvGrpSpPr/>
          <p:nvPr/>
        </p:nvGrpSpPr>
        <p:grpSpPr>
          <a:xfrm>
            <a:off x="5519935" y="252857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>
              <a:extLst>
                <a:ext uri="{FF2B5EF4-FFF2-40B4-BE49-F238E27FC236}">
                  <ns2:creationId id="{5074975E-4160-4ABC-83BA-52F95D6FAE33}"/>
                </a:ext>
              </a:extLst>
            </p:cNvPr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<a:extLst>
                <a:ext uri="{FF2B5EF4-FFF2-40B4-BE49-F238E27FC236}">
                  <ns2:creationId id="{84FFBF53-D805-421A-99CF-D9D620664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78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89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/>
                  <a:cs typeface="+mn-cs"/>
                  <a:sym typeface="Calibri" panose="020F0502020204030204" pitchFamily="34" charset="0"/>
                </a:rPr>
                <a:t>02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ns2:creationId id="{BC60539A-8499-4BCF-946B-6DE06AF2DECE}"/>
              </a:ext>
            </a:extLst>
          </p:cNvPr>
          <p:cNvGrpSpPr/>
          <p:nvPr/>
        </p:nvGrpSpPr>
        <p:grpSpPr>
          <a:xfrm>
            <a:off x="5450291" y="394473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>
              <a:extLst>
                <a:ext uri="{FF2B5EF4-FFF2-40B4-BE49-F238E27FC236}">
                  <ns2:creationId id="{FF5FE659-7881-4AF9-A9CF-E6AD04EC8B87}"/>
                </a:ext>
              </a:extLst>
            </p:cNvPr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<a:extLst>
                <a:ext uri="{FF2B5EF4-FFF2-40B4-BE49-F238E27FC236}">
                  <ns2:creationId id="{CAAECA3F-97A8-40B1-BEB6-CCE170797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78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89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/>
                  <a:cs typeface="+mn-cs"/>
                  <a:sym typeface="Calibri" panose="020F0502020204030204" pitchFamily="34" charset="0"/>
                </a:rPr>
                <a:t>03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ns2:creationId id="{580A86CF-94B2-49DC-9665-3DE1EDCEDD8A}"/>
              </a:ext>
            </a:extLst>
          </p:cNvPr>
          <p:cNvGrpSpPr/>
          <p:nvPr/>
        </p:nvGrpSpPr>
        <p:grpSpPr>
          <a:xfrm>
            <a:off x="5519934" y="5360888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平行四边形 20">
              <a:extLst>
                <a:ext uri="{FF2B5EF4-FFF2-40B4-BE49-F238E27FC236}">
                  <ns2:creationId id="{B6953C13-7DA7-4AD5-9982-5FCBFAE8A407}"/>
                </a:ext>
              </a:extLst>
            </p:cNvPr>
            <p:cNvSpPr/>
            <p:nvPr/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>
              <a:extLst>
                <a:ext uri="{FF2B5EF4-FFF2-40B4-BE49-F238E27FC236}">
                  <ns2:creationId id="{1FB668B5-504A-45EC-9177-67DE40B62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78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89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/>
                  <a:cs typeface="+mn-cs"/>
                  <a:sym typeface="Calibri" panose="020F0502020204030204" pitchFamily="34" charset="0"/>
                </a:rPr>
                <a:t>04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ns2:creationId id="{54BC3BCA-73BF-4FEB-88D5-9844DF5D9EBC}"/>
              </a:ext>
            </a:extLst>
          </p:cNvPr>
          <p:cNvGrpSpPr/>
          <p:nvPr/>
        </p:nvGrpSpPr>
        <p:grpSpPr>
          <a:xfrm>
            <a:off x="7407883" y="968193"/>
            <a:ext cx="3293850" cy="884773"/>
            <a:chOff x="7214249" y="968193"/>
            <a:chExt cx="3293850" cy="884773"/>
          </a:xfrm>
        </p:grpSpPr>
        <p:sp>
          <p:nvSpPr>
            <p:cNvPr id="31" name="文本框 6">
              <a:extLst>
                <a:ext uri="{FF2B5EF4-FFF2-40B4-BE49-F238E27FC236}">
                  <ns2:creationId id="{C899EBEE-CC0D-4B8B-9EEE-2A3DAA398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4:hiddenFill>
                  <a:solidFill>
                    <a:srgbClr val="FFFFFF"/>
                  </a:solidFill>
                </ns4:hiddenFill>
              </a:ext>
              <a:ext uri="{91240B29-F687-4F45-9708-019B960494DF}">
                <ns4:hiddenLine w="9525">
                  <a:solidFill>
                    <a:srgbClr val="000000"/>
                  </a:solidFill>
                  <a:miter lim="800000"/>
                  <a:headEnd/>
                  <a:tailEnd/>
                </ns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研究背景与问题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ns2:creationId id="{AD671BE5-EE71-4C68-B014-C90597F99B6A}"/>
                </a:ext>
              </a:extLst>
            </p:cNvPr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Calibri Light" panose="020F0302020204030204" pitchFamily="34" charset="0"/>
                  <a:ea typeface="方正兰亭黑_GBK"/>
                  <a:cs typeface="+mn-cs"/>
                </a:rPr>
                <a:t>BACKGROUND &amp; QUESTIONS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ns2:creationId id="{7A792E68-ECED-4266-AD5B-7154FCCC3942}"/>
              </a:ext>
            </a:extLst>
          </p:cNvPr>
          <p:cNvGrpSpPr/>
          <p:nvPr/>
        </p:nvGrpSpPr>
        <p:grpSpPr>
          <a:xfrm>
            <a:off x="7407883" y="2416386"/>
            <a:ext cx="3293850" cy="884773"/>
            <a:chOff x="7214249" y="968193"/>
            <a:chExt cx="3293850" cy="884773"/>
          </a:xfrm>
        </p:grpSpPr>
        <p:sp>
          <p:nvSpPr>
            <p:cNvPr id="35" name="文本框 6">
              <a:extLst>
                <a:ext uri="{FF2B5EF4-FFF2-40B4-BE49-F238E27FC236}">
                  <ns2:creationId id="{ED30204A-DDC1-4584-96D5-D437F336A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4:hiddenFill>
                  <a:solidFill>
                    <a:srgbClr val="FFFFFF"/>
                  </a:solidFill>
                </ns4:hiddenFill>
              </a:ext>
              <a:ext uri="{91240B29-F687-4F45-9708-019B960494DF}">
                <ns4:hiddenLine w="9525">
                  <a:solidFill>
                    <a:srgbClr val="000000"/>
                  </a:solidFill>
                  <a:miter lim="800000"/>
                  <a:headEnd/>
                  <a:tailEnd/>
                </ns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统计方法与设计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ns2:creationId id="{5FCE09B7-57AD-4676-8121-397255830982}"/>
                </a:ext>
              </a:extLst>
            </p:cNvPr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Calibri Light" panose="020F0302020204030204" pitchFamily="34" charset="0"/>
                  <a:ea typeface="方正兰亭黑_GBK"/>
                  <a:cs typeface="+mn-cs"/>
                </a:rPr>
                <a:t>METHODS &amp; DESIGN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ns2:creationId id="{122DE716-345A-445F-B495-E383499D21AA}"/>
              </a:ext>
            </a:extLst>
          </p:cNvPr>
          <p:cNvGrpSpPr/>
          <p:nvPr/>
        </p:nvGrpSpPr>
        <p:grpSpPr>
          <a:xfrm>
            <a:off x="7407883" y="3832543"/>
            <a:ext cx="3293850" cy="884773"/>
            <a:chOff x="7214249" y="968193"/>
            <a:chExt cx="3293850" cy="884773"/>
          </a:xfrm>
        </p:grpSpPr>
        <p:sp>
          <p:nvSpPr>
            <p:cNvPr id="38" name="文本框 6">
              <a:extLst>
                <a:ext uri="{FF2B5EF4-FFF2-40B4-BE49-F238E27FC236}">
                  <ns2:creationId id="{524F2D32-773B-4BA6-9058-69F7A78A1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4:hiddenFill>
                  <a:solidFill>
                    <a:srgbClr val="FFFFFF"/>
                  </a:solidFill>
                </ns4:hiddenFill>
              </a:ext>
              <a:ext uri="{91240B29-F687-4F45-9708-019B960494DF}">
                <ns4:hiddenLine w="9525">
                  <a:solidFill>
                    <a:srgbClr val="000000"/>
                  </a:solidFill>
                  <a:miter lim="800000"/>
                  <a:headEnd/>
                  <a:tailEnd/>
                </ns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实证结果与解释</a:t>
              </a:r>
            </a:p>
          </p:txBody>
        </p:sp>
        <p:sp>
          <p:nvSpPr>
            <p:cNvPr id="39" name="矩形 38">
              <a:extLst>
                <a:ext uri="{FF2B5EF4-FFF2-40B4-BE49-F238E27FC236}">
                  <ns2:creationId id="{8D15B863-622B-4F2B-8429-6EB49974F4B8}"/>
                </a:ext>
              </a:extLst>
            </p:cNvPr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Calibri Light" panose="020F0302020204030204" pitchFamily="34" charset="0"/>
                  <a:ea typeface="方正兰亭黑_GBK"/>
                  <a:cs typeface="+mn-cs"/>
                </a:rPr>
                <a:t>EMPIRICAL RESULTS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ns2:creationId id="{2BFABF98-9E6D-4259-87A4-B2E76894721B}"/>
              </a:ext>
            </a:extLst>
          </p:cNvPr>
          <p:cNvGrpSpPr/>
          <p:nvPr/>
        </p:nvGrpSpPr>
        <p:grpSpPr>
          <a:xfrm>
            <a:off x="7407883" y="5264329"/>
            <a:ext cx="3293850" cy="884773"/>
            <a:chOff x="7214249" y="968193"/>
            <a:chExt cx="3293850" cy="884773"/>
          </a:xfrm>
        </p:grpSpPr>
        <p:sp>
          <p:nvSpPr>
            <p:cNvPr id="41" name="文本框 6">
              <a:extLst>
                <a:ext uri="{FF2B5EF4-FFF2-40B4-BE49-F238E27FC236}">
                  <ns2:creationId id="{7152E97E-0C4C-4293-9228-A0D624792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4249" y="968193"/>
              <a:ext cx="2698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4:hiddenFill>
                  <a:solidFill>
                    <a:srgbClr val="FFFFFF"/>
                  </a:solidFill>
                </ns4:hiddenFill>
              </a:ext>
              <a:ext uri="{91240B29-F687-4F45-9708-019B960494DF}">
                <ns4:hiddenLine w="9525">
                  <a:solidFill>
                    <a:srgbClr val="000000"/>
                  </a:solidFill>
                  <a:miter lim="800000"/>
                  <a:headEnd/>
                  <a:tailEnd/>
                </ns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结论、局限与展望</a:t>
              </a:r>
            </a:p>
          </p:txBody>
        </p:sp>
        <p:sp>
          <p:nvSpPr>
            <p:cNvPr id="42" name="矩形 41">
              <a:extLst>
                <a:ext uri="{FF2B5EF4-FFF2-40B4-BE49-F238E27FC236}">
                  <ns2:creationId id="{B10F3CF3-DED9-4F1C-A6B4-D73E0A0D6C17}"/>
                </a:ext>
              </a:extLst>
            </p:cNvPr>
            <p:cNvSpPr/>
            <p:nvPr/>
          </p:nvSpPr>
          <p:spPr>
            <a:xfrm>
              <a:off x="7214249" y="1483634"/>
              <a:ext cx="3293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37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Calibri Light" panose="020F0302020204030204" pitchFamily="34" charset="0"/>
                  <a:ea typeface="方正兰亭黑_GBK"/>
                  <a:cs typeface="+mn-cs"/>
                </a:rPr>
                <a:t>CONCLUSION &amp; OUTLOOK</a:t>
              </a:r>
            </a:p>
          </p:txBody>
        </p:sp>
      </p:grpSp>
      <p:pic>
        <p:nvPicPr>
          <p:cNvPr id="23" name="图片 22">
            <a:extLst>
              <a:ext uri="{FF2B5EF4-FFF2-40B4-BE49-F238E27FC236}">
                <ns2:creationId id="{5713DC1F-F878-423B-A86A-01A78769C1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9813545" y="6447112"/>
            <a:ext cx="2093426" cy="334487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C3106A62-5189-4F65-BFF2-91D4DD704A6E}"/>
              </a:ext>
            </a:extLst>
          </p:cNvPr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44" name="图片 43">
              <a:extLst>
                <a:ext uri="{FF2B5EF4-FFF2-40B4-BE49-F238E27FC236}">
                  <ns2:creationId id="{B0E8E5A5-E622-48B8-8E27-E612B1E92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4110209A-E4D8-4572-A966-525233F0A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7" name="矩形 46">
              <a:extLst>
                <a:ext uri="{FF2B5EF4-FFF2-40B4-BE49-F238E27FC236}">
                  <ns2:creationId id="{33CB3645-5119-4F09-8628-678420F17571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</a:p>
          </p:txBody>
        </p:sp>
      </p:grpSp>
    </p:spTree>
    <p:extLst>
      <p:ext uri="{BB962C8B-B14F-4D97-AF65-F5344CB8AC3E}">
        <p14:creationId val="2957472605"/>
      </p:ext>
    </p:extLst>
  </p:cSld>
  <p:clrMapOvr>
    <a:masterClrMapping/>
  </p:clrMapOvr>
  <p:transition p14:dur="500">
    <p:fade/>
  </p:transition>
  <mc:AlternateContent>
    <mc:Choice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ns2:creationId id="{6C40D3CC-77A7-4EF7-B123-60B81ACA3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>
            <a:extLst>
              <a:ext uri="{FF2B5EF4-FFF2-40B4-BE49-F238E27FC236}">
                <ns2:creationId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ns2:creationId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研究背景与问题</a:t>
            </a:r>
          </a:p>
        </p:txBody>
      </p:sp>
      <p:grpSp>
        <p:nvGrpSpPr>
          <p:cNvPr id="4" name="组合 3">
            <a:extLst>
              <a:ext uri="{FF2B5EF4-FFF2-40B4-BE49-F238E27FC236}">
                <ns2:creationId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ns2:creationId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ns2:creationId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ns2:creationId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ns2:creationId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ns2:creationId id="{32FBF787-E511-4917-B553-A562828617B2}"/>
              </a:ext>
            </a:extLst>
          </p:cNvPr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ns2:creationId id="{CE435AFB-C13D-4C6C-A251-4DFD2FBA1CBA}"/>
              </a:ext>
            </a:extLst>
          </p:cNvPr>
          <p:cNvSpPr/>
          <p:nvPr/>
        </p:nvSpPr>
        <p:spPr>
          <a:xfrm>
            <a:off x="2156111" y="4424107"/>
            <a:ext cx="60889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cs typeface="+mn-cs"/>
              </a:rPr>
              <a:t>冲突升级如何改变石油供应预期、航运安全与风险溢价？</a:t>
            </a:r>
          </a:p>
        </p:txBody>
      </p:sp>
      <p:pic>
        <p:nvPicPr>
          <p:cNvPr id="22" name="图片 21">
            <a:extLst>
              <a:ext uri="{FF2B5EF4-FFF2-40B4-BE49-F238E27FC236}">
                <ns2:creationId id="{238EB420-7087-463D-907F-0BDF70FC2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ns2:creationId id="{5FC3661D-9232-451A-BFEE-4549D7DF0858}"/>
              </a:ext>
            </a:extLst>
          </p:cNvPr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>
              <a:extLst>
                <a:ext uri="{FF2B5EF4-FFF2-40B4-BE49-F238E27FC236}">
                  <ns2:creationId id="{6426CA03-B54C-4E11-BBD3-920EB24A6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ns2:creationId id="{1C55E38C-6740-4923-ACEF-D98A0947D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>
              <a:extLst>
                <a:ext uri="{FF2B5EF4-FFF2-40B4-BE49-F238E27FC236}">
                  <ns2:creationId id="{0EA1DC3D-6BB9-4E11-A0FD-ECC673B23442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</a:p>
          </p:txBody>
        </p:sp>
      </p:grpSp>
    </p:spTree>
    <p:extLst>
      <p:ext uri="{BB962C8B-B14F-4D97-AF65-F5344CB8AC3E}">
        <p14:creationId val="1135273168"/>
      </p:ext>
    </p:extLst>
  </p:cSld>
  <p:clrMapOvr>
    <a:masterClrMapping/>
  </p:clrMapOvr>
  <p:transition p14:dur="500">
    <p:push dir="r"/>
  </p:transition>
  <mc:AlternateContent>
    <mc:Choice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冲突传导机制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pic>
        <p:nvPicPr>
          <p:cNvPr id="13" name="图片占位符 74">
            <a:extLst>
              <a:ext uri="{FF2B5EF4-FFF2-40B4-BE49-F238E27FC236}">
                <ns2:creationId id="{CF664A14-2BB5-439F-8B5C-9429964EEF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1245868" y="1268751"/>
            <a:ext cx="2146243" cy="2146243"/>
          </a:xfrm>
          <a:custGeom>
            <a:avLst/>
            <a:gdLst>
              <a:gd name="connsiteX0" fmla="*/ 1073150 w 2146300"/>
              <a:gd name="connsiteY0" fmla="*/ 0 h 2146300"/>
              <a:gd name="connsiteX1" fmla="*/ 2146300 w 2146300"/>
              <a:gd name="connsiteY1" fmla="*/ 1073150 h 2146300"/>
              <a:gd name="connsiteX2" fmla="*/ 1073150 w 2146300"/>
              <a:gd name="connsiteY2" fmla="*/ 2146300 h 2146300"/>
              <a:gd name="connsiteX3" fmla="*/ 0 w 2146300"/>
              <a:gd name="connsiteY3" fmla="*/ 1073150 h 2146300"/>
              <a:gd name="connsiteX4" fmla="*/ 1073150 w 2146300"/>
              <a:gd name="connsiteY4" fmla="*/ 0 h 21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6300" h="2146300">
                <a:moveTo>
                  <a:pt x="1073150" y="0"/>
                </a:moveTo>
                <a:cubicBezTo>
                  <a:pt x="1665834" y="0"/>
                  <a:pt x="2146300" y="480466"/>
                  <a:pt x="2146300" y="1073150"/>
                </a:cubicBezTo>
                <a:cubicBezTo>
                  <a:pt x="2146300" y="1665834"/>
                  <a:pt x="1665834" y="2146300"/>
                  <a:pt x="1073150" y="2146300"/>
                </a:cubicBezTo>
                <a:cubicBezTo>
                  <a:pt x="480466" y="2146300"/>
                  <a:pt x="0" y="1665834"/>
                  <a:pt x="0" y="1073150"/>
                </a:cubicBezTo>
                <a:cubicBezTo>
                  <a:pt x="0" y="480466"/>
                  <a:pt x="480466" y="0"/>
                  <a:pt x="1073150" y="0"/>
                </a:cubicBezTo>
                <a:close/>
              </a:path>
            </a:pathLst>
          </a:custGeom>
        </p:spPr>
      </p:pic>
      <p:sp>
        <p:nvSpPr>
          <p:cNvPr id="14" name="文本占位符 14">
            <a:extLst>
              <a:ext uri="{FF2B5EF4-FFF2-40B4-BE49-F238E27FC236}">
                <ns2:creationId id="{6C8FBF3D-AC0D-4B24-B5C7-F7987AE1F49C}"/>
              </a:ext>
            </a:extLst>
          </p:cNvPr>
          <p:cNvSpPr txBox="1">
            <a:spLocks/>
          </p:cNvSpPr>
          <p:nvPr/>
        </p:nvSpPr>
        <p:spPr>
          <a:xfrm>
            <a:off x="1626840" y="3680727"/>
            <a:ext cx="1145772" cy="442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供应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81">
            <a:extLst>
              <a:ext uri="{FF2B5EF4-FFF2-40B4-BE49-F238E27FC236}">
                <ns2:creationId id="{7CDA351F-2B67-4809-8F41-4E2DE8068020}"/>
              </a:ext>
            </a:extLst>
          </p:cNvPr>
          <p:cNvSpPr txBox="1">
            <a:spLocks/>
          </p:cNvSpPr>
          <p:nvPr/>
        </p:nvSpPr>
        <p:spPr>
          <a:xfrm>
            <a:off x="1554218" y="4233343"/>
            <a:ext cx="2146300" cy="193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核设施、油田和出口终端受到威胁，市场上调潜在供应损失。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片占位符 76">
            <a:extLst>
              <a:ext uri="{FF2B5EF4-FFF2-40B4-BE49-F238E27FC236}">
                <ns2:creationId id="{08627EC0-CA06-451F-BCAF-B8F51E2403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3700551" y="1268758"/>
            <a:ext cx="2146236" cy="2146236"/>
          </a:xfrm>
          <a:custGeom>
            <a:avLst/>
            <a:gdLst>
              <a:gd name="connsiteX0" fmla="*/ 1073150 w 2146300"/>
              <a:gd name="connsiteY0" fmla="*/ 0 h 2146300"/>
              <a:gd name="connsiteX1" fmla="*/ 2146300 w 2146300"/>
              <a:gd name="connsiteY1" fmla="*/ 1073150 h 2146300"/>
              <a:gd name="connsiteX2" fmla="*/ 1073150 w 2146300"/>
              <a:gd name="connsiteY2" fmla="*/ 2146300 h 2146300"/>
              <a:gd name="connsiteX3" fmla="*/ 0 w 2146300"/>
              <a:gd name="connsiteY3" fmla="*/ 1073150 h 2146300"/>
              <a:gd name="connsiteX4" fmla="*/ 1073150 w 2146300"/>
              <a:gd name="connsiteY4" fmla="*/ 0 h 21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6300" h="2146300">
                <a:moveTo>
                  <a:pt x="1073150" y="0"/>
                </a:moveTo>
                <a:cubicBezTo>
                  <a:pt x="1665834" y="0"/>
                  <a:pt x="2146300" y="480466"/>
                  <a:pt x="2146300" y="1073150"/>
                </a:cubicBezTo>
                <a:cubicBezTo>
                  <a:pt x="2146300" y="1665834"/>
                  <a:pt x="1665834" y="2146300"/>
                  <a:pt x="1073150" y="2146300"/>
                </a:cubicBezTo>
                <a:cubicBezTo>
                  <a:pt x="480466" y="2146300"/>
                  <a:pt x="0" y="1665834"/>
                  <a:pt x="0" y="1073150"/>
                </a:cubicBezTo>
                <a:cubicBezTo>
                  <a:pt x="0" y="480466"/>
                  <a:pt x="480466" y="0"/>
                  <a:pt x="1073150" y="0"/>
                </a:cubicBezTo>
                <a:close/>
              </a:path>
            </a:pathLst>
          </a:custGeom>
        </p:spPr>
      </p:pic>
      <p:sp>
        <p:nvSpPr>
          <p:cNvPr id="18" name="文本占位符 22">
            <a:extLst>
              <a:ext uri="{FF2B5EF4-FFF2-40B4-BE49-F238E27FC236}">
                <ns2:creationId id="{8856356E-9E9F-4ABF-914C-65BAD91E7B8A}"/>
              </a:ext>
            </a:extLst>
          </p:cNvPr>
          <p:cNvSpPr txBox="1">
            <a:spLocks/>
          </p:cNvSpPr>
          <p:nvPr/>
        </p:nvSpPr>
        <p:spPr>
          <a:xfrm>
            <a:off x="4081518" y="3680727"/>
            <a:ext cx="1145772" cy="442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航运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占位符 82">
            <a:extLst>
              <a:ext uri="{FF2B5EF4-FFF2-40B4-BE49-F238E27FC236}">
                <ns2:creationId id="{D472CC4F-4DDB-46AD-AD0F-8A0CB279B9A3}"/>
              </a:ext>
            </a:extLst>
          </p:cNvPr>
          <p:cNvSpPr txBox="1">
            <a:spLocks/>
          </p:cNvSpPr>
          <p:nvPr/>
        </p:nvSpPr>
        <p:spPr>
          <a:xfrm>
            <a:off x="4008896" y="4233343"/>
            <a:ext cx="2146300" cy="1937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霍尔木兹海峡等通道受阻预期推高运输、保险与交割成本。</a:t>
            </a: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" name="图片占位符 78">
            <a:extLst>
              <a:ext uri="{FF2B5EF4-FFF2-40B4-BE49-F238E27FC236}">
                <ns2:creationId id="{E807C046-8F39-4D0A-B866-3F7FC3768F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6155196" y="1275721"/>
            <a:ext cx="2146300" cy="2146300"/>
          </a:xfrm>
          <a:custGeom>
            <a:avLst/>
            <a:gdLst>
              <a:gd name="connsiteX0" fmla="*/ 1073150 w 2146300"/>
              <a:gd name="connsiteY0" fmla="*/ 0 h 2146300"/>
              <a:gd name="connsiteX1" fmla="*/ 2146300 w 2146300"/>
              <a:gd name="connsiteY1" fmla="*/ 1073150 h 2146300"/>
              <a:gd name="connsiteX2" fmla="*/ 1073150 w 2146300"/>
              <a:gd name="connsiteY2" fmla="*/ 2146300 h 2146300"/>
              <a:gd name="connsiteX3" fmla="*/ 0 w 2146300"/>
              <a:gd name="connsiteY3" fmla="*/ 1073150 h 2146300"/>
              <a:gd name="connsiteX4" fmla="*/ 1073150 w 2146300"/>
              <a:gd name="connsiteY4" fmla="*/ 0 h 21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6300" h="2146300">
                <a:moveTo>
                  <a:pt x="1073150" y="0"/>
                </a:moveTo>
                <a:cubicBezTo>
                  <a:pt x="1665834" y="0"/>
                  <a:pt x="2146300" y="480466"/>
                  <a:pt x="2146300" y="1073150"/>
                </a:cubicBezTo>
                <a:cubicBezTo>
                  <a:pt x="2146300" y="1665834"/>
                  <a:pt x="1665834" y="2146300"/>
                  <a:pt x="1073150" y="2146300"/>
                </a:cubicBezTo>
                <a:cubicBezTo>
                  <a:pt x="480466" y="2146300"/>
                  <a:pt x="0" y="1665834"/>
                  <a:pt x="0" y="1073150"/>
                </a:cubicBezTo>
                <a:cubicBezTo>
                  <a:pt x="0" y="480466"/>
                  <a:pt x="480466" y="0"/>
                  <a:pt x="1073150" y="0"/>
                </a:cubicBezTo>
                <a:close/>
              </a:path>
            </a:pathLst>
          </a:custGeom>
        </p:spPr>
      </p:pic>
      <p:sp>
        <p:nvSpPr>
          <p:cNvPr id="21" name="文本占位符 26">
            <a:extLst>
              <a:ext uri="{FF2B5EF4-FFF2-40B4-BE49-F238E27FC236}">
                <ns2:creationId id="{DB781CE7-7D09-42A3-998F-1D1108BE76AC}"/>
              </a:ext>
            </a:extLst>
          </p:cNvPr>
          <p:cNvSpPr txBox="1">
            <a:spLocks/>
          </p:cNvSpPr>
          <p:nvPr/>
        </p:nvSpPr>
        <p:spPr>
          <a:xfrm>
            <a:off x="6536196" y="3680727"/>
            <a:ext cx="1145772" cy="442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占位符 83">
            <a:extLst>
              <a:ext uri="{FF2B5EF4-FFF2-40B4-BE49-F238E27FC236}">
                <ns2:creationId id="{BF728B3E-6F9E-4756-9758-BBF33BF79DD8}"/>
              </a:ext>
            </a:extLst>
          </p:cNvPr>
          <p:cNvSpPr txBox="1">
            <a:spLocks/>
          </p:cNvSpPr>
          <p:nvPr/>
        </p:nvSpPr>
        <p:spPr>
          <a:xfrm>
            <a:off x="6463574" y="4233343"/>
            <a:ext cx="2146300" cy="1937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交易者在真实减产前提前定价，造成事件日前后价格快速调整。</a:t>
            </a: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" name="图片占位符 80">
            <a:extLst>
              <a:ext uri="{FF2B5EF4-FFF2-40B4-BE49-F238E27FC236}">
                <ns2:creationId id="{E0844C2E-564D-4118-A9DE-73854F8916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8609872" y="1275726"/>
            <a:ext cx="2146299" cy="2146299"/>
          </a:xfrm>
          <a:custGeom>
            <a:avLst/>
            <a:gdLst>
              <a:gd name="connsiteX0" fmla="*/ 1073150 w 2146300"/>
              <a:gd name="connsiteY0" fmla="*/ 0 h 2146300"/>
              <a:gd name="connsiteX1" fmla="*/ 2146300 w 2146300"/>
              <a:gd name="connsiteY1" fmla="*/ 1073150 h 2146300"/>
              <a:gd name="connsiteX2" fmla="*/ 1073150 w 2146300"/>
              <a:gd name="connsiteY2" fmla="*/ 2146300 h 2146300"/>
              <a:gd name="connsiteX3" fmla="*/ 0 w 2146300"/>
              <a:gd name="connsiteY3" fmla="*/ 1073150 h 2146300"/>
              <a:gd name="connsiteX4" fmla="*/ 1073150 w 2146300"/>
              <a:gd name="connsiteY4" fmla="*/ 0 h 214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6300" h="2146300">
                <a:moveTo>
                  <a:pt x="1073150" y="0"/>
                </a:moveTo>
                <a:cubicBezTo>
                  <a:pt x="1665834" y="0"/>
                  <a:pt x="2146300" y="480466"/>
                  <a:pt x="2146300" y="1073150"/>
                </a:cubicBezTo>
                <a:cubicBezTo>
                  <a:pt x="2146300" y="1665834"/>
                  <a:pt x="1665834" y="2146300"/>
                  <a:pt x="1073150" y="2146300"/>
                </a:cubicBezTo>
                <a:cubicBezTo>
                  <a:pt x="480466" y="2146300"/>
                  <a:pt x="0" y="1665834"/>
                  <a:pt x="0" y="1073150"/>
                </a:cubicBezTo>
                <a:cubicBezTo>
                  <a:pt x="0" y="480466"/>
                  <a:pt x="480466" y="0"/>
                  <a:pt x="1073150" y="0"/>
                </a:cubicBezTo>
                <a:close/>
              </a:path>
            </a:pathLst>
          </a:custGeom>
        </p:spPr>
      </p:pic>
      <p:sp>
        <p:nvSpPr>
          <p:cNvPr id="24" name="文本占位符 71">
            <a:extLst>
              <a:ext uri="{FF2B5EF4-FFF2-40B4-BE49-F238E27FC236}">
                <ns2:creationId id="{212361D7-94D9-4890-8B47-806C423A3A40}"/>
              </a:ext>
            </a:extLst>
          </p:cNvPr>
          <p:cNvSpPr txBox="1">
            <a:spLocks/>
          </p:cNvSpPr>
          <p:nvPr/>
        </p:nvSpPr>
        <p:spPr>
          <a:xfrm>
            <a:off x="8990874" y="3680727"/>
            <a:ext cx="1145772" cy="442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溢价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84">
            <a:extLst>
              <a:ext uri="{FF2B5EF4-FFF2-40B4-BE49-F238E27FC236}">
                <ns2:creationId id="{8C5D1C08-A6B7-44CA-8A39-D4C90F19727B}"/>
              </a:ext>
            </a:extLst>
          </p:cNvPr>
          <p:cNvSpPr txBox="1">
            <a:spLocks/>
          </p:cNvSpPr>
          <p:nvPr/>
        </p:nvSpPr>
        <p:spPr>
          <a:xfrm>
            <a:off x="8918252" y="4233343"/>
            <a:ext cx="2146300" cy="1937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地缘政治不确定性提高持有与套期保值需求，放大短期波动。</a:t>
            </a:r>
          </a:p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val="191220235"/>
      </p:ext>
    </p:extLst>
  </p:cSld>
  <p:clrMapOvr>
    <a:masterClrMapping/>
  </p:clrMapOvr>
  <p:transition p14:dur="500">
    <p:fade/>
  </p:transition>
  <mc:AlternateContent>
    <mc:Choice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研究问题与三项假设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ns2:creationId id="{A6F3582F-9EEB-4DAB-955E-1EDF8F32D6AA}"/>
              </a:ext>
            </a:extLst>
          </p:cNvPr>
          <p:cNvGrpSpPr/>
          <p:nvPr/>
        </p:nvGrpSpPr>
        <p:grpSpPr>
          <a:xfrm>
            <a:off x="1322006" y="3265478"/>
            <a:ext cx="1819616" cy="1819616"/>
            <a:chOff x="1699695" y="2430291"/>
            <a:chExt cx="1819616" cy="1819616"/>
          </a:xfrm>
        </p:grpSpPr>
        <p:sp>
          <p:nvSpPr>
            <p:cNvPr id="14" name="椭圆 13">
              <a:extLst>
                <a:ext uri="{FF2B5EF4-FFF2-40B4-BE49-F238E27FC236}">
                  <ns2:creationId id="{BB5EF333-F336-41CF-9705-B89FFDB931A2}"/>
                </a:ext>
              </a:extLst>
            </p:cNvPr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/>
                  <a:ea typeface="微软雅黑 Light"/>
                </a:rPr>
                <a:t>01</a:t>
              </a:r>
              <a:endParaRPr lang="zh-CN" altLang="en-US" sz="3600" kern="0" dirty="0">
                <a:solidFill>
                  <a:srgbClr val="FFFFFF"/>
                </a:solidFill>
                <a:latin typeface="Segoe UI"/>
                <a:ea typeface="微软雅黑 Light"/>
              </a:endParaRPr>
            </a:p>
          </p:txBody>
        </p:sp>
        <p:sp>
          <p:nvSpPr>
            <p:cNvPr id="15" name="弧形 14">
              <a:extLst>
                <a:ext uri="{FF2B5EF4-FFF2-40B4-BE49-F238E27FC236}">
                  <ns2:creationId id="{7C29D58A-BE31-4E80-9119-1938FE1F9B0A}"/>
                </a:ext>
              </a:extLst>
            </p:cNvPr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rgbClr val="02428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/>
                <a:ea typeface="微软雅黑 Ligh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ns2:creationId id="{2AC95265-62B2-44A6-A8D8-D19B43D77756}"/>
              </a:ext>
            </a:extLst>
          </p:cNvPr>
          <p:cNvGrpSpPr/>
          <p:nvPr/>
        </p:nvGrpSpPr>
        <p:grpSpPr>
          <a:xfrm>
            <a:off x="4059179" y="1980180"/>
            <a:ext cx="1819616" cy="1819616"/>
            <a:chOff x="1699695" y="2430291"/>
            <a:chExt cx="1819616" cy="1819616"/>
          </a:xfrm>
        </p:grpSpPr>
        <p:sp>
          <p:nvSpPr>
            <p:cNvPr id="18" name="椭圆 17">
              <a:extLst>
                <a:ext uri="{FF2B5EF4-FFF2-40B4-BE49-F238E27FC236}">
                  <ns2:creationId id="{BD753CD6-14E3-4FE9-B9AA-3EB26F7DDD7F}"/>
                </a:ext>
              </a:extLst>
            </p:cNvPr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微软雅黑 Light"/>
                </a:rPr>
                <a:t>02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微软雅黑 Light"/>
              </a:endParaRPr>
            </a:p>
          </p:txBody>
        </p:sp>
        <p:sp>
          <p:nvSpPr>
            <p:cNvPr id="19" name="弧形 18">
              <a:extLst>
                <a:ext uri="{FF2B5EF4-FFF2-40B4-BE49-F238E27FC236}">
                  <ns2:creationId id="{D4BA0639-1A19-4930-B8B1-1FA2729146D7}"/>
                </a:ext>
              </a:extLst>
            </p:cNvPr>
            <p:cNvSpPr/>
            <p:nvPr/>
          </p:nvSpPr>
          <p:spPr>
            <a:xfrm rot="2784046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"/>
                <a:ea typeface="微软雅黑 Light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ns2:creationId id="{84D9523E-4278-46C1-A943-6A3A106E4DF5}"/>
              </a:ext>
            </a:extLst>
          </p:cNvPr>
          <p:cNvGrpSpPr/>
          <p:nvPr/>
        </p:nvGrpSpPr>
        <p:grpSpPr>
          <a:xfrm>
            <a:off x="6549030" y="3095868"/>
            <a:ext cx="1819616" cy="1819616"/>
            <a:chOff x="1699695" y="2430291"/>
            <a:chExt cx="1819616" cy="1819616"/>
          </a:xfrm>
        </p:grpSpPr>
        <p:sp>
          <p:nvSpPr>
            <p:cNvPr id="21" name="椭圆 20">
              <a:extLst>
                <a:ext uri="{FF2B5EF4-FFF2-40B4-BE49-F238E27FC236}">
                  <ns2:creationId id="{5E5AA3D6-9691-467B-96CF-F4AF0DE9B895}"/>
                </a:ext>
              </a:extLst>
            </p:cNvPr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zh-CN" sz="3600" kern="0" dirty="0">
                  <a:solidFill>
                    <a:srgbClr val="FFFFFF"/>
                  </a:solidFill>
                  <a:latin typeface="Segoe UI"/>
                  <a:ea typeface="微软雅黑 Light"/>
                </a:rPr>
                <a:t>03</a:t>
              </a:r>
              <a:endParaRPr lang="zh-CN" altLang="en-US" sz="3600" kern="0" dirty="0">
                <a:solidFill>
                  <a:srgbClr val="FFFFFF"/>
                </a:solidFill>
                <a:latin typeface="Segoe UI"/>
                <a:ea typeface="微软雅黑 Light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ns2:creationId id="{532853C5-F0AA-466E-B46B-59B437739362}"/>
                </a:ext>
              </a:extLst>
            </p:cNvPr>
            <p:cNvSpPr/>
            <p:nvPr/>
          </p:nvSpPr>
          <p:spPr>
            <a:xfrm rot="7941625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rgbClr val="024282"/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EA5504"/>
                </a:solidFill>
                <a:latin typeface="Segoe UI Semilight"/>
                <a:ea typeface="微软雅黑 Ligh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ns2:creationId id="{677F0699-474C-4493-B149-7A60D9B8A59B}"/>
              </a:ext>
            </a:extLst>
          </p:cNvPr>
          <p:cNvGrpSpPr/>
          <p:nvPr/>
        </p:nvGrpSpPr>
        <p:grpSpPr>
          <a:xfrm>
            <a:off x="9133212" y="1957678"/>
            <a:ext cx="1819616" cy="1819616"/>
            <a:chOff x="1699695" y="2430291"/>
            <a:chExt cx="1819616" cy="1819616"/>
          </a:xfrm>
        </p:grpSpPr>
        <p:sp>
          <p:nvSpPr>
            <p:cNvPr id="24" name="椭圆 23">
              <a:extLst>
                <a:ext uri="{FF2B5EF4-FFF2-40B4-BE49-F238E27FC236}">
                  <ns2:creationId id="{01756FC4-3FF6-470D-9B50-F0C6CD812A72}"/>
                </a:ext>
              </a:extLst>
            </p:cNvPr>
            <p:cNvSpPr/>
            <p:nvPr/>
          </p:nvSpPr>
          <p:spPr>
            <a:xfrm>
              <a:off x="1870075" y="2600673"/>
              <a:ext cx="1478853" cy="1478853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微软雅黑 Light"/>
                </a:rPr>
                <a:t>04</a:t>
              </a:r>
              <a:endPara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微软雅黑 Light"/>
              </a:endParaRPr>
            </a:p>
          </p:txBody>
        </p:sp>
        <p:sp>
          <p:nvSpPr>
            <p:cNvPr id="25" name="弧形 24">
              <a:extLst>
                <a:ext uri="{FF2B5EF4-FFF2-40B4-BE49-F238E27FC236}">
                  <ns2:creationId id="{3D335ACC-5D82-4E1A-83DA-7C6EEBCB0569}"/>
                </a:ext>
              </a:extLst>
            </p:cNvPr>
            <p:cNvSpPr/>
            <p:nvPr/>
          </p:nvSpPr>
          <p:spPr>
            <a:xfrm rot="2810902" flipH="1">
              <a:off x="1699695" y="2430291"/>
              <a:ext cx="1819616" cy="1819616"/>
            </a:xfrm>
            <a:prstGeom prst="arc">
              <a:avLst>
                <a:gd name="adj1" fmla="val 14586031"/>
                <a:gd name="adj2" fmla="val 1762864"/>
              </a:avLst>
            </a:prstGeom>
            <a:noFill/>
            <a:ln w="1905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  <a:headEnd type="stealth" w="lg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A5504"/>
                </a:solidFill>
                <a:effectLst/>
                <a:uLnTx/>
                <a:uFillTx/>
                <a:latin typeface="Segoe UI Semilight"/>
                <a:ea typeface="微软雅黑 Light"/>
              </a:endParaRPr>
            </a:p>
          </p:txBody>
        </p:sp>
      </p:grpSp>
      <p:sp>
        <p:nvSpPr>
          <p:cNvPr id="26" name="文本占位符 50">
            <a:extLst>
              <a:ext uri="{FF2B5EF4-FFF2-40B4-BE49-F238E27FC236}">
                <ns2:creationId id="{2468CC00-EE6E-4DA4-BFA0-E7988D94C2A7}"/>
              </a:ext>
            </a:extLst>
          </p:cNvPr>
          <p:cNvSpPr txBox="1">
            <a:spLocks/>
          </p:cNvSpPr>
          <p:nvPr/>
        </p:nvSpPr>
        <p:spPr>
          <a:xfrm>
            <a:off x="1463089" y="1974730"/>
            <a:ext cx="1624919" cy="4397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sp>
        <p:nvSpPr>
          <p:cNvPr id="27" name="文本占位符 50">
            <a:extLst>
              <a:ext uri="{FF2B5EF4-FFF2-40B4-BE49-F238E27FC236}">
                <ns2:creationId id="{D746CB43-F21C-41A8-9828-CC1A1CF3D7C4}"/>
              </a:ext>
            </a:extLst>
          </p:cNvPr>
          <p:cNvSpPr txBox="1">
            <a:spLocks/>
          </p:cNvSpPr>
          <p:nvPr/>
        </p:nvSpPr>
        <p:spPr>
          <a:xfrm>
            <a:off x="912710" y="2437489"/>
            <a:ext cx="2725677" cy="7102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分离五次冲击，比较显著性与经济幅度</a:t>
            </a:r>
          </a:p>
        </p:txBody>
      </p:sp>
      <p:sp>
        <p:nvSpPr>
          <p:cNvPr id="28" name="文本占位符 50">
            <a:extLst>
              <a:ext uri="{FF2B5EF4-FFF2-40B4-BE49-F238E27FC236}">
                <ns2:creationId id="{277A50AD-9650-45F7-9B2B-D30EBB2E862F}"/>
              </a:ext>
            </a:extLst>
          </p:cNvPr>
          <p:cNvSpPr txBox="1">
            <a:spLocks/>
          </p:cNvSpPr>
          <p:nvPr/>
        </p:nvSpPr>
        <p:spPr>
          <a:xfrm>
            <a:off x="6646379" y="1974730"/>
            <a:ext cx="1624919" cy="4397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 基准</a:t>
            </a:r>
          </a:p>
        </p:txBody>
      </p:sp>
      <p:sp>
        <p:nvSpPr>
          <p:cNvPr id="29" name="文本占位符 50">
            <a:extLst>
              <a:ext uri="{FF2B5EF4-FFF2-40B4-BE49-F238E27FC236}">
                <ns2:creationId id="{C3254B60-EE06-4133-89F3-815BBBE25F52}"/>
              </a:ext>
            </a:extLst>
          </p:cNvPr>
          <p:cNvSpPr txBox="1">
            <a:spLocks/>
          </p:cNvSpPr>
          <p:nvPr/>
        </p:nvSpPr>
        <p:spPr>
          <a:xfrm>
            <a:off x="6096000" y="2437489"/>
            <a:ext cx="2725677" cy="7102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2764A7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Brent 对中东冲突的反应强于 WTI</a:t>
            </a:r>
          </a:p>
        </p:txBody>
      </p:sp>
      <p:sp>
        <p:nvSpPr>
          <p:cNvPr id="30" name="文本占位符 50">
            <a:extLst>
              <a:ext uri="{FF2B5EF4-FFF2-40B4-BE49-F238E27FC236}">
                <ns2:creationId id="{D31F10AC-2211-40B7-8E54-1DBCD2E3CBC6}"/>
              </a:ext>
            </a:extLst>
          </p:cNvPr>
          <p:cNvSpPr txBox="1">
            <a:spLocks/>
          </p:cNvSpPr>
          <p:nvPr/>
        </p:nvSpPr>
        <p:spPr>
          <a:xfrm>
            <a:off x="4156528" y="4117917"/>
            <a:ext cx="1624919" cy="4397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 异常</a:t>
            </a:r>
          </a:p>
        </p:txBody>
      </p:sp>
      <p:sp>
        <p:nvSpPr>
          <p:cNvPr id="31" name="文本占位符 50">
            <a:extLst>
              <a:ext uri="{FF2B5EF4-FFF2-40B4-BE49-F238E27FC236}">
                <ns2:creationId id="{1F24FAA0-6355-4C5B-AB5E-8696946D03FC}"/>
              </a:ext>
            </a:extLst>
          </p:cNvPr>
          <p:cNvSpPr txBox="1">
            <a:spLocks/>
          </p:cNvSpPr>
          <p:nvPr/>
        </p:nvSpPr>
        <p:spPr>
          <a:xfrm>
            <a:off x="3606149" y="4580676"/>
            <a:ext cx="2725677" cy="7102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重大冲突事件产生显著累计异常收益</a:t>
            </a:r>
          </a:p>
        </p:txBody>
      </p:sp>
      <p:sp>
        <p:nvSpPr>
          <p:cNvPr id="32" name="文本占位符 50">
            <a:extLst>
              <a:ext uri="{FF2B5EF4-FFF2-40B4-BE49-F238E27FC236}">
                <ns2:creationId id="{7F3F87D2-B232-48F5-B104-601B39649BF3}"/>
              </a:ext>
            </a:extLst>
          </p:cNvPr>
          <p:cNvSpPr txBox="1">
            <a:spLocks/>
          </p:cNvSpPr>
          <p:nvPr/>
        </p:nvSpPr>
        <p:spPr>
          <a:xfrm>
            <a:off x="9230561" y="4117917"/>
            <a:ext cx="1624919" cy="4397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H3 类型</a:t>
            </a:r>
          </a:p>
        </p:txBody>
      </p:sp>
      <p:sp>
        <p:nvSpPr>
          <p:cNvPr id="33" name="文本占位符 50">
            <a:extLst>
              <a:ext uri="{FF2B5EF4-FFF2-40B4-BE49-F238E27FC236}">
                <ns2:creationId id="{AEB60B0C-27A8-4256-B719-E7E61319EE75}"/>
              </a:ext>
            </a:extLst>
          </p:cNvPr>
          <p:cNvSpPr txBox="1">
            <a:spLocks/>
          </p:cNvSpPr>
          <p:nvPr/>
        </p:nvSpPr>
        <p:spPr>
          <a:xfrm>
            <a:off x="8680182" y="4580676"/>
            <a:ext cx="2725677" cy="7102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764A7"/>
                </a:solidFill>
                <a:latin typeface="思源黑体 Bold" panose="020B0800000000000000" pitchFamily="34" charset="-122"/>
                <a:ea typeface="思源黑体 Bold" panose="020B0800000000000000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石油设施与航运通道事件冲击更强</a:t>
            </a:r>
          </a:p>
        </p:txBody>
      </p:sp>
      <p:pic>
        <p:nvPicPr>
          <p:cNvPr id="34" name="图片 33">
            <a:extLst>
              <a:ext uri="{FF2B5EF4-FFF2-40B4-BE49-F238E27FC236}">
                <ns2:creationId id="{D7AC3108-BC6A-4AE4-8EDC-820C02412E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6096000" y="934641"/>
            <a:ext cx="6049548" cy="6049548"/>
          </a:xfrm>
          <a:prstGeom prst="rect">
            <a:avLst/>
          </a:prstGeom>
        </p:spPr>
      </p:pic>
    </p:spTree>
    <p:extLst>
      <p:ext uri="{BB962C8B-B14F-4D97-AF65-F5344CB8AC3E}">
        <p14:creationId val="3877046086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数据与样本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ns2:creationId id="{92E14DDB-9A84-44E3-8892-207697201132}"/>
              </a:ext>
            </a:extLst>
          </p:cNvPr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ns2:creationId id="{E7B08DE8-0D8D-4702-81AB-0E28446C28A4}"/>
              </a:ext>
            </a:extLst>
          </p:cNvPr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ns2:creationId id="{64EA757B-9C2F-4E4A-B85F-312D920718A0}"/>
              </a:ext>
            </a:extLst>
          </p:cNvPr>
          <p:cNvSpPr/>
          <p:nvPr/>
        </p:nvSpPr>
        <p:spPr>
          <a:xfrm>
            <a:off x="1247623" y="252075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FRED：WTI（DCOILWTICO）与 Brent（DCOILBRENTEU）日度现货价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FA8C70F1-5A95-4295-BA2C-CAE45E169848}"/>
              </a:ext>
            </a:extLst>
          </p:cNvPr>
          <p:cNvSpPr/>
          <p:nvPr/>
        </p:nvSpPr>
        <p:spPr>
          <a:xfrm>
            <a:off x="13507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/>
                <a:ea typeface="微软雅黑"/>
              </a:rPr>
              <a:t>数据与变量</a:t>
            </a:r>
            <a:r>
              <a:rPr lang="en-US" altLang="zh-CN" sz="1100" b="1" dirty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  <a:endParaRPr lang="zh-CN" altLang="en-US" sz="20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矩形 17">
            <a:extLst>
              <a:ext uri="{FF2B5EF4-FFF2-40B4-BE49-F238E27FC236}">
                <ns2:creationId id="{89F7CD42-25DB-4A4E-A7FB-315338715FE0}"/>
              </a:ext>
            </a:extLst>
          </p:cNvPr>
          <p:cNvSpPr/>
          <p:nvPr/>
        </p:nvSpPr>
        <p:spPr>
          <a:xfrm>
            <a:off x="1247623" y="370947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收益率：rₜ = ln(Pₜ) − ln(Pₜ₋₁)，共 345 个交易日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67A4755B-E0FD-4EE6-98DB-8971FD779D75}"/>
              </a:ext>
            </a:extLst>
          </p:cNvPr>
          <p:cNvSpPr/>
          <p:nvPr/>
        </p:nvSpPr>
        <p:spPr>
          <a:xfrm>
            <a:off x="1247623" y="489819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ACLED：六个目标国家的周度事件数与死亡人数，仅作背景验证</a:t>
            </a:r>
          </a:p>
        </p:txBody>
      </p:sp>
      <p:sp>
        <p:nvSpPr>
          <p:cNvPr id="20" name="矩形 19">
            <a:extLst>
              <a:ext uri="{FF2B5EF4-FFF2-40B4-BE49-F238E27FC236}">
                <ns2:creationId id="{14FF3AFE-24AF-496B-AA67-0D418E492A39}"/>
              </a:ext>
            </a:extLst>
          </p:cNvPr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21" name="矩形 20">
            <a:extLst>
              <a:ext uri="{FF2B5EF4-FFF2-40B4-BE49-F238E27FC236}">
                <ns2:creationId id="{3BA8D66A-30A7-42F0-A218-5518410D8B33}"/>
              </a:ext>
            </a:extLst>
          </p:cNvPr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22" name="矩形 21">
            <a:extLst>
              <a:ext uri="{FF2B5EF4-FFF2-40B4-BE49-F238E27FC236}">
                <ns2:creationId id="{096A6FA2-06FB-4BAE-B4D9-324F58C9A416}"/>
              </a:ext>
            </a:extLst>
          </p:cNvPr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ns2:creationId id="{20DFFB90-31F0-4B18-9415-3B871F948CCB}"/>
              </a:ext>
            </a:extLst>
          </p:cNvPr>
          <p:cNvCxnSpPr>
            <a:cxnSpLocks/>
          </p:cNvCxnSpPr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ns2:creationId id="{C4665CBE-FC9D-43A8-9200-132BBFFBB266}"/>
              </a:ext>
            </a:extLst>
          </p:cNvPr>
          <p:cNvCxnSpPr>
            <a:cxnSpLocks/>
          </p:cNvCxnSpPr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>
            <a:extLst>
              <a:ext uri="{FF2B5EF4-FFF2-40B4-BE49-F238E27FC236}">
                <ns2:creationId id="{A1895511-3D6A-4F7E-96B1-579D63823098}"/>
              </a:ext>
            </a:extLst>
          </p:cNvPr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>
            <a:extLst>
              <a:ext uri="{FF2B5EF4-FFF2-40B4-BE49-F238E27FC236}">
                <ns2:creationId id="{90AE48BA-1D8C-45A6-BABF-3124B14F8ADE}"/>
              </a:ext>
            </a:extLst>
          </p:cNvPr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ns2:creationId id="{720A8F54-FAB9-42D9-A750-B52FA83B00A5}"/>
              </a:ext>
            </a:extLst>
          </p:cNvPr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ns2:creationId id="{B1377B59-A5A0-46D7-A31C-05EBD9602132}"/>
              </a:ext>
            </a:extLst>
          </p:cNvPr>
          <p:cNvSpPr/>
          <p:nvPr/>
        </p:nvSpPr>
        <p:spPr>
          <a:xfrm>
            <a:off x="7140423" y="252075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样本区间：2025-01-01 至 2026-06-01</a:t>
            </a:r>
          </a:p>
        </p:txBody>
      </p:sp>
      <p:sp>
        <p:nvSpPr>
          <p:cNvPr id="29" name="矩形 28">
            <a:extLst>
              <a:ext uri="{FF2B5EF4-FFF2-40B4-BE49-F238E27FC236}">
                <ns2:creationId id="{E9AAFE55-BA98-4ADA-B0AC-FC479DDA98B8}"/>
              </a:ext>
            </a:extLst>
          </p:cNvPr>
          <p:cNvSpPr/>
          <p:nvPr/>
        </p:nvSpPr>
        <p:spPr>
          <a:xfrm>
            <a:off x="72435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样本设计</a:t>
            </a:r>
            <a:r>
              <a:rPr lang="en-US" altLang="zh-CN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/>
            </a:r>
            <a:endParaRPr lang="zh-CN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</p:txBody>
      </p:sp>
      <p:sp>
        <p:nvSpPr>
          <p:cNvPr id="30" name="矩形 29">
            <a:extLst>
              <a:ext uri="{FF2B5EF4-FFF2-40B4-BE49-F238E27FC236}">
                <ns2:creationId id="{36ED2F98-1A10-44AA-A4A6-E19B4CCE608E}"/>
              </a:ext>
            </a:extLst>
          </p:cNvPr>
          <p:cNvSpPr/>
          <p:nvPr/>
        </p:nvSpPr>
        <p:spPr>
          <a:xfrm>
            <a:off x="7140423" y="370947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五个事件：E1–E5，覆盖核设施、联合打击、出口设施与海峡风险</a:t>
            </a:r>
          </a:p>
        </p:txBody>
      </p:sp>
      <p:sp>
        <p:nvSpPr>
          <p:cNvPr id="31" name="矩形 30">
            <a:extLst>
              <a:ext uri="{FF2B5EF4-FFF2-40B4-BE49-F238E27FC236}">
                <ns2:creationId id="{16B75D1D-33A8-4248-BE07-52E2258F942F}"/>
              </a:ext>
            </a:extLst>
          </p:cNvPr>
          <p:cNvSpPr/>
          <p:nvPr/>
        </p:nvSpPr>
        <p:spPr>
          <a:xfrm>
            <a:off x="7140423" y="489819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事件日映射至最近交易日；事件选择不使用事后油价波动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53142470-F424-4EDD-ADA8-CF86224C927C}"/>
              </a:ext>
            </a:extLst>
          </p:cNvPr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33" name="矩形 32">
            <a:extLst>
              <a:ext uri="{FF2B5EF4-FFF2-40B4-BE49-F238E27FC236}">
                <ns2:creationId id="{683A36BC-ACA0-4478-8037-C04EF0B7F9FD}"/>
              </a:ext>
            </a:extLst>
          </p:cNvPr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34" name="矩形 33">
            <a:extLst>
              <a:ext uri="{FF2B5EF4-FFF2-40B4-BE49-F238E27FC236}">
                <ns2:creationId id="{DA8B0A44-9537-415F-BD97-AC4AC4AF3883}"/>
              </a:ext>
            </a:extLst>
          </p:cNvPr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ns2:creationId id="{225C84CF-77BF-41BC-80DB-F4B9045F75C7}"/>
              </a:ext>
            </a:extLst>
          </p:cNvPr>
          <p:cNvCxnSpPr>
            <a:cxnSpLocks/>
          </p:cNvCxnSpPr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>
            <a:extLst>
              <a:ext uri="{FF2B5EF4-FFF2-40B4-BE49-F238E27FC236}">
                <ns2:creationId id="{1701DC1C-8D5D-47D2-88B3-2C7BB72088F4}"/>
              </a:ext>
            </a:extLst>
          </p:cNvPr>
          <p:cNvCxnSpPr>
            <a:cxnSpLocks/>
          </p:cNvCxnSpPr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>
            <a:extLst>
              <a:ext uri="{FF2B5EF4-FFF2-40B4-BE49-F238E27FC236}">
                <ns2:creationId id="{B9379BD2-0413-4260-A718-41EA36481C75}"/>
              </a:ext>
            </a:extLst>
          </p:cNvPr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>
            <a:extLst>
              <a:ext uri="{FF2B5EF4-FFF2-40B4-BE49-F238E27FC236}">
                <ns2:creationId id="{C91DC9DF-39C3-4BA4-90A6-43C68B84D3E1}"/>
              </a:ext>
            </a:extLst>
          </p:cNvPr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ns2:creationId id="{DDFA6D04-DBE4-4B5E-AEB1-BBC61777FA8E}"/>
              </a:ext>
            </a:extLst>
          </p:cNvPr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val="2230676449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ns2:creationId id="{6C40D3CC-77A7-4EF7-B123-60B81ACA3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>
            <a:extLst>
              <a:ext uri="{FF2B5EF4-FFF2-40B4-BE49-F238E27FC236}">
                <ns2:creationId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ns2:creationId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统计方法与研究设计</a:t>
            </a:r>
          </a:p>
        </p:txBody>
      </p:sp>
      <p:grpSp>
        <p:nvGrpSpPr>
          <p:cNvPr id="4" name="组合 3">
            <a:extLst>
              <a:ext uri="{FF2B5EF4-FFF2-40B4-BE49-F238E27FC236}">
                <ns2:creationId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ns2:creationId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ns2:creationId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ns2:creationId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ns2:creationId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ns2:creationId id="{32FBF787-E511-4917-B553-A562828617B2}"/>
              </a:ext>
            </a:extLst>
          </p:cNvPr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ns2:creationId id="{CE435AFB-C13D-4C6C-A251-4DFD2FBA1CBA}"/>
              </a:ext>
            </a:extLst>
          </p:cNvPr>
          <p:cNvSpPr/>
          <p:nvPr/>
        </p:nvSpPr>
        <p:spPr>
          <a:xfrm>
            <a:off x="2156111" y="4424107"/>
            <a:ext cx="60889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cs typeface="+mn-cs"/>
              </a:rPr>
              <a:t>事件研究识别短期异常反应，ITS 与断点检验验证动态变化</a:t>
            </a:r>
          </a:p>
        </p:txBody>
      </p:sp>
      <p:pic>
        <p:nvPicPr>
          <p:cNvPr id="22" name="图片 21">
            <a:extLst>
              <a:ext uri="{FF2B5EF4-FFF2-40B4-BE49-F238E27FC236}">
                <ns2:creationId id="{238EB420-7087-463D-907F-0BDF70FC2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ns2:creationId id="{5FC3661D-9232-451A-BFEE-4549D7DF0858}"/>
              </a:ext>
            </a:extLst>
          </p:cNvPr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>
              <a:extLst>
                <a:ext uri="{FF2B5EF4-FFF2-40B4-BE49-F238E27FC236}">
                  <ns2:creationId id="{6426CA03-B54C-4E11-BBD3-920EB24A6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ns2:creationId id="{1C55E38C-6740-4923-ACEF-D98A0947D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>
              <a:extLst>
                <a:ext uri="{FF2B5EF4-FFF2-40B4-BE49-F238E27FC236}">
                  <ns2:creationId id="{0EA1DC3D-6BB9-4E11-A0FD-ECC673B23442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</p:spTree>
    <p:extLst>
      <p:ext uri="{BB962C8B-B14F-4D97-AF65-F5344CB8AC3E}">
        <p14:creationId val="2049608393"/>
      </p:ext>
    </p:extLst>
  </p:cSld>
  <p:clrMapOvr>
    <a:masterClrMapping/>
  </p:clrMapOvr>
  <p:transition p14:dur="500">
    <p:push dir="r"/>
  </p:transition>
  <mc:AlternateContent>
    <mc:Choice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统计方法链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ns2:creationId id="{21FCB06D-6BE2-4AAE-BA64-89D366EDFA8C}"/>
              </a:ext>
            </a:extLst>
          </p:cNvPr>
          <p:cNvGrpSpPr/>
          <p:nvPr/>
        </p:nvGrpSpPr>
        <p:grpSpPr>
          <a:xfrm>
            <a:off x="1199456" y="1484785"/>
            <a:ext cx="2206286" cy="2206286"/>
            <a:chOff x="1463888" y="1818284"/>
            <a:chExt cx="2206286" cy="2206286"/>
          </a:xfrm>
        </p:grpSpPr>
        <p:sp>
          <p:nvSpPr>
            <p:cNvPr id="14" name="Teardrop 50">
              <a:extLst>
                <a:ext uri="{FF2B5EF4-FFF2-40B4-BE49-F238E27FC236}">
                  <ns2:creationId id="{CE780873-2570-4977-86B4-A2D76E86B002}"/>
                </a:ext>
              </a:extLst>
            </p:cNvPr>
            <p:cNvSpPr/>
            <p:nvPr/>
          </p:nvSpPr>
          <p:spPr>
            <a:xfrm rot="2700000">
              <a:off x="1463888" y="1818284"/>
              <a:ext cx="2206286" cy="2206286"/>
            </a:xfrm>
            <a:prstGeom prst="teardrop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id-ID" kern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ns2:creationId id="{0D550B01-BC29-45D9-96FA-9CAE77D483B5}"/>
                </a:ext>
              </a:extLst>
            </p:cNvPr>
            <p:cNvGrpSpPr/>
            <p:nvPr/>
          </p:nvGrpSpPr>
          <p:grpSpPr>
            <a:xfrm>
              <a:off x="2206103" y="2342590"/>
              <a:ext cx="731210" cy="698951"/>
              <a:chOff x="6472919" y="2732165"/>
              <a:chExt cx="548947" cy="524729"/>
            </a:xfrm>
            <a:solidFill>
              <a:sysClr val="window" lastClr="FFFFFF"/>
            </a:solidFill>
          </p:grpSpPr>
          <p:sp>
            <p:nvSpPr>
              <p:cNvPr id="18" name="Freeform 255">
                <a:extLst>
                  <a:ext uri="{FF2B5EF4-FFF2-40B4-BE49-F238E27FC236}">
                    <ns2:creationId id="{BD4EB5D5-F029-4E3D-8117-85F2E0DA18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72919" y="2732165"/>
                <a:ext cx="548947" cy="524729"/>
              </a:xfrm>
              <a:custGeom>
                <a:avLst/>
                <a:gdLst>
                  <a:gd name="T0" fmla="*/ 224 w 260"/>
                  <a:gd name="T1" fmla="*/ 0 h 248"/>
                  <a:gd name="T2" fmla="*/ 36 w 260"/>
                  <a:gd name="T3" fmla="*/ 0 h 248"/>
                  <a:gd name="T4" fmla="*/ 0 w 260"/>
                  <a:gd name="T5" fmla="*/ 36 h 248"/>
                  <a:gd name="T6" fmla="*/ 0 w 260"/>
                  <a:gd name="T7" fmla="*/ 166 h 248"/>
                  <a:gd name="T8" fmla="*/ 29 w 260"/>
                  <a:gd name="T9" fmla="*/ 203 h 248"/>
                  <a:gd name="T10" fmla="*/ 68 w 260"/>
                  <a:gd name="T11" fmla="*/ 203 h 248"/>
                  <a:gd name="T12" fmla="*/ 84 w 260"/>
                  <a:gd name="T13" fmla="*/ 210 h 248"/>
                  <a:gd name="T14" fmla="*/ 110 w 260"/>
                  <a:gd name="T15" fmla="*/ 239 h 248"/>
                  <a:gd name="T16" fmla="*/ 130 w 260"/>
                  <a:gd name="T17" fmla="*/ 248 h 248"/>
                  <a:gd name="T18" fmla="*/ 150 w 260"/>
                  <a:gd name="T19" fmla="*/ 239 h 248"/>
                  <a:gd name="T20" fmla="*/ 176 w 260"/>
                  <a:gd name="T21" fmla="*/ 210 h 248"/>
                  <a:gd name="T22" fmla="*/ 188 w 260"/>
                  <a:gd name="T23" fmla="*/ 203 h 248"/>
                  <a:gd name="T24" fmla="*/ 228 w 260"/>
                  <a:gd name="T25" fmla="*/ 203 h 248"/>
                  <a:gd name="T26" fmla="*/ 260 w 260"/>
                  <a:gd name="T27" fmla="*/ 166 h 248"/>
                  <a:gd name="T28" fmla="*/ 260 w 260"/>
                  <a:gd name="T29" fmla="*/ 36 h 248"/>
                  <a:gd name="T30" fmla="*/ 224 w 260"/>
                  <a:gd name="T31" fmla="*/ 0 h 248"/>
                  <a:gd name="T32" fmla="*/ 239 w 260"/>
                  <a:gd name="T33" fmla="*/ 166 h 248"/>
                  <a:gd name="T34" fmla="*/ 228 w 260"/>
                  <a:gd name="T35" fmla="*/ 181 h 248"/>
                  <a:gd name="T36" fmla="*/ 188 w 260"/>
                  <a:gd name="T37" fmla="*/ 181 h 248"/>
                  <a:gd name="T38" fmla="*/ 158 w 260"/>
                  <a:gd name="T39" fmla="*/ 197 h 248"/>
                  <a:gd name="T40" fmla="*/ 134 w 260"/>
                  <a:gd name="T41" fmla="*/ 224 h 248"/>
                  <a:gd name="T42" fmla="*/ 130 w 260"/>
                  <a:gd name="T43" fmla="*/ 226 h 248"/>
                  <a:gd name="T44" fmla="*/ 126 w 260"/>
                  <a:gd name="T45" fmla="*/ 224 h 248"/>
                  <a:gd name="T46" fmla="*/ 102 w 260"/>
                  <a:gd name="T47" fmla="*/ 197 h 248"/>
                  <a:gd name="T48" fmla="*/ 68 w 260"/>
                  <a:gd name="T49" fmla="*/ 181 h 248"/>
                  <a:gd name="T50" fmla="*/ 29 w 260"/>
                  <a:gd name="T51" fmla="*/ 181 h 248"/>
                  <a:gd name="T52" fmla="*/ 21 w 260"/>
                  <a:gd name="T53" fmla="*/ 166 h 248"/>
                  <a:gd name="T54" fmla="*/ 21 w 260"/>
                  <a:gd name="T55" fmla="*/ 36 h 248"/>
                  <a:gd name="T56" fmla="*/ 36 w 260"/>
                  <a:gd name="T57" fmla="*/ 22 h 248"/>
                  <a:gd name="T58" fmla="*/ 224 w 260"/>
                  <a:gd name="T59" fmla="*/ 22 h 248"/>
                  <a:gd name="T60" fmla="*/ 239 w 260"/>
                  <a:gd name="T61" fmla="*/ 36 h 248"/>
                  <a:gd name="T62" fmla="*/ 239 w 260"/>
                  <a:gd name="T63" fmla="*/ 166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60" h="248">
                    <a:moveTo>
                      <a:pt x="224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86"/>
                      <a:pt x="13" y="203"/>
                      <a:pt x="29" y="203"/>
                    </a:cubicBezTo>
                    <a:cubicBezTo>
                      <a:pt x="45" y="203"/>
                      <a:pt x="62" y="203"/>
                      <a:pt x="68" y="203"/>
                    </a:cubicBezTo>
                    <a:cubicBezTo>
                      <a:pt x="74" y="203"/>
                      <a:pt x="82" y="206"/>
                      <a:pt x="84" y="210"/>
                    </a:cubicBezTo>
                    <a:cubicBezTo>
                      <a:pt x="87" y="214"/>
                      <a:pt x="99" y="227"/>
                      <a:pt x="110" y="239"/>
                    </a:cubicBezTo>
                    <a:cubicBezTo>
                      <a:pt x="115" y="245"/>
                      <a:pt x="123" y="248"/>
                      <a:pt x="130" y="248"/>
                    </a:cubicBezTo>
                    <a:cubicBezTo>
                      <a:pt x="137" y="248"/>
                      <a:pt x="145" y="245"/>
                      <a:pt x="150" y="239"/>
                    </a:cubicBezTo>
                    <a:cubicBezTo>
                      <a:pt x="161" y="227"/>
                      <a:pt x="173" y="214"/>
                      <a:pt x="176" y="210"/>
                    </a:cubicBezTo>
                    <a:cubicBezTo>
                      <a:pt x="178" y="206"/>
                      <a:pt x="184" y="203"/>
                      <a:pt x="188" y="203"/>
                    </a:cubicBezTo>
                    <a:cubicBezTo>
                      <a:pt x="192" y="203"/>
                      <a:pt x="210" y="203"/>
                      <a:pt x="228" y="203"/>
                    </a:cubicBezTo>
                    <a:cubicBezTo>
                      <a:pt x="246" y="203"/>
                      <a:pt x="260" y="186"/>
                      <a:pt x="260" y="166"/>
                    </a:cubicBezTo>
                    <a:cubicBezTo>
                      <a:pt x="260" y="36"/>
                      <a:pt x="260" y="36"/>
                      <a:pt x="260" y="36"/>
                    </a:cubicBezTo>
                    <a:cubicBezTo>
                      <a:pt x="260" y="16"/>
                      <a:pt x="244" y="0"/>
                      <a:pt x="224" y="0"/>
                    </a:cubicBezTo>
                    <a:close/>
                    <a:moveTo>
                      <a:pt x="239" y="166"/>
                    </a:moveTo>
                    <a:cubicBezTo>
                      <a:pt x="239" y="174"/>
                      <a:pt x="233" y="181"/>
                      <a:pt x="228" y="181"/>
                    </a:cubicBezTo>
                    <a:cubicBezTo>
                      <a:pt x="188" y="181"/>
                      <a:pt x="188" y="181"/>
                      <a:pt x="188" y="181"/>
                    </a:cubicBezTo>
                    <a:cubicBezTo>
                      <a:pt x="177" y="181"/>
                      <a:pt x="165" y="188"/>
                      <a:pt x="158" y="197"/>
                    </a:cubicBezTo>
                    <a:cubicBezTo>
                      <a:pt x="156" y="200"/>
                      <a:pt x="146" y="212"/>
                      <a:pt x="134" y="224"/>
                    </a:cubicBezTo>
                    <a:cubicBezTo>
                      <a:pt x="133" y="226"/>
                      <a:pt x="131" y="226"/>
                      <a:pt x="130" y="226"/>
                    </a:cubicBezTo>
                    <a:cubicBezTo>
                      <a:pt x="129" y="226"/>
                      <a:pt x="127" y="226"/>
                      <a:pt x="126" y="224"/>
                    </a:cubicBezTo>
                    <a:cubicBezTo>
                      <a:pt x="114" y="212"/>
                      <a:pt x="104" y="200"/>
                      <a:pt x="102" y="197"/>
                    </a:cubicBezTo>
                    <a:cubicBezTo>
                      <a:pt x="95" y="188"/>
                      <a:pt x="81" y="181"/>
                      <a:pt x="68" y="181"/>
                    </a:cubicBezTo>
                    <a:cubicBezTo>
                      <a:pt x="29" y="181"/>
                      <a:pt x="29" y="181"/>
                      <a:pt x="29" y="181"/>
                    </a:cubicBezTo>
                    <a:cubicBezTo>
                      <a:pt x="26" y="181"/>
                      <a:pt x="21" y="175"/>
                      <a:pt x="21" y="16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28"/>
                      <a:pt x="28" y="22"/>
                      <a:pt x="36" y="22"/>
                    </a:cubicBezTo>
                    <a:cubicBezTo>
                      <a:pt x="224" y="22"/>
                      <a:pt x="224" y="22"/>
                      <a:pt x="224" y="22"/>
                    </a:cubicBezTo>
                    <a:cubicBezTo>
                      <a:pt x="232" y="22"/>
                      <a:pt x="239" y="28"/>
                      <a:pt x="239" y="36"/>
                    </a:cubicBezTo>
                    <a:lnTo>
                      <a:pt x="239" y="1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Rectangle 256">
                <a:extLst>
                  <a:ext uri="{FF2B5EF4-FFF2-40B4-BE49-F238E27FC236}">
                    <ns2:creationId id="{0E7475B1-807D-47DC-B02D-B77C3AC81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4956" y="2901692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Rectangle 257">
                <a:extLst>
                  <a:ext uri="{FF2B5EF4-FFF2-40B4-BE49-F238E27FC236}">
                    <ns2:creationId id="{15B51ABF-90B1-4A95-A6D9-8633B9447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4956" y="2977038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ns2:creationId id="{DD5F997D-D80A-4D2E-962E-C6FC01AB4EAC}"/>
                </a:ext>
              </a:extLst>
            </p:cNvPr>
            <p:cNvSpPr/>
            <p:nvPr/>
          </p:nvSpPr>
          <p:spPr>
            <a:xfrm>
              <a:off x="1786857" y="3168548"/>
              <a:ext cx="15603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defRPr/>
              </a:pPr>
              <a:r>
                <a:rPr lang="zh-CN" altLang="en-US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事件</a:t>
              </a:r>
              <a:endParaRPr lang="en-US" altLang="zh-CN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ns2:creationId id="{2F86D8A3-778D-43CC-A27E-0A8539618D36}"/>
              </a:ext>
            </a:extLst>
          </p:cNvPr>
          <p:cNvGrpSpPr/>
          <p:nvPr/>
        </p:nvGrpSpPr>
        <p:grpSpPr>
          <a:xfrm>
            <a:off x="3604906" y="1484784"/>
            <a:ext cx="2206286" cy="2206286"/>
            <a:chOff x="3642019" y="1818283"/>
            <a:chExt cx="2206286" cy="2206286"/>
          </a:xfrm>
        </p:grpSpPr>
        <p:sp>
          <p:nvSpPr>
            <p:cNvPr id="22" name="Teardrop 51">
              <a:extLst>
                <a:ext uri="{FF2B5EF4-FFF2-40B4-BE49-F238E27FC236}">
                  <ns2:creationId id="{39DFB2B9-A5BC-4217-B39C-F987AB3097F1}"/>
                </a:ext>
              </a:extLst>
            </p:cNvPr>
            <p:cNvSpPr/>
            <p:nvPr/>
          </p:nvSpPr>
          <p:spPr>
            <a:xfrm rot="2700000">
              <a:off x="3642019" y="1818283"/>
              <a:ext cx="2206286" cy="2206286"/>
            </a:xfrm>
            <a:prstGeom prst="teardrop">
              <a:avLst/>
            </a:prstGeom>
            <a:solidFill>
              <a:sysClr val="windowText" lastClr="000000">
                <a:lumMod val="65000"/>
                <a:lumOff val="35000"/>
                <a:alpha val="9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Freeform 271">
              <a:extLst>
                <a:ext uri="{FF2B5EF4-FFF2-40B4-BE49-F238E27FC236}">
                  <ns2:creationId id="{6FC24DE0-5E15-472E-B8EF-0DBDA4EC05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8245" y="2314810"/>
              <a:ext cx="473136" cy="754509"/>
            </a:xfrm>
            <a:custGeom>
              <a:avLst/>
              <a:gdLst>
                <a:gd name="T0" fmla="*/ 146 w 168"/>
                <a:gd name="T1" fmla="*/ 163 h 268"/>
                <a:gd name="T2" fmla="*/ 124 w 168"/>
                <a:gd name="T3" fmla="*/ 149 h 268"/>
                <a:gd name="T4" fmla="*/ 153 w 168"/>
                <a:gd name="T5" fmla="*/ 76 h 268"/>
                <a:gd name="T6" fmla="*/ 84 w 168"/>
                <a:gd name="T7" fmla="*/ 0 h 268"/>
                <a:gd name="T8" fmla="*/ 16 w 168"/>
                <a:gd name="T9" fmla="*/ 76 h 268"/>
                <a:gd name="T10" fmla="*/ 44 w 168"/>
                <a:gd name="T11" fmla="*/ 149 h 268"/>
                <a:gd name="T12" fmla="*/ 23 w 168"/>
                <a:gd name="T13" fmla="*/ 163 h 268"/>
                <a:gd name="T14" fmla="*/ 0 w 168"/>
                <a:gd name="T15" fmla="*/ 206 h 268"/>
                <a:gd name="T16" fmla="*/ 84 w 168"/>
                <a:gd name="T17" fmla="*/ 268 h 268"/>
                <a:gd name="T18" fmla="*/ 168 w 168"/>
                <a:gd name="T19" fmla="*/ 206 h 268"/>
                <a:gd name="T20" fmla="*/ 146 w 168"/>
                <a:gd name="T21" fmla="*/ 163 h 268"/>
                <a:gd name="T22" fmla="*/ 37 w 168"/>
                <a:gd name="T23" fmla="*/ 76 h 268"/>
                <a:gd name="T24" fmla="*/ 84 w 168"/>
                <a:gd name="T25" fmla="*/ 21 h 268"/>
                <a:gd name="T26" fmla="*/ 131 w 168"/>
                <a:gd name="T27" fmla="*/ 76 h 268"/>
                <a:gd name="T28" fmla="*/ 84 w 168"/>
                <a:gd name="T29" fmla="*/ 144 h 268"/>
                <a:gd name="T30" fmla="*/ 37 w 168"/>
                <a:gd name="T31" fmla="*/ 76 h 268"/>
                <a:gd name="T32" fmla="*/ 84 w 168"/>
                <a:gd name="T33" fmla="*/ 246 h 268"/>
                <a:gd name="T34" fmla="*/ 22 w 168"/>
                <a:gd name="T35" fmla="*/ 206 h 268"/>
                <a:gd name="T36" fmla="*/ 33 w 168"/>
                <a:gd name="T37" fmla="*/ 182 h 268"/>
                <a:gd name="T38" fmla="*/ 63 w 168"/>
                <a:gd name="T39" fmla="*/ 162 h 268"/>
                <a:gd name="T40" fmla="*/ 84 w 168"/>
                <a:gd name="T41" fmla="*/ 166 h 268"/>
                <a:gd name="T42" fmla="*/ 106 w 168"/>
                <a:gd name="T43" fmla="*/ 162 h 268"/>
                <a:gd name="T44" fmla="*/ 135 w 168"/>
                <a:gd name="T45" fmla="*/ 182 h 268"/>
                <a:gd name="T46" fmla="*/ 147 w 168"/>
                <a:gd name="T47" fmla="*/ 206 h 268"/>
                <a:gd name="T48" fmla="*/ 84 w 168"/>
                <a:gd name="T49" fmla="*/ 246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8" h="268">
                  <a:moveTo>
                    <a:pt x="146" y="163"/>
                  </a:moveTo>
                  <a:cubicBezTo>
                    <a:pt x="140" y="160"/>
                    <a:pt x="133" y="156"/>
                    <a:pt x="124" y="149"/>
                  </a:cubicBezTo>
                  <a:cubicBezTo>
                    <a:pt x="142" y="131"/>
                    <a:pt x="153" y="103"/>
                    <a:pt x="153" y="76"/>
                  </a:cubicBezTo>
                  <a:cubicBezTo>
                    <a:pt x="153" y="32"/>
                    <a:pt x="124" y="0"/>
                    <a:pt x="84" y="0"/>
                  </a:cubicBezTo>
                  <a:cubicBezTo>
                    <a:pt x="44" y="0"/>
                    <a:pt x="16" y="32"/>
                    <a:pt x="16" y="76"/>
                  </a:cubicBezTo>
                  <a:cubicBezTo>
                    <a:pt x="16" y="103"/>
                    <a:pt x="26" y="131"/>
                    <a:pt x="44" y="149"/>
                  </a:cubicBezTo>
                  <a:cubicBezTo>
                    <a:pt x="35" y="156"/>
                    <a:pt x="28" y="160"/>
                    <a:pt x="23" y="163"/>
                  </a:cubicBezTo>
                  <a:cubicBezTo>
                    <a:pt x="6" y="173"/>
                    <a:pt x="0" y="179"/>
                    <a:pt x="0" y="206"/>
                  </a:cubicBezTo>
                  <a:cubicBezTo>
                    <a:pt x="0" y="243"/>
                    <a:pt x="33" y="268"/>
                    <a:pt x="84" y="268"/>
                  </a:cubicBezTo>
                  <a:cubicBezTo>
                    <a:pt x="135" y="268"/>
                    <a:pt x="168" y="243"/>
                    <a:pt x="168" y="206"/>
                  </a:cubicBezTo>
                  <a:cubicBezTo>
                    <a:pt x="168" y="179"/>
                    <a:pt x="163" y="173"/>
                    <a:pt x="146" y="163"/>
                  </a:cubicBezTo>
                  <a:close/>
                  <a:moveTo>
                    <a:pt x="37" y="76"/>
                  </a:moveTo>
                  <a:cubicBezTo>
                    <a:pt x="37" y="49"/>
                    <a:pt x="52" y="21"/>
                    <a:pt x="84" y="21"/>
                  </a:cubicBezTo>
                  <a:cubicBezTo>
                    <a:pt x="117" y="21"/>
                    <a:pt x="131" y="49"/>
                    <a:pt x="131" y="76"/>
                  </a:cubicBezTo>
                  <a:cubicBezTo>
                    <a:pt x="131" y="108"/>
                    <a:pt x="112" y="144"/>
                    <a:pt x="84" y="144"/>
                  </a:cubicBezTo>
                  <a:cubicBezTo>
                    <a:pt x="57" y="144"/>
                    <a:pt x="37" y="108"/>
                    <a:pt x="37" y="76"/>
                  </a:cubicBezTo>
                  <a:close/>
                  <a:moveTo>
                    <a:pt x="84" y="246"/>
                  </a:moveTo>
                  <a:cubicBezTo>
                    <a:pt x="70" y="246"/>
                    <a:pt x="22" y="243"/>
                    <a:pt x="22" y="206"/>
                  </a:cubicBezTo>
                  <a:cubicBezTo>
                    <a:pt x="22" y="189"/>
                    <a:pt x="22" y="189"/>
                    <a:pt x="33" y="182"/>
                  </a:cubicBezTo>
                  <a:cubicBezTo>
                    <a:pt x="40" y="178"/>
                    <a:pt x="50" y="172"/>
                    <a:pt x="63" y="162"/>
                  </a:cubicBezTo>
                  <a:cubicBezTo>
                    <a:pt x="70" y="165"/>
                    <a:pt x="77" y="166"/>
                    <a:pt x="84" y="166"/>
                  </a:cubicBezTo>
                  <a:cubicBezTo>
                    <a:pt x="92" y="166"/>
                    <a:pt x="99" y="165"/>
                    <a:pt x="106" y="162"/>
                  </a:cubicBezTo>
                  <a:cubicBezTo>
                    <a:pt x="119" y="172"/>
                    <a:pt x="128" y="178"/>
                    <a:pt x="135" y="182"/>
                  </a:cubicBezTo>
                  <a:cubicBezTo>
                    <a:pt x="147" y="189"/>
                    <a:pt x="147" y="189"/>
                    <a:pt x="147" y="206"/>
                  </a:cubicBezTo>
                  <a:cubicBezTo>
                    <a:pt x="147" y="243"/>
                    <a:pt x="99" y="246"/>
                    <a:pt x="84" y="246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ns2:creationId id="{B255ACFD-1066-428A-8606-8D06287EF344}"/>
                </a:ext>
              </a:extLst>
            </p:cNvPr>
            <p:cNvSpPr/>
            <p:nvPr/>
          </p:nvSpPr>
          <p:spPr>
            <a:xfrm>
              <a:off x="3944639" y="3168547"/>
              <a:ext cx="15603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CAR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ns2:creationId id="{9EECAC34-523D-4A19-A339-A39C7BB46EC1}"/>
              </a:ext>
            </a:extLst>
          </p:cNvPr>
          <p:cNvGrpSpPr/>
          <p:nvPr/>
        </p:nvGrpSpPr>
        <p:grpSpPr>
          <a:xfrm>
            <a:off x="6010356" y="1484785"/>
            <a:ext cx="2206286" cy="2206286"/>
            <a:chOff x="5820150" y="1818284"/>
            <a:chExt cx="2206286" cy="2206286"/>
          </a:xfrm>
        </p:grpSpPr>
        <p:sp>
          <p:nvSpPr>
            <p:cNvPr id="26" name="Teardrop 52">
              <a:extLst>
                <a:ext uri="{FF2B5EF4-FFF2-40B4-BE49-F238E27FC236}">
                  <ns2:creationId id="{DC82174A-6E70-4562-85F8-EC9D4697D267}"/>
                </a:ext>
              </a:extLst>
            </p:cNvPr>
            <p:cNvSpPr/>
            <p:nvPr/>
          </p:nvSpPr>
          <p:spPr>
            <a:xfrm rot="2700000">
              <a:off x="5820150" y="1818284"/>
              <a:ext cx="2206286" cy="2206286"/>
            </a:xfrm>
            <a:prstGeom prst="teardrop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id-ID" kern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ns2:creationId id="{9129BF77-12DC-45BA-BDE9-55C957FFD47A}"/>
                </a:ext>
              </a:extLst>
            </p:cNvPr>
            <p:cNvGrpSpPr/>
            <p:nvPr/>
          </p:nvGrpSpPr>
          <p:grpSpPr>
            <a:xfrm>
              <a:off x="6617541" y="2295096"/>
              <a:ext cx="571705" cy="793938"/>
              <a:chOff x="8032306" y="5624901"/>
              <a:chExt cx="429201" cy="596039"/>
            </a:xfrm>
            <a:solidFill>
              <a:sysClr val="window" lastClr="FFFFFF"/>
            </a:solidFill>
          </p:grpSpPr>
          <p:sp>
            <p:nvSpPr>
              <p:cNvPr id="29" name="Freeform 276">
                <a:extLst>
                  <a:ext uri="{FF2B5EF4-FFF2-40B4-BE49-F238E27FC236}">
                    <ns2:creationId id="{71E27B01-3368-4D83-816A-7FB2D6414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2306" y="5715047"/>
                <a:ext cx="429201" cy="505893"/>
              </a:xfrm>
              <a:custGeom>
                <a:avLst/>
                <a:gdLst>
                  <a:gd name="T0" fmla="*/ 166 w 203"/>
                  <a:gd name="T1" fmla="*/ 0 h 239"/>
                  <a:gd name="T2" fmla="*/ 166 w 203"/>
                  <a:gd name="T3" fmla="*/ 22 h 239"/>
                  <a:gd name="T4" fmla="*/ 181 w 203"/>
                  <a:gd name="T5" fmla="*/ 37 h 239"/>
                  <a:gd name="T6" fmla="*/ 181 w 203"/>
                  <a:gd name="T7" fmla="*/ 203 h 239"/>
                  <a:gd name="T8" fmla="*/ 166 w 203"/>
                  <a:gd name="T9" fmla="*/ 218 h 239"/>
                  <a:gd name="T10" fmla="*/ 36 w 203"/>
                  <a:gd name="T11" fmla="*/ 218 h 239"/>
                  <a:gd name="T12" fmla="*/ 22 w 203"/>
                  <a:gd name="T13" fmla="*/ 203 h 239"/>
                  <a:gd name="T14" fmla="*/ 22 w 203"/>
                  <a:gd name="T15" fmla="*/ 37 h 239"/>
                  <a:gd name="T16" fmla="*/ 36 w 203"/>
                  <a:gd name="T17" fmla="*/ 22 h 239"/>
                  <a:gd name="T18" fmla="*/ 36 w 203"/>
                  <a:gd name="T19" fmla="*/ 0 h 239"/>
                  <a:gd name="T20" fmla="*/ 0 w 203"/>
                  <a:gd name="T21" fmla="*/ 37 h 239"/>
                  <a:gd name="T22" fmla="*/ 0 w 203"/>
                  <a:gd name="T23" fmla="*/ 203 h 239"/>
                  <a:gd name="T24" fmla="*/ 36 w 203"/>
                  <a:gd name="T25" fmla="*/ 239 h 239"/>
                  <a:gd name="T26" fmla="*/ 166 w 203"/>
                  <a:gd name="T27" fmla="*/ 239 h 239"/>
                  <a:gd name="T28" fmla="*/ 203 w 203"/>
                  <a:gd name="T29" fmla="*/ 203 h 239"/>
                  <a:gd name="T30" fmla="*/ 203 w 203"/>
                  <a:gd name="T31" fmla="*/ 37 h 239"/>
                  <a:gd name="T32" fmla="*/ 166 w 203"/>
                  <a:gd name="T33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3" h="239">
                    <a:moveTo>
                      <a:pt x="166" y="0"/>
                    </a:moveTo>
                    <a:cubicBezTo>
                      <a:pt x="166" y="22"/>
                      <a:pt x="166" y="22"/>
                      <a:pt x="166" y="22"/>
                    </a:cubicBezTo>
                    <a:cubicBezTo>
                      <a:pt x="174" y="22"/>
                      <a:pt x="181" y="29"/>
                      <a:pt x="181" y="37"/>
                    </a:cubicBezTo>
                    <a:cubicBezTo>
                      <a:pt x="181" y="203"/>
                      <a:pt x="181" y="203"/>
                      <a:pt x="181" y="203"/>
                    </a:cubicBezTo>
                    <a:cubicBezTo>
                      <a:pt x="181" y="211"/>
                      <a:pt x="174" y="218"/>
                      <a:pt x="166" y="218"/>
                    </a:cubicBezTo>
                    <a:cubicBezTo>
                      <a:pt x="36" y="218"/>
                      <a:pt x="36" y="218"/>
                      <a:pt x="36" y="218"/>
                    </a:cubicBezTo>
                    <a:cubicBezTo>
                      <a:pt x="28" y="218"/>
                      <a:pt x="22" y="211"/>
                      <a:pt x="22" y="203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29"/>
                      <a:pt x="28" y="22"/>
                      <a:pt x="36" y="2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7"/>
                      <a:pt x="0" y="37"/>
                    </a:cubicBezTo>
                    <a:cubicBezTo>
                      <a:pt x="0" y="203"/>
                      <a:pt x="0" y="203"/>
                      <a:pt x="0" y="203"/>
                    </a:cubicBezTo>
                    <a:cubicBezTo>
                      <a:pt x="0" y="223"/>
                      <a:pt x="16" y="239"/>
                      <a:pt x="36" y="239"/>
                    </a:cubicBezTo>
                    <a:cubicBezTo>
                      <a:pt x="166" y="239"/>
                      <a:pt x="166" y="239"/>
                      <a:pt x="166" y="239"/>
                    </a:cubicBezTo>
                    <a:cubicBezTo>
                      <a:pt x="186" y="239"/>
                      <a:pt x="203" y="223"/>
                      <a:pt x="203" y="203"/>
                    </a:cubicBezTo>
                    <a:cubicBezTo>
                      <a:pt x="203" y="37"/>
                      <a:pt x="203" y="37"/>
                      <a:pt x="203" y="37"/>
                    </a:cubicBezTo>
                    <a:cubicBezTo>
                      <a:pt x="203" y="17"/>
                      <a:pt x="186" y="0"/>
                      <a:pt x="1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" name="Freeform 277">
                <a:extLst>
                  <a:ext uri="{FF2B5EF4-FFF2-40B4-BE49-F238E27FC236}">
                    <ns2:creationId id="{6927A027-0FF0-4642-B1D6-A4325A036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9943" y="5624901"/>
                <a:ext cx="213928" cy="137237"/>
              </a:xfrm>
              <a:custGeom>
                <a:avLst/>
                <a:gdLst>
                  <a:gd name="T0" fmla="*/ 101 w 101"/>
                  <a:gd name="T1" fmla="*/ 29 h 65"/>
                  <a:gd name="T2" fmla="*/ 79 w 101"/>
                  <a:gd name="T3" fmla="*/ 29 h 65"/>
                  <a:gd name="T4" fmla="*/ 50 w 101"/>
                  <a:gd name="T5" fmla="*/ 0 h 65"/>
                  <a:gd name="T6" fmla="*/ 21 w 101"/>
                  <a:gd name="T7" fmla="*/ 29 h 65"/>
                  <a:gd name="T8" fmla="*/ 0 w 101"/>
                  <a:gd name="T9" fmla="*/ 29 h 65"/>
                  <a:gd name="T10" fmla="*/ 0 w 101"/>
                  <a:gd name="T11" fmla="*/ 65 h 65"/>
                  <a:gd name="T12" fmla="*/ 101 w 101"/>
                  <a:gd name="T13" fmla="*/ 65 h 65"/>
                  <a:gd name="T14" fmla="*/ 101 w 101"/>
                  <a:gd name="T15" fmla="*/ 2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65">
                    <a:moveTo>
                      <a:pt x="101" y="29"/>
                    </a:moveTo>
                    <a:cubicBezTo>
                      <a:pt x="79" y="29"/>
                      <a:pt x="79" y="29"/>
                      <a:pt x="79" y="29"/>
                    </a:cubicBezTo>
                    <a:cubicBezTo>
                      <a:pt x="79" y="13"/>
                      <a:pt x="66" y="0"/>
                      <a:pt x="50" y="0"/>
                    </a:cubicBezTo>
                    <a:cubicBezTo>
                      <a:pt x="34" y="0"/>
                      <a:pt x="21" y="13"/>
                      <a:pt x="2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101" y="65"/>
                      <a:pt x="101" y="65"/>
                      <a:pt x="101" y="65"/>
                    </a:cubicBezTo>
                    <a:lnTo>
                      <a:pt x="101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" name="Rectangle 278">
                <a:extLst>
                  <a:ext uri="{FF2B5EF4-FFF2-40B4-BE49-F238E27FC236}">
                    <ns2:creationId id="{1B357FD1-F047-48AB-B6E1-EB8FD6119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3797" y="5837484"/>
                <a:ext cx="244874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Rectangle 279">
                <a:extLst>
                  <a:ext uri="{FF2B5EF4-FFF2-40B4-BE49-F238E27FC236}">
                    <ns2:creationId id="{BB041F66-ECED-4345-A08F-FBEECE684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3797" y="5914175"/>
                <a:ext cx="244874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3" name="Rectangle 280">
                <a:extLst>
                  <a:ext uri="{FF2B5EF4-FFF2-40B4-BE49-F238E27FC236}">
                    <ns2:creationId id="{5985E2D1-3A9D-44FF-844A-E12AFC3F5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3797" y="5992211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4" name="Rectangle 281">
                <a:extLst>
                  <a:ext uri="{FF2B5EF4-FFF2-40B4-BE49-F238E27FC236}">
                    <ns2:creationId id="{64B5C40C-1978-483D-AAC6-41A3247448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23797" y="6068903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kern="0">
                  <a:solidFill>
                    <a:sysClr val="windowText" lastClr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ns2:creationId id="{77AEB39E-6792-4EC2-8764-6F1C37DA19F2}"/>
                </a:ext>
              </a:extLst>
            </p:cNvPr>
            <p:cNvSpPr/>
            <p:nvPr/>
          </p:nvSpPr>
          <p:spPr>
            <a:xfrm>
              <a:off x="6131448" y="3168548"/>
              <a:ext cx="15603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  <a:defRPr/>
              </a:pPr>
              <a:r>
                <a:rPr lang="zh-CN" altLang="en-US" kern="0" dirty="0">
                  <a:solidFill>
                    <a:sysClr val="window" lastClr="FFFFFF"/>
                  </a:solidFill>
                  <a:latin typeface="微软雅黑" pitchFamily="34" charset="-122"/>
                  <a:ea typeface="微软雅黑" pitchFamily="34" charset="-122"/>
                </a:rPr>
                <a:t>ITS</a:t>
              </a:r>
              <a:endParaRPr lang="en-US" altLang="zh-CN" kern="0" dirty="0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ns2:creationId id="{8FAD8358-B0B5-4679-AE75-8105217934D6}"/>
              </a:ext>
            </a:extLst>
          </p:cNvPr>
          <p:cNvGrpSpPr/>
          <p:nvPr/>
        </p:nvGrpSpPr>
        <p:grpSpPr>
          <a:xfrm>
            <a:off x="8415805" y="1484785"/>
            <a:ext cx="2206286" cy="2206286"/>
            <a:chOff x="7765026" y="1818284"/>
            <a:chExt cx="2206286" cy="2206286"/>
          </a:xfrm>
        </p:grpSpPr>
        <p:sp>
          <p:nvSpPr>
            <p:cNvPr id="36" name="Teardrop 53">
              <a:extLst>
                <a:ext uri="{FF2B5EF4-FFF2-40B4-BE49-F238E27FC236}">
                  <ns2:creationId id="{5433877C-991E-41D0-857C-91C8F3D0FC89}"/>
                </a:ext>
              </a:extLst>
            </p:cNvPr>
            <p:cNvSpPr/>
            <p:nvPr/>
          </p:nvSpPr>
          <p:spPr>
            <a:xfrm rot="2700000">
              <a:off x="7765026" y="1818284"/>
              <a:ext cx="2206286" cy="2206286"/>
            </a:xfrm>
            <a:prstGeom prst="teardrop">
              <a:avLst/>
            </a:prstGeom>
            <a:solidFill>
              <a:sysClr val="windowText" lastClr="000000">
                <a:lumMod val="65000"/>
                <a:lumOff val="35000"/>
                <a:alpha val="9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ns2:creationId id="{9043E415-5945-49EF-A519-CFA08CF5D9E8}"/>
                </a:ext>
              </a:extLst>
            </p:cNvPr>
            <p:cNvGrpSpPr/>
            <p:nvPr/>
          </p:nvGrpSpPr>
          <p:grpSpPr>
            <a:xfrm>
              <a:off x="8584939" y="2325564"/>
              <a:ext cx="568121" cy="733003"/>
              <a:chOff x="9501547" y="5685447"/>
              <a:chExt cx="426510" cy="550293"/>
            </a:xfrm>
            <a:solidFill>
              <a:sysClr val="window" lastClr="FFFFFF"/>
            </a:solidFill>
          </p:grpSpPr>
          <p:sp>
            <p:nvSpPr>
              <p:cNvPr id="39" name="Freeform 282">
                <a:extLst>
                  <a:ext uri="{FF2B5EF4-FFF2-40B4-BE49-F238E27FC236}">
                    <ns2:creationId id="{00A5F38C-21DA-453D-B76A-129E14DFD9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01547" y="5685447"/>
                <a:ext cx="426510" cy="550293"/>
              </a:xfrm>
              <a:custGeom>
                <a:avLst/>
                <a:gdLst>
                  <a:gd name="T0" fmla="*/ 166 w 202"/>
                  <a:gd name="T1" fmla="*/ 0 h 260"/>
                  <a:gd name="T2" fmla="*/ 36 w 202"/>
                  <a:gd name="T3" fmla="*/ 0 h 260"/>
                  <a:gd name="T4" fmla="*/ 0 w 202"/>
                  <a:gd name="T5" fmla="*/ 36 h 260"/>
                  <a:gd name="T6" fmla="*/ 0 w 202"/>
                  <a:gd name="T7" fmla="*/ 224 h 260"/>
                  <a:gd name="T8" fmla="*/ 36 w 202"/>
                  <a:gd name="T9" fmla="*/ 260 h 260"/>
                  <a:gd name="T10" fmla="*/ 166 w 202"/>
                  <a:gd name="T11" fmla="*/ 260 h 260"/>
                  <a:gd name="T12" fmla="*/ 202 w 202"/>
                  <a:gd name="T13" fmla="*/ 224 h 260"/>
                  <a:gd name="T14" fmla="*/ 202 w 202"/>
                  <a:gd name="T15" fmla="*/ 36 h 260"/>
                  <a:gd name="T16" fmla="*/ 166 w 202"/>
                  <a:gd name="T17" fmla="*/ 0 h 260"/>
                  <a:gd name="T18" fmla="*/ 181 w 202"/>
                  <a:gd name="T19" fmla="*/ 224 h 260"/>
                  <a:gd name="T20" fmla="*/ 166 w 202"/>
                  <a:gd name="T21" fmla="*/ 239 h 260"/>
                  <a:gd name="T22" fmla="*/ 36 w 202"/>
                  <a:gd name="T23" fmla="*/ 239 h 260"/>
                  <a:gd name="T24" fmla="*/ 22 w 202"/>
                  <a:gd name="T25" fmla="*/ 224 h 260"/>
                  <a:gd name="T26" fmla="*/ 22 w 202"/>
                  <a:gd name="T27" fmla="*/ 36 h 260"/>
                  <a:gd name="T28" fmla="*/ 36 w 202"/>
                  <a:gd name="T29" fmla="*/ 22 h 260"/>
                  <a:gd name="T30" fmla="*/ 166 w 202"/>
                  <a:gd name="T31" fmla="*/ 22 h 260"/>
                  <a:gd name="T32" fmla="*/ 181 w 202"/>
                  <a:gd name="T33" fmla="*/ 36 h 260"/>
                  <a:gd name="T34" fmla="*/ 181 w 202"/>
                  <a:gd name="T35" fmla="*/ 224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2" h="260">
                    <a:moveTo>
                      <a:pt x="166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44"/>
                      <a:pt x="16" y="260"/>
                      <a:pt x="36" y="260"/>
                    </a:cubicBezTo>
                    <a:cubicBezTo>
                      <a:pt x="166" y="260"/>
                      <a:pt x="166" y="260"/>
                      <a:pt x="166" y="260"/>
                    </a:cubicBezTo>
                    <a:cubicBezTo>
                      <a:pt x="186" y="260"/>
                      <a:pt x="202" y="244"/>
                      <a:pt x="202" y="224"/>
                    </a:cubicBezTo>
                    <a:cubicBezTo>
                      <a:pt x="202" y="36"/>
                      <a:pt x="202" y="36"/>
                      <a:pt x="202" y="36"/>
                    </a:cubicBezTo>
                    <a:cubicBezTo>
                      <a:pt x="202" y="16"/>
                      <a:pt x="186" y="0"/>
                      <a:pt x="166" y="0"/>
                    </a:cubicBezTo>
                    <a:close/>
                    <a:moveTo>
                      <a:pt x="181" y="224"/>
                    </a:moveTo>
                    <a:cubicBezTo>
                      <a:pt x="181" y="232"/>
                      <a:pt x="174" y="239"/>
                      <a:pt x="166" y="239"/>
                    </a:cubicBezTo>
                    <a:cubicBezTo>
                      <a:pt x="36" y="239"/>
                      <a:pt x="36" y="239"/>
                      <a:pt x="36" y="239"/>
                    </a:cubicBezTo>
                    <a:cubicBezTo>
                      <a:pt x="28" y="239"/>
                      <a:pt x="22" y="232"/>
                      <a:pt x="22" y="22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2" y="28"/>
                      <a:pt x="28" y="22"/>
                      <a:pt x="36" y="22"/>
                    </a:cubicBezTo>
                    <a:cubicBezTo>
                      <a:pt x="166" y="22"/>
                      <a:pt x="166" y="22"/>
                      <a:pt x="166" y="22"/>
                    </a:cubicBezTo>
                    <a:cubicBezTo>
                      <a:pt x="174" y="22"/>
                      <a:pt x="181" y="28"/>
                      <a:pt x="181" y="36"/>
                    </a:cubicBezTo>
                    <a:lnTo>
                      <a:pt x="181" y="2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0" name="Freeform 283">
                <a:extLst>
                  <a:ext uri="{FF2B5EF4-FFF2-40B4-BE49-F238E27FC236}">
                    <ns2:creationId id="{78C5C842-F909-4A95-9E0D-7E397C10A9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76893" y="5762138"/>
                <a:ext cx="274474" cy="367310"/>
              </a:xfrm>
              <a:custGeom>
                <a:avLst/>
                <a:gdLst>
                  <a:gd name="T0" fmla="*/ 0 w 204"/>
                  <a:gd name="T1" fmla="*/ 273 h 273"/>
                  <a:gd name="T2" fmla="*/ 204 w 204"/>
                  <a:gd name="T3" fmla="*/ 273 h 273"/>
                  <a:gd name="T4" fmla="*/ 204 w 204"/>
                  <a:gd name="T5" fmla="*/ 0 h 273"/>
                  <a:gd name="T6" fmla="*/ 0 w 204"/>
                  <a:gd name="T7" fmla="*/ 0 h 273"/>
                  <a:gd name="T8" fmla="*/ 0 w 204"/>
                  <a:gd name="T9" fmla="*/ 273 h 273"/>
                  <a:gd name="T10" fmla="*/ 11 w 204"/>
                  <a:gd name="T11" fmla="*/ 11 h 273"/>
                  <a:gd name="T12" fmla="*/ 193 w 204"/>
                  <a:gd name="T13" fmla="*/ 11 h 273"/>
                  <a:gd name="T14" fmla="*/ 193 w 204"/>
                  <a:gd name="T15" fmla="*/ 262 h 273"/>
                  <a:gd name="T16" fmla="*/ 11 w 204"/>
                  <a:gd name="T17" fmla="*/ 262 h 273"/>
                  <a:gd name="T18" fmla="*/ 11 w 204"/>
                  <a:gd name="T19" fmla="*/ 1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73">
                    <a:moveTo>
                      <a:pt x="0" y="273"/>
                    </a:moveTo>
                    <a:lnTo>
                      <a:pt x="204" y="273"/>
                    </a:lnTo>
                    <a:lnTo>
                      <a:pt x="204" y="0"/>
                    </a:lnTo>
                    <a:lnTo>
                      <a:pt x="0" y="0"/>
                    </a:lnTo>
                    <a:lnTo>
                      <a:pt x="0" y="273"/>
                    </a:lnTo>
                    <a:close/>
                    <a:moveTo>
                      <a:pt x="11" y="11"/>
                    </a:moveTo>
                    <a:lnTo>
                      <a:pt x="193" y="11"/>
                    </a:lnTo>
                    <a:lnTo>
                      <a:pt x="193" y="262"/>
                    </a:lnTo>
                    <a:lnTo>
                      <a:pt x="11" y="262"/>
                    </a:ln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1" name="Rectangle 284">
                <a:extLst>
                  <a:ext uri="{FF2B5EF4-FFF2-40B4-BE49-F238E27FC236}">
                    <ns2:creationId id="{20165211-2047-4C5B-BE9A-5F6342C1D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99330" y="6144248"/>
                <a:ext cx="29600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38" name="矩形 37">
              <a:extLst>
                <a:ext uri="{FF2B5EF4-FFF2-40B4-BE49-F238E27FC236}">
                  <ns2:creationId id="{34DD9DA3-7A1F-49B7-9B69-16760D2836CB}"/>
                </a:ext>
              </a:extLst>
            </p:cNvPr>
            <p:cNvSpPr/>
            <p:nvPr/>
          </p:nvSpPr>
          <p:spPr>
            <a:xfrm>
              <a:off x="8099517" y="3168548"/>
              <a:ext cx="15603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诊断</a:t>
              </a: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2" name="矩形 41">
            <a:extLst>
              <a:ext uri="{FF2B5EF4-FFF2-40B4-BE49-F238E27FC236}">
                <ns2:creationId id="{8430A888-4EBE-46F5-AA65-95464E02F519}"/>
              </a:ext>
            </a:extLst>
          </p:cNvPr>
          <p:cNvSpPr/>
          <p:nvPr/>
        </p:nvSpPr>
        <p:spPr>
          <a:xfrm>
            <a:off x="1341880" y="4679677"/>
            <a:ext cx="9772240" cy="1497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外部事实选取事件 → 市场模型估计正常收益 → AR 与 CAR → 显著性检验 → ITS 分离水平/趋势 → DW、BP、Newey-West 与结构断点</a:t>
            </a:r>
          </a:p>
        </p:txBody>
      </p:sp>
      <p:sp>
        <p:nvSpPr>
          <p:cNvPr id="47" name="矩形 46">
            <a:extLst>
              <a:ext uri="{FF2B5EF4-FFF2-40B4-BE49-F238E27FC236}">
                <ns2:creationId id="{5F1590F1-4EAA-4291-9FFF-6E567FAF5F44}"/>
              </a:ext>
            </a:extLst>
          </p:cNvPr>
          <p:cNvSpPr/>
          <p:nvPr/>
        </p:nvSpPr>
        <p:spPr>
          <a:xfrm>
            <a:off x="4150192" y="4103613"/>
            <a:ext cx="37069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zh-CN" altLang="en-US" sz="2800" b="1" kern="0" dirty="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 8" panose="020B0502040204020203" pitchFamily="34" charset="0"/>
              </a:rPr>
              <a:t>完整分析流程</a:t>
            </a:r>
            <a:endParaRPr lang="en-US" altLang="zh-CN" sz="2800" b="1" kern="0" dirty="0">
              <a:solidFill>
                <a:srgbClr val="02428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 Light 8" panose="020B0502040204020203" pitchFamily="34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ns2:creationId id="{7D51D732-D002-4F77-A792-211304BD57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6096000" y="934641"/>
            <a:ext cx="6049548" cy="6049548"/>
          </a:xfrm>
          <a:prstGeom prst="rect">
            <a:avLst/>
          </a:prstGeom>
        </p:spPr>
      </p:pic>
    </p:spTree>
    <p:extLst>
      <p:ext uri="{BB962C8B-B14F-4D97-AF65-F5344CB8AC3E}">
        <p14:creationId val="1952844760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事件研究法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sp>
        <p:nvSpPr>
          <p:cNvPr id="14" name="平行四边形 13">
            <a:extLst>
              <a:ext uri="{FF2B5EF4-FFF2-40B4-BE49-F238E27FC236}">
                <ns2:creationId id="{3DCF1925-A467-4CE8-9C0E-B3FC990F1C5C}"/>
              </a:ext>
            </a:extLst>
          </p:cNvPr>
          <p:cNvSpPr/>
          <p:nvPr/>
        </p:nvSpPr>
        <p:spPr>
          <a:xfrm>
            <a:off x="976344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5" name="平行四边形 14">
            <a:extLst>
              <a:ext uri="{FF2B5EF4-FFF2-40B4-BE49-F238E27FC236}">
                <ns2:creationId id="{762A21F4-51EA-41A5-ADB0-9EE4D862C1B4}"/>
              </a:ext>
            </a:extLst>
          </p:cNvPr>
          <p:cNvSpPr/>
          <p:nvPr/>
        </p:nvSpPr>
        <p:spPr>
          <a:xfrm>
            <a:off x="788295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" name="文本框 13">
            <a:extLst>
              <a:ext uri="{FF2B5EF4-FFF2-40B4-BE49-F238E27FC236}">
                <ns2:creationId id="{A3EC35D5-9918-41CE-8091-173946FEF81B}"/>
              </a:ext>
            </a:extLst>
          </p:cNvPr>
          <p:cNvSpPr txBox="1"/>
          <p:nvPr/>
        </p:nvSpPr>
        <p:spPr>
          <a:xfrm>
            <a:off x="1991544" y="1915523"/>
            <a:ext cx="18885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市场模型</a:t>
            </a:r>
          </a:p>
        </p:txBody>
      </p:sp>
      <p:sp>
        <p:nvSpPr>
          <p:cNvPr id="18" name="平行四边形 17">
            <a:extLst>
              <a:ext uri="{FF2B5EF4-FFF2-40B4-BE49-F238E27FC236}">
                <ns2:creationId id="{8DBD108F-4368-485F-99AE-D2012F0442DC}"/>
              </a:ext>
            </a:extLst>
          </p:cNvPr>
          <p:cNvSpPr/>
          <p:nvPr/>
        </p:nvSpPr>
        <p:spPr>
          <a:xfrm>
            <a:off x="4373271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9" name="平行四边形 18">
            <a:extLst>
              <a:ext uri="{FF2B5EF4-FFF2-40B4-BE49-F238E27FC236}">
                <ns2:creationId id="{AAF49508-98DF-45B7-A6AB-5BD571C61AAF}"/>
              </a:ext>
            </a:extLst>
          </p:cNvPr>
          <p:cNvSpPr/>
          <p:nvPr/>
        </p:nvSpPr>
        <p:spPr>
          <a:xfrm>
            <a:off x="4185222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0" name="文本框 13">
            <a:extLst>
              <a:ext uri="{FF2B5EF4-FFF2-40B4-BE49-F238E27FC236}">
                <ns2:creationId id="{AE2711A0-71D0-4849-8238-D04ABAE67841}"/>
              </a:ext>
            </a:extLst>
          </p:cNvPr>
          <p:cNvSpPr txBox="1"/>
          <p:nvPr/>
        </p:nvSpPr>
        <p:spPr>
          <a:xfrm>
            <a:off x="5388470" y="1915523"/>
            <a:ext cx="202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AR 与 CAR</a:t>
            </a:r>
          </a:p>
        </p:txBody>
      </p:sp>
      <p:sp>
        <p:nvSpPr>
          <p:cNvPr id="21" name="平行四边形 20">
            <a:extLst>
              <a:ext uri="{FF2B5EF4-FFF2-40B4-BE49-F238E27FC236}">
                <ns2:creationId id="{472596A1-3030-4CBC-BF9C-4C82BC503F5D}"/>
              </a:ext>
            </a:extLst>
          </p:cNvPr>
          <p:cNvSpPr/>
          <p:nvPr/>
        </p:nvSpPr>
        <p:spPr>
          <a:xfrm>
            <a:off x="7770197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2" name="平行四边形 21">
            <a:extLst>
              <a:ext uri="{FF2B5EF4-FFF2-40B4-BE49-F238E27FC236}">
                <ns2:creationId id="{2A9FCA48-1C74-40BB-A6B5-7F3D19A80C14}"/>
              </a:ext>
            </a:extLst>
          </p:cNvPr>
          <p:cNvSpPr/>
          <p:nvPr/>
        </p:nvSpPr>
        <p:spPr>
          <a:xfrm>
            <a:off x="7582148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3" name="文本框 14">
            <a:extLst>
              <a:ext uri="{FF2B5EF4-FFF2-40B4-BE49-F238E27FC236}">
                <ns2:creationId id="{C661844D-A93E-4761-AD28-33E91BAED293}"/>
              </a:ext>
            </a:extLst>
          </p:cNvPr>
          <p:cNvSpPr txBox="1"/>
          <p:nvPr/>
        </p:nvSpPr>
        <p:spPr>
          <a:xfrm>
            <a:off x="8387411" y="2955756"/>
            <a:ext cx="2038989" cy="2377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t = CAR/(σ̂AR√L)</a:t>
            </a:r>
            <a:endParaRPr lang="en-US" altLang="zh-CN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  <a:r>
              <a:t>窗口：[-1,+1]、[0,+3]、[0,+5]
补充 BH-FDR 与 Bonferroni</a:t>
            </a:r>
          </a:p>
        </p:txBody>
      </p:sp>
      <p:sp>
        <p:nvSpPr>
          <p:cNvPr id="24" name="文本框 13">
            <a:extLst>
              <a:ext uri="{FF2B5EF4-FFF2-40B4-BE49-F238E27FC236}">
                <ns2:creationId id="{6FAF1D91-1023-44DB-8F74-7DAA475E7F90}"/>
              </a:ext>
            </a:extLst>
          </p:cNvPr>
          <p:cNvSpPr txBox="1"/>
          <p:nvPr/>
        </p:nvSpPr>
        <p:spPr>
          <a:xfrm>
            <a:off x="8785397" y="1915523"/>
            <a:ext cx="1852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显著性</a:t>
            </a:r>
          </a:p>
        </p:txBody>
      </p:sp>
      <p:sp>
        <p:nvSpPr>
          <p:cNvPr id="25" name="文本框 14">
            <a:extLst>
              <a:ext uri="{FF2B5EF4-FFF2-40B4-BE49-F238E27FC236}">
                <ns2:creationId id="{6718C692-DD39-4AF1-9700-F309424CFA79}"/>
              </a:ext>
            </a:extLst>
          </p:cNvPr>
          <p:cNvSpPr txBox="1"/>
          <p:nvPr/>
        </p:nvSpPr>
        <p:spPr>
          <a:xfrm>
            <a:off x="4940882" y="2955756"/>
            <a:ext cx="2024431" cy="2377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ARᵢ,ₜ = Rᵢ,ₜ − Ê(Rᵢ,ₜ)</a:t>
            </a:r>
            <a:endParaRPr lang="en-US" altLang="zh-CN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  <a:r>
              <a:t>CAR = Σ ARᵢ,ₜ</a:t>
            </a:r>
          </a:p>
        </p:txBody>
      </p:sp>
      <p:sp>
        <p:nvSpPr>
          <p:cNvPr id="26" name="文本框 14">
            <a:extLst>
              <a:ext uri="{FF2B5EF4-FFF2-40B4-BE49-F238E27FC236}">
                <ns2:creationId id="{E31B711E-60EC-412F-8746-FD0332DF02EE}"/>
              </a:ext>
            </a:extLst>
          </p:cNvPr>
          <p:cNvSpPr txBox="1"/>
          <p:nvPr/>
        </p:nvSpPr>
        <p:spPr>
          <a:xfrm>
            <a:off x="1524674" y="2955756"/>
            <a:ext cx="2148502" cy="2377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Rᵢ,ₜ = αᵢ + βᵢRₘ,ₜ + εᵢ,ₜ</a:t>
            </a:r>
            <a:endParaRPr lang="en-US" altLang="zh-CN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  <a:defRPr/>
            </a:pPr>
            <a:endParaRPr lang="en-US" altLang="zh-CN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  <a:r>
              <a:t>估计窗：[-120,-21]</a:t>
            </a:r>
          </a:p>
        </p:txBody>
      </p:sp>
      <p:pic>
        <p:nvPicPr>
          <p:cNvPr id="27" name="图片 26">
            <a:extLst>
              <a:ext uri="{FF2B5EF4-FFF2-40B4-BE49-F238E27FC236}">
                <ns2:creationId id="{A7278DA7-BD11-46BA-91FC-3ACC1BEE79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6096000" y="934641"/>
            <a:ext cx="6049548" cy="6049548"/>
          </a:xfrm>
          <a:prstGeom prst="rect">
            <a:avLst/>
          </a:prstGeom>
        </p:spPr>
      </p:pic>
    </p:spTree>
    <p:extLst>
      <p:ext uri="{BB962C8B-B14F-4D97-AF65-F5344CB8AC3E}">
        <p14:creationId val="706775634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ITS 与诊断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ns2:creationId id="{3BD55944-14F1-4C33-B5E1-2A14F9896E0B}"/>
              </a:ext>
            </a:extLst>
          </p:cNvPr>
          <p:cNvSpPr/>
          <p:nvPr/>
        </p:nvSpPr>
        <p:spPr>
          <a:xfrm>
            <a:off x="359521" y="1196752"/>
            <a:ext cx="11472958" cy="4701822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ns2:creationId id="{5CA206F8-AA46-457C-976A-6D7CD1DF9691}"/>
              </a:ext>
            </a:extLst>
          </p:cNvPr>
          <p:cNvGrpSpPr/>
          <p:nvPr/>
        </p:nvGrpSpPr>
        <p:grpSpPr>
          <a:xfrm>
            <a:off x="766372" y="1504421"/>
            <a:ext cx="2498818" cy="779295"/>
            <a:chOff x="827467" y="3115218"/>
            <a:chExt cx="1915595" cy="597408"/>
          </a:xfrm>
          <a:solidFill>
            <a:srgbClr val="0675A0"/>
          </a:solidFill>
        </p:grpSpPr>
        <p:sp>
          <p:nvSpPr>
            <p:cNvPr id="15" name="矩形 14">
              <a:extLst>
                <a:ext uri="{FF2B5EF4-FFF2-40B4-BE49-F238E27FC236}">
                  <ns2:creationId id="{3E1EB86F-6208-47D0-BE03-C50F15C38441}"/>
                </a:ext>
              </a:extLst>
            </p:cNvPr>
            <p:cNvSpPr/>
            <p:nvPr/>
          </p:nvSpPr>
          <p:spPr>
            <a:xfrm>
              <a:off x="827467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文本框 4">
              <a:extLst>
                <a:ext uri="{FF2B5EF4-FFF2-40B4-BE49-F238E27FC236}">
                  <ns2:creationId id="{FCFEBD3C-1248-4096-9D3F-71B56269749C}"/>
                </a:ext>
              </a:extLst>
            </p:cNvPr>
            <p:cNvSpPr txBox="1"/>
            <p:nvPr/>
          </p:nvSpPr>
          <p:spPr>
            <a:xfrm>
              <a:off x="1280979" y="3260559"/>
              <a:ext cx="1008570" cy="306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ITS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ns2:creationId id="{3435CB1A-0FFD-47A3-A533-77612C729646}"/>
              </a:ext>
            </a:extLst>
          </p:cNvPr>
          <p:cNvGrpSpPr/>
          <p:nvPr/>
        </p:nvGrpSpPr>
        <p:grpSpPr>
          <a:xfrm>
            <a:off x="3486193" y="1504421"/>
            <a:ext cx="2498818" cy="779295"/>
            <a:chOff x="3970073" y="2147212"/>
            <a:chExt cx="1915595" cy="597408"/>
          </a:xfrm>
        </p:grpSpPr>
        <p:sp>
          <p:nvSpPr>
            <p:cNvPr id="19" name="矩形 18">
              <a:extLst>
                <a:ext uri="{FF2B5EF4-FFF2-40B4-BE49-F238E27FC236}">
                  <ns2:creationId id="{519B8EF7-4541-40BA-9B35-10BA8F7C6ABD}"/>
                </a:ext>
              </a:extLst>
            </p:cNvPr>
            <p:cNvSpPr/>
            <p:nvPr/>
          </p:nvSpPr>
          <p:spPr>
            <a:xfrm>
              <a:off x="397007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ns2:creationId id="{A3D70A45-F2F9-429E-B90C-E8F7888ABB80}"/>
                </a:ext>
              </a:extLst>
            </p:cNvPr>
            <p:cNvSpPr txBox="1"/>
            <p:nvPr/>
          </p:nvSpPr>
          <p:spPr>
            <a:xfrm>
              <a:off x="4423585" y="2292553"/>
              <a:ext cx="1008570" cy="306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DW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ns2:creationId id="{FB257706-D4BE-457A-8BC2-64881075BA2E}"/>
              </a:ext>
            </a:extLst>
          </p:cNvPr>
          <p:cNvGrpSpPr/>
          <p:nvPr/>
        </p:nvGrpSpPr>
        <p:grpSpPr>
          <a:xfrm>
            <a:off x="6206014" y="1504421"/>
            <a:ext cx="2498818" cy="779295"/>
            <a:chOff x="5534462" y="3115218"/>
            <a:chExt cx="1915595" cy="597408"/>
          </a:xfrm>
          <a:solidFill>
            <a:srgbClr val="C00000"/>
          </a:solidFill>
        </p:grpSpPr>
        <p:sp>
          <p:nvSpPr>
            <p:cNvPr id="22" name="矩形 21">
              <a:extLst>
                <a:ext uri="{FF2B5EF4-FFF2-40B4-BE49-F238E27FC236}">
                  <ns2:creationId id="{41CC9C34-296F-40C3-A0DD-9C794A2DBCD6}"/>
                </a:ext>
              </a:extLst>
            </p:cNvPr>
            <p:cNvSpPr/>
            <p:nvPr/>
          </p:nvSpPr>
          <p:spPr>
            <a:xfrm>
              <a:off x="5534462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文本框 21">
              <a:extLst>
                <a:ext uri="{FF2B5EF4-FFF2-40B4-BE49-F238E27FC236}">
                  <ns2:creationId id="{95BE185F-3CE8-401B-A069-553F32E46CF3}"/>
                </a:ext>
              </a:extLst>
            </p:cNvPr>
            <p:cNvSpPr txBox="1"/>
            <p:nvPr/>
          </p:nvSpPr>
          <p:spPr>
            <a:xfrm>
              <a:off x="5987974" y="3260559"/>
              <a:ext cx="1008570" cy="306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BP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ns2:creationId id="{E13AB115-EE2C-4117-B89E-37E59DFD5DBF}"/>
              </a:ext>
            </a:extLst>
          </p:cNvPr>
          <p:cNvGrpSpPr/>
          <p:nvPr/>
        </p:nvGrpSpPr>
        <p:grpSpPr>
          <a:xfrm>
            <a:off x="8925834" y="1504421"/>
            <a:ext cx="2498818" cy="779295"/>
            <a:chOff x="8270100" y="3115218"/>
            <a:chExt cx="1915595" cy="597408"/>
          </a:xfrm>
          <a:solidFill>
            <a:srgbClr val="C00000"/>
          </a:solidFill>
        </p:grpSpPr>
        <p:sp>
          <p:nvSpPr>
            <p:cNvPr id="25" name="矩形 24">
              <a:extLst>
                <a:ext uri="{FF2B5EF4-FFF2-40B4-BE49-F238E27FC236}">
                  <ns2:creationId id="{F904499E-BE17-4D1A-A90D-5E6B2775283C}"/>
                </a:ext>
              </a:extLst>
            </p:cNvPr>
            <p:cNvSpPr/>
            <p:nvPr/>
          </p:nvSpPr>
          <p:spPr>
            <a:xfrm>
              <a:off x="8270100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文本框 22">
              <a:extLst>
                <a:ext uri="{FF2B5EF4-FFF2-40B4-BE49-F238E27FC236}">
                  <ns2:creationId id="{3F0E3902-E2CE-46E2-8E09-3D3171C8B66C}"/>
                </a:ext>
              </a:extLst>
            </p:cNvPr>
            <p:cNvSpPr txBox="1"/>
            <p:nvPr/>
          </p:nvSpPr>
          <p:spPr>
            <a:xfrm>
              <a:off x="8723612" y="3260559"/>
              <a:ext cx="1008570" cy="306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NW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ns2:creationId id="{BBA60A0D-9A3B-4749-8F82-825CF1D23635}"/>
              </a:ext>
            </a:extLst>
          </p:cNvPr>
          <p:cNvSpPr/>
          <p:nvPr/>
        </p:nvSpPr>
        <p:spPr>
          <a:xfrm>
            <a:off x="785286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ns2:creationId id="{D8C6B8F0-313E-4512-A68B-FF449E7C8AA3}"/>
              </a:ext>
            </a:extLst>
          </p:cNvPr>
          <p:cNvSpPr/>
          <p:nvPr/>
        </p:nvSpPr>
        <p:spPr>
          <a:xfrm>
            <a:off x="3466126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ns2:creationId id="{6F09E97E-2D74-4C59-94E1-595AD1C81D28}"/>
              </a:ext>
            </a:extLst>
          </p:cNvPr>
          <p:cNvSpPr/>
          <p:nvPr/>
        </p:nvSpPr>
        <p:spPr>
          <a:xfrm>
            <a:off x="6221137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ns2:creationId id="{65CC818D-3101-4FAD-B007-A3293A0226AD}"/>
              </a:ext>
            </a:extLst>
          </p:cNvPr>
          <p:cNvSpPr/>
          <p:nvPr/>
        </p:nvSpPr>
        <p:spPr>
          <a:xfrm>
            <a:off x="8938947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文本框 24">
            <a:extLst>
              <a:ext uri="{FF2B5EF4-FFF2-40B4-BE49-F238E27FC236}">
                <ns2:creationId id="{9BDCD88C-7140-4FAB-9E39-87E5A819489B}"/>
              </a:ext>
            </a:extLst>
          </p:cNvPr>
          <p:cNvSpPr txBox="1"/>
          <p:nvPr/>
        </p:nvSpPr>
        <p:spPr>
          <a:xfrm>
            <a:off x="857114" y="2498708"/>
            <a:ext cx="2602711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rₜ = β₀ + β₁timeₜ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+ β₂postₜ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+ β₃time_afterₜ + εₜ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β₂：即时冲击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β₃：趋势变化</a:t>
            </a:r>
            <a:endParaRPr lang="en-US" altLang="zh-CN" sz="1600" kern="0" dirty="0">
              <a:solidFill>
                <a:srgbClr val="06276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</p:txBody>
      </p:sp>
      <p:sp>
        <p:nvSpPr>
          <p:cNvPr id="32" name="文本框 24">
            <a:extLst>
              <a:ext uri="{FF2B5EF4-FFF2-40B4-BE49-F238E27FC236}">
                <ns2:creationId id="{1A65268A-F8DB-4616-948A-615AA6B7F3F1}"/>
              </a:ext>
            </a:extLst>
          </p:cNvPr>
          <p:cNvSpPr txBox="1"/>
          <p:nvPr/>
        </p:nvSpPr>
        <p:spPr>
          <a:xfrm>
            <a:off x="3471730" y="2498708"/>
            <a:ext cx="2354694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Durbin-Watson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检查残差一阶自相关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接近 2 表示相关性较弱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  <a:endParaRPr lang="en-US" altLang="zh-CN" sz="1600" kern="0" dirty="0">
              <a:solidFill>
                <a:srgbClr val="06276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</p:txBody>
      </p:sp>
      <p:sp>
        <p:nvSpPr>
          <p:cNvPr id="33" name="文本框 24">
            <a:extLst>
              <a:ext uri="{FF2B5EF4-FFF2-40B4-BE49-F238E27FC236}">
                <ns2:creationId id="{7FD05837-EB3B-4159-BBC6-AC2FE33F5729}"/>
              </a:ext>
            </a:extLst>
          </p:cNvPr>
          <p:cNvSpPr txBox="1"/>
          <p:nvPr/>
        </p:nvSpPr>
        <p:spPr>
          <a:xfrm>
            <a:off x="6226740" y="2498708"/>
            <a:ext cx="2354695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Breusch-Pagan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检验残差方差是否稳定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p &lt; 0.05 提示异方差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  <a:endParaRPr lang="en-US" altLang="zh-CN" sz="1600" kern="0" dirty="0">
              <a:solidFill>
                <a:srgbClr val="06276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</p:txBody>
      </p:sp>
      <p:sp>
        <p:nvSpPr>
          <p:cNvPr id="34" name="文本框 24">
            <a:extLst>
              <a:ext uri="{FF2B5EF4-FFF2-40B4-BE49-F238E27FC236}">
                <ns2:creationId id="{D9676724-49FE-4FCC-9538-207C1464471D}"/>
              </a:ext>
            </a:extLst>
          </p:cNvPr>
          <p:cNvSpPr txBox="1"/>
          <p:nvPr/>
        </p:nvSpPr>
        <p:spPr>
          <a:xfrm>
            <a:off x="8931437" y="2498708"/>
            <a:ext cx="2403449" cy="300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Newey-West 修正标准误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RSS/BIC 网格搜索近似 Bai-Perron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>比较断点与事件日期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  <a:endParaRPr lang="en-US" altLang="zh-CN" sz="1600" kern="0" dirty="0">
              <a:solidFill>
                <a:srgbClr val="06276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itchFamily="34" charset="-122"/>
                <a:ea typeface="微软雅黑" pitchFamily="34" charset="-122"/>
              </a:rPr>
              <a:t/>
            </a:r>
          </a:p>
        </p:txBody>
      </p:sp>
    </p:spTree>
    <p:extLst>
      <p:ext uri="{BB962C8B-B14F-4D97-AF65-F5344CB8AC3E}">
        <p14:creationId val="1976288741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ns2:creationId id="{6C40D3CC-77A7-4EF7-B123-60B81ACA3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>
            <a:extLst>
              <a:ext uri="{FF2B5EF4-FFF2-40B4-BE49-F238E27FC236}">
                <ns2:creationId id="{B003DBEA-DCA9-4367-9C7D-276E86308A89}"/>
              </a:ext>
            </a:extLst>
          </p:cNvPr>
          <p:cNvSpPr txBox="1">
            <a:spLocks/>
          </p:cNvSpPr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>
            <a:extLst>
              <a:ext uri="{FF2B5EF4-FFF2-40B4-BE49-F238E27FC236}">
                <ns2:creationId id="{0596444F-0E55-45FB-ADDC-7CB49F17B057}"/>
              </a:ext>
            </a:extLst>
          </p:cNvPr>
          <p:cNvSpPr txBox="1">
            <a:spLocks/>
          </p:cNvSpPr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实证结果与解释</a:t>
            </a:r>
          </a:p>
        </p:txBody>
      </p:sp>
      <p:grpSp>
        <p:nvGrpSpPr>
          <p:cNvPr id="4" name="组合 3">
            <a:extLst>
              <a:ext uri="{FF2B5EF4-FFF2-40B4-BE49-F238E27FC236}">
                <ns2:creationId id="{2803D4B4-1DA9-48D5-9DA1-22E2C28CE9E8}"/>
              </a:ext>
            </a:extLst>
          </p:cNvPr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>
              <a:extLst>
                <a:ext uri="{FF2B5EF4-FFF2-40B4-BE49-F238E27FC236}">
                  <ns2:creationId id="{06200922-3CF6-4931-BC88-44D4B19E806C}"/>
                </a:ext>
              </a:extLst>
            </p:cNvPr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2D15F4C6-AC88-41C4-9097-B10E7060E768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ns2:creationId id="{1B02D87A-F649-476F-8BC8-FB6C4075F1AC}"/>
              </a:ext>
            </a:extLst>
          </p:cNvPr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>
              <a:extLst>
                <a:ext uri="{FF2B5EF4-FFF2-40B4-BE49-F238E27FC236}">
                  <ns2:creationId id="{7FE902F3-E032-4929-AF5F-9660584777C6}"/>
                </a:ext>
              </a:extLst>
            </p:cNvPr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>
              <a:extLst>
                <a:ext uri="{FF2B5EF4-FFF2-40B4-BE49-F238E27FC236}">
                  <ns2:creationId id="{81F4CA57-0574-43E4-8476-CA9509AA4163}"/>
                </a:ext>
              </a:extLst>
            </p:cNvPr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>
            <a:extLst>
              <a:ext uri="{FF2B5EF4-FFF2-40B4-BE49-F238E27FC236}">
                <ns2:creationId id="{32FBF787-E511-4917-B553-A562828617B2}"/>
              </a:ext>
            </a:extLst>
          </p:cNvPr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ns2:creationId id="{CE435AFB-C13D-4C6C-A251-4DFD2FBA1CBA}"/>
              </a:ext>
            </a:extLst>
          </p:cNvPr>
          <p:cNvSpPr/>
          <p:nvPr/>
        </p:nvSpPr>
        <p:spPr>
          <a:xfrm>
            <a:off x="2156111" y="4424107"/>
            <a:ext cx="60889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cs typeface="+mn-cs"/>
              </a:rPr>
              <a:t>统计显著性、经济幅度与冲击机制需要结合解读</a:t>
            </a:r>
          </a:p>
        </p:txBody>
      </p:sp>
      <p:pic>
        <p:nvPicPr>
          <p:cNvPr id="22" name="图片 21">
            <a:extLst>
              <a:ext uri="{FF2B5EF4-FFF2-40B4-BE49-F238E27FC236}">
                <ns2:creationId id="{238EB420-7087-463D-907F-0BDF70FC2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ns2:creationId id="{5FC3661D-9232-451A-BFEE-4549D7DF0858}"/>
              </a:ext>
            </a:extLst>
          </p:cNvPr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>
              <a:extLst>
                <a:ext uri="{FF2B5EF4-FFF2-40B4-BE49-F238E27FC236}">
                  <ns2:creationId id="{6426CA03-B54C-4E11-BBD3-920EB24A6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ns2:creationId id="{1C55E38C-6740-4923-ACEF-D98A0947D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>
              <a:extLst>
                <a:ext uri="{FF2B5EF4-FFF2-40B4-BE49-F238E27FC236}">
                  <ns2:creationId id="{0EA1DC3D-6BB9-4E11-A0FD-ECC673B23442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</p:spTree>
    <p:extLst>
      <p:ext uri="{BB962C8B-B14F-4D97-AF65-F5344CB8AC3E}">
        <p14:creationId val="349433937"/>
      </p:ext>
    </p:extLst>
  </p:cSld>
  <p:clrMapOvr>
    <a:masterClrMapping/>
  </p:clrMapOvr>
  <p:transition p14:dur="500">
    <p:push dir="r"/>
  </p:transition>
  <mc:AlternateContent>
    <mc:Choice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c="http://schemas.openxmlformats.org/drawingml/2006/chart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收益率特征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graphicFrame>
        <p:nvGraphicFramePr>
          <p:cNvPr id="13" name="图表 12">
            <a:extLst>
              <a:ext uri="{FF2B5EF4-FFF2-40B4-BE49-F238E27FC236}">
                <ns2:creationId id="{CBD75FCF-E681-4920-ADB0-2A4BC54E42F5}"/>
              </a:ext>
            </a:extLst>
          </p:cNvPr>
          <p:cNvGraphicFramePr/>
          <p:nvPr>
            <p:extLst>
              <p:ext uri="{D42A27DB-BD31-4B8C-83A1-F6EECF244321}">
                <p14:modId val="545440988"/>
              </p:ext>
            </p:extLst>
          </p:nvPr>
        </p:nvGraphicFramePr>
        <p:xfrm>
          <a:off x="407988" y="1120811"/>
          <a:ext cx="4140200" cy="2760134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ns2:creationId id="{21198F1E-D29C-43DF-AD94-931346117709}"/>
              </a:ext>
            </a:extLst>
          </p:cNvPr>
          <p:cNvGraphicFramePr/>
          <p:nvPr>
            <p:extLst>
              <p:ext uri="{D42A27DB-BD31-4B8C-83A1-F6EECF244321}">
                <p14:modId val="570037340"/>
              </p:ext>
            </p:extLst>
          </p:nvPr>
        </p:nvGraphicFramePr>
        <p:xfrm>
          <a:off x="4025900" y="1120811"/>
          <a:ext cx="4140200" cy="2760134"/>
        </p:xfrm>
        <a:graphic>
          <a:graphicData uri="http://schemas.openxmlformats.org/drawingml/2006/chart">
            <c:chart r:id="rId7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ns2:creationId id="{750979AC-24C3-49AE-A325-8877759F404D}"/>
              </a:ext>
            </a:extLst>
          </p:cNvPr>
          <p:cNvGraphicFramePr/>
          <p:nvPr>
            <p:extLst>
              <p:ext uri="{D42A27DB-BD31-4B8C-83A1-F6EECF244321}">
                <p14:modId val="3903774786"/>
              </p:ext>
            </p:extLst>
          </p:nvPr>
        </p:nvGraphicFramePr>
        <p:xfrm>
          <a:off x="7643812" y="1120811"/>
          <a:ext cx="4140200" cy="2760134"/>
        </p:xfrm>
        <a:graphic>
          <a:graphicData uri="http://schemas.openxmlformats.org/drawingml/2006/chart">
            <c:chart r:id="rId8"/>
          </a:graphicData>
        </a:graphic>
      </p:graphicFrame>
      <p:sp>
        <p:nvSpPr>
          <p:cNvPr id="16" name="矩形 15">
            <a:extLst>
              <a:ext uri="{FF2B5EF4-FFF2-40B4-BE49-F238E27FC236}">
                <ns2:creationId id="{3AB266F5-B2EA-4784-BC7C-6579BB3DF42E}"/>
              </a:ext>
            </a:extLst>
          </p:cNvPr>
          <p:cNvSpPr/>
          <p:nvPr/>
        </p:nvSpPr>
        <p:spPr>
          <a:xfrm>
            <a:off x="1769029" y="1661839"/>
            <a:ext cx="1418118" cy="893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800" dirty="0">
                <a:solidFill>
                  <a:srgbClr val="005197"/>
                </a:solidFill>
                <a:latin typeface="Century Gothic"/>
                <a:ea typeface="微软雅黑"/>
              </a:rPr>
              <a:t>2.901%</a:t>
            </a:r>
            <a:r>
              <a:rPr lang="en-US" altLang="zh-CN" sz="2400" dirty="0">
                <a:solidFill>
                  <a:srgbClr val="005197"/>
                </a:solidFill>
                <a:latin typeface="Century Gothic"/>
                <a:ea typeface="微软雅黑"/>
              </a:rPr>
              <a:t/>
            </a:r>
            <a:endParaRPr lang="zh-CN" altLang="en-US" sz="3200" dirty="0">
              <a:solidFill>
                <a:srgbClr val="005197"/>
              </a:solidFill>
              <a:latin typeface="Century Gothic"/>
              <a:ea typeface="微软雅黑"/>
            </a:endParaRPr>
          </a:p>
        </p:txBody>
      </p:sp>
      <p:sp>
        <p:nvSpPr>
          <p:cNvPr id="18" name="矩形 17">
            <a:extLst>
              <a:ext uri="{FF2B5EF4-FFF2-40B4-BE49-F238E27FC236}">
                <ns2:creationId id="{4B4DBC29-370F-45F4-B9A9-CB284879F802}"/>
              </a:ext>
            </a:extLst>
          </p:cNvPr>
          <p:cNvSpPr/>
          <p:nvPr/>
        </p:nvSpPr>
        <p:spPr>
          <a:xfrm>
            <a:off x="5386941" y="1661839"/>
            <a:ext cx="1418118" cy="893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800" dirty="0">
                <a:solidFill>
                  <a:srgbClr val="005197"/>
                </a:solidFill>
                <a:latin typeface="Century Gothic"/>
                <a:ea typeface="微软雅黑"/>
              </a:rPr>
              <a:t>2.984%</a:t>
            </a:r>
            <a:r>
              <a:rPr lang="en-US" altLang="zh-CN" sz="2400" dirty="0">
                <a:solidFill>
                  <a:srgbClr val="005197"/>
                </a:solidFill>
                <a:latin typeface="Century Gothic"/>
                <a:ea typeface="微软雅黑"/>
              </a:rPr>
              <a:t/>
            </a:r>
            <a:endParaRPr lang="zh-CN" altLang="en-US" sz="3200" dirty="0">
              <a:solidFill>
                <a:srgbClr val="005197"/>
              </a:solidFill>
              <a:latin typeface="Century Gothic"/>
              <a:ea typeface="微软雅黑"/>
            </a:endParaRPr>
          </a:p>
        </p:txBody>
      </p:sp>
      <p:sp>
        <p:nvSpPr>
          <p:cNvPr id="19" name="矩形 18">
            <a:extLst>
              <a:ext uri="{FF2B5EF4-FFF2-40B4-BE49-F238E27FC236}">
                <ns2:creationId id="{35929169-3632-4A79-888E-BD2E260DFD12}"/>
              </a:ext>
            </a:extLst>
          </p:cNvPr>
          <p:cNvSpPr/>
          <p:nvPr/>
        </p:nvSpPr>
        <p:spPr>
          <a:xfrm>
            <a:off x="9004853" y="1661839"/>
            <a:ext cx="1418118" cy="893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4800" dirty="0">
                <a:solidFill>
                  <a:srgbClr val="FFC000"/>
                </a:solidFill>
                <a:latin typeface="Century Gothic"/>
                <a:ea typeface="微软雅黑"/>
              </a:rPr>
              <a:t>0.845</a:t>
            </a:r>
            <a:r>
              <a:rPr lang="en-US" altLang="zh-CN" sz="2400" dirty="0">
                <a:solidFill>
                  <a:srgbClr val="FFC000"/>
                </a:solidFill>
                <a:latin typeface="Century Gothic"/>
                <a:ea typeface="微软雅黑"/>
              </a:rPr>
              <a:t/>
            </a:r>
            <a:endParaRPr lang="zh-CN" altLang="en-US" sz="3200" dirty="0">
              <a:solidFill>
                <a:srgbClr val="FFC000"/>
              </a:solidFill>
              <a:latin typeface="Century Gothic"/>
              <a:ea typeface="微软雅黑"/>
            </a:endParaRPr>
          </a:p>
        </p:txBody>
      </p:sp>
      <p:sp>
        <p:nvSpPr>
          <p:cNvPr id="20" name="等腰三角形 19">
            <a:extLst>
              <a:ext uri="{FF2B5EF4-FFF2-40B4-BE49-F238E27FC236}">
                <ns2:creationId id="{0B5BD8C5-22C6-494A-8E7B-757F0782A9E6}"/>
              </a:ext>
            </a:extLst>
          </p:cNvPr>
          <p:cNvSpPr/>
          <p:nvPr/>
        </p:nvSpPr>
        <p:spPr>
          <a:xfrm flipV="1">
            <a:off x="2424113" y="2616442"/>
            <a:ext cx="107950" cy="93058"/>
          </a:xfrm>
          <a:prstGeom prst="triangle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ns2:creationId id="{A6B9EAAA-A54B-43EB-B9E7-E2942E5F2366}"/>
              </a:ext>
            </a:extLst>
          </p:cNvPr>
          <p:cNvSpPr/>
          <p:nvPr/>
        </p:nvSpPr>
        <p:spPr>
          <a:xfrm>
            <a:off x="1769029" y="2776264"/>
            <a:ext cx="1418118" cy="362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/>
                <a:ea typeface="微软雅黑"/>
              </a:rPr>
              <a:t>WTI 波动</a:t>
            </a:r>
            <a:endParaRPr lang="zh-CN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微软雅黑"/>
              <a:ea typeface="微软雅黑"/>
            </a:endParaRPr>
          </a:p>
        </p:txBody>
      </p:sp>
      <p:sp>
        <p:nvSpPr>
          <p:cNvPr id="22" name="矩形 21">
            <a:extLst>
              <a:ext uri="{FF2B5EF4-FFF2-40B4-BE49-F238E27FC236}">
                <ns2:creationId id="{8CB65C50-DA88-4CCF-934A-0ADBF444A303}"/>
              </a:ext>
            </a:extLst>
          </p:cNvPr>
          <p:cNvSpPr/>
          <p:nvPr/>
        </p:nvSpPr>
        <p:spPr>
          <a:xfrm>
            <a:off x="5386941" y="2776264"/>
            <a:ext cx="1418118" cy="362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/>
                <a:ea typeface="微软雅黑"/>
              </a:rPr>
              <a:t>Brent σ</a:t>
            </a:r>
            <a:endParaRPr lang="zh-CN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微软雅黑"/>
              <a:ea typeface="微软雅黑"/>
            </a:endParaRPr>
          </a:p>
        </p:txBody>
      </p:sp>
      <p:sp>
        <p:nvSpPr>
          <p:cNvPr id="23" name="矩形 22">
            <a:extLst>
              <a:ext uri="{FF2B5EF4-FFF2-40B4-BE49-F238E27FC236}">
                <ns2:creationId id="{8BC23786-08C2-4C04-9158-CF6F33230B2E}"/>
              </a:ext>
            </a:extLst>
          </p:cNvPr>
          <p:cNvSpPr/>
          <p:nvPr/>
        </p:nvSpPr>
        <p:spPr>
          <a:xfrm>
            <a:off x="9004853" y="2776264"/>
            <a:ext cx="1418118" cy="362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/>
                <a:ea typeface="微软雅黑"/>
              </a:rPr>
              <a:t>相关系数</a:t>
            </a:r>
            <a:endParaRPr lang="zh-CN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微软雅黑"/>
              <a:ea typeface="微软雅黑"/>
            </a:endParaRPr>
          </a:p>
        </p:txBody>
      </p:sp>
      <p:sp>
        <p:nvSpPr>
          <p:cNvPr id="24" name="等腰三角形 23">
            <a:extLst>
              <a:ext uri="{FF2B5EF4-FFF2-40B4-BE49-F238E27FC236}">
                <ns2:creationId id="{A3B14EE1-F943-4AF6-A4FA-FCC9BA09C1CF}"/>
              </a:ext>
            </a:extLst>
          </p:cNvPr>
          <p:cNvSpPr/>
          <p:nvPr/>
        </p:nvSpPr>
        <p:spPr>
          <a:xfrm flipV="1">
            <a:off x="6042025" y="2616442"/>
            <a:ext cx="107950" cy="93058"/>
          </a:xfrm>
          <a:prstGeom prst="triangle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5" name="等腰三角形 24">
            <a:extLst>
              <a:ext uri="{FF2B5EF4-FFF2-40B4-BE49-F238E27FC236}">
                <ns2:creationId id="{120364CB-3B49-439A-B905-E1D3A12A7FD9}"/>
              </a:ext>
            </a:extLst>
          </p:cNvPr>
          <p:cNvSpPr/>
          <p:nvPr/>
        </p:nvSpPr>
        <p:spPr>
          <a:xfrm flipV="1">
            <a:off x="9659937" y="2616442"/>
            <a:ext cx="107950" cy="93058"/>
          </a:xfrm>
          <a:prstGeom prst="triangle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6" name="矩形 25">
            <a:extLst>
              <a:ext uri="{FF2B5EF4-FFF2-40B4-BE49-F238E27FC236}">
                <ns2:creationId id="{691D1C04-65C8-42D7-B9FB-1F442741CE04}"/>
              </a:ext>
            </a:extLst>
          </p:cNvPr>
          <p:cNvSpPr/>
          <p:nvPr/>
        </p:nvSpPr>
        <p:spPr>
          <a:xfrm>
            <a:off x="4653795" y="4101727"/>
            <a:ext cx="2884411" cy="213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rgbClr val="E7E6E6">
                    <a:lumMod val="50000"/>
                  </a:srgbClr>
                </a:solidFill>
                <a:latin typeface="微软雅黑"/>
                <a:ea typeface="微软雅黑"/>
              </a:rPr>
              <a:t>均值 0.080%；偏度 -0.547；峰度 8.391。Brent 同样呈现明显高峰厚尾。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669B54BF-1A8F-4B56-B6F1-C699A259D77C}"/>
              </a:ext>
            </a:extLst>
          </p:cNvPr>
          <p:cNvSpPr/>
          <p:nvPr/>
        </p:nvSpPr>
        <p:spPr>
          <a:xfrm>
            <a:off x="1035883" y="4101727"/>
            <a:ext cx="2884411" cy="213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rgbClr val="E7E6E6">
                    <a:lumMod val="50000"/>
                  </a:srgbClr>
                </a:solidFill>
                <a:latin typeface="微软雅黑"/>
                <a:ea typeface="微软雅黑"/>
              </a:rPr>
              <a:t>均值 0.081%；偏度 -0.888；峰度 9.855。负偏与高峰度表明下行尾部风险突出。</a:t>
            </a:r>
          </a:p>
        </p:txBody>
      </p:sp>
      <p:sp>
        <p:nvSpPr>
          <p:cNvPr id="28" name="矩形 27">
            <a:extLst>
              <a:ext uri="{FF2B5EF4-FFF2-40B4-BE49-F238E27FC236}">
                <ns2:creationId id="{D1512975-A18C-48DA-B07D-FDE7D7520F13}"/>
              </a:ext>
            </a:extLst>
          </p:cNvPr>
          <p:cNvSpPr/>
          <p:nvPr/>
        </p:nvSpPr>
        <p:spPr>
          <a:xfrm>
            <a:off x="8271707" y="4101727"/>
            <a:ext cx="2884411" cy="213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rgbClr val="E7E6E6">
                    <a:lumMod val="50000"/>
                  </a:srgbClr>
                </a:solidFill>
                <a:latin typeface="微软雅黑"/>
                <a:ea typeface="微软雅黑"/>
              </a:rPr>
              <a:t>两种基准油价高度联动，但对中东供应风险的敏感度和反应幅度并不完全一致。</a:t>
            </a:r>
          </a:p>
        </p:txBody>
      </p:sp>
    </p:spTree>
    <p:extLst>
      <p:ext uri="{BB962C8B-B14F-4D97-AF65-F5344CB8AC3E}">
        <p14:creationId val="771238431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c="http://schemas.openxmlformats.org/drawingml/2006/chart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CAR 核心结果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graphicFrame>
        <p:nvGraphicFramePr>
          <p:cNvPr id="13" name="图表 12">
            <a:extLst>
              <a:ext uri="{FF2B5EF4-FFF2-40B4-BE49-F238E27FC236}">
                <ns2:creationId id="{0B98AE31-2064-4187-9D6E-1965C3F13F48}"/>
              </a:ext>
            </a:extLst>
          </p:cNvPr>
          <p:cNvGraphicFramePr/>
          <p:nvPr>
            <p:extLst>
              <p:ext uri="{D42A27DB-BD31-4B8C-83A1-F6EECF244321}">
                <p14:modId val="204036898"/>
              </p:ext>
            </p:extLst>
          </p:nvPr>
        </p:nvGraphicFramePr>
        <p:xfrm>
          <a:off x="673100" y="2348890"/>
          <a:ext cx="10845800" cy="3886812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14" name="矩形 13">
            <a:extLst>
              <a:ext uri="{FF2B5EF4-FFF2-40B4-BE49-F238E27FC236}">
                <ns2:creationId id="{880A8FFF-BFD5-4326-A0BE-4024D09D3212}"/>
              </a:ext>
            </a:extLst>
          </p:cNvPr>
          <p:cNvSpPr/>
          <p:nvPr/>
        </p:nvSpPr>
        <p:spPr>
          <a:xfrm>
            <a:off x="744861" y="1225471"/>
            <a:ext cx="10845800" cy="953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E7E6E6">
                    <a:lumMod val="50000"/>
                  </a:srgbClr>
                </a:solidFill>
                <a:latin typeface="微软雅黑"/>
                <a:ea typeface="微软雅黑"/>
              </a:rPr>
              <a:t>E4 冲击最强：Brent CAR 为 13.552%，WTI 相对 CAR 为 -10.198%，经 BH-FDR 与 Bonferroni 修正后仍显著。E2、E3 仅在原始检验中呈边际显著，修正后不稳健。</a:t>
            </a:r>
          </a:p>
        </p:txBody>
      </p:sp>
    </p:spTree>
    <p:extLst>
      <p:ext uri="{BB962C8B-B14F-4D97-AF65-F5344CB8AC3E}">
        <p14:creationId val="2692826417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ITS 与断点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ns2:creationId id="{92E14DDB-9A84-44E3-8892-207697201132}"/>
              </a:ext>
            </a:extLst>
          </p:cNvPr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ns2:creationId id="{E7B08DE8-0D8D-4702-81AB-0E28446C28A4}"/>
              </a:ext>
            </a:extLst>
          </p:cNvPr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ns2:creationId id="{64EA757B-9C2F-4E4A-B85F-312D920718A0}"/>
              </a:ext>
            </a:extLst>
          </p:cNvPr>
          <p:cNvSpPr/>
          <p:nvPr/>
        </p:nvSpPr>
        <p:spPr>
          <a:xfrm>
            <a:off x="1247623" y="252075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E3 Brent 即时水平冲击：+3.344%，NW p = 0.0109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FA8C70F1-5A95-4295-BA2C-CAE45E169848}"/>
              </a:ext>
            </a:extLst>
          </p:cNvPr>
          <p:cNvSpPr/>
          <p:nvPr/>
        </p:nvSpPr>
        <p:spPr>
          <a:xfrm>
            <a:off x="13507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/>
                <a:ea typeface="微软雅黑"/>
              </a:rPr>
              <a:t>ITS 核心发现</a:t>
            </a:r>
            <a:r>
              <a:rPr lang="en-US" altLang="zh-CN" sz="1100" b="1" dirty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  <a:endParaRPr lang="zh-CN" altLang="en-US" sz="20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矩形 17">
            <a:extLst>
              <a:ext uri="{FF2B5EF4-FFF2-40B4-BE49-F238E27FC236}">
                <ns2:creationId id="{89F7CD42-25DB-4A4E-A7FB-315338715FE0}"/>
              </a:ext>
            </a:extLst>
          </p:cNvPr>
          <p:cNvSpPr/>
          <p:nvPr/>
        </p:nvSpPr>
        <p:spPr>
          <a:xfrm>
            <a:off x="1247623" y="370947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E4 WTI 相对即时冲击：-3.082%，NW p = 0.0459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67A4755B-E0FD-4EE6-98DB-8971FD779D75}"/>
              </a:ext>
            </a:extLst>
          </p:cNvPr>
          <p:cNvSpPr/>
          <p:nvPr/>
        </p:nvSpPr>
        <p:spPr>
          <a:xfrm>
            <a:off x="1247623" y="489819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其余事件的即时或趋势变化多数缺乏稳健显著性</a:t>
            </a:r>
          </a:p>
        </p:txBody>
      </p:sp>
      <p:sp>
        <p:nvSpPr>
          <p:cNvPr id="20" name="矩形 19">
            <a:extLst>
              <a:ext uri="{FF2B5EF4-FFF2-40B4-BE49-F238E27FC236}">
                <ns2:creationId id="{14FF3AFE-24AF-496B-AA67-0D418E492A39}"/>
              </a:ext>
            </a:extLst>
          </p:cNvPr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21" name="矩形 20">
            <a:extLst>
              <a:ext uri="{FF2B5EF4-FFF2-40B4-BE49-F238E27FC236}">
                <ns2:creationId id="{3BA8D66A-30A7-42F0-A218-5518410D8B33}"/>
              </a:ext>
            </a:extLst>
          </p:cNvPr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22" name="矩形 21">
            <a:extLst>
              <a:ext uri="{FF2B5EF4-FFF2-40B4-BE49-F238E27FC236}">
                <ns2:creationId id="{096A6FA2-06FB-4BAE-B4D9-324F58C9A416}"/>
              </a:ext>
            </a:extLst>
          </p:cNvPr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ns2:creationId id="{20DFFB90-31F0-4B18-9415-3B871F948CCB}"/>
              </a:ext>
            </a:extLst>
          </p:cNvPr>
          <p:cNvCxnSpPr>
            <a:cxnSpLocks/>
          </p:cNvCxnSpPr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ns2:creationId id="{C4665CBE-FC9D-43A8-9200-132BBFFBB266}"/>
              </a:ext>
            </a:extLst>
          </p:cNvPr>
          <p:cNvCxnSpPr>
            <a:cxnSpLocks/>
          </p:cNvCxnSpPr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>
            <a:extLst>
              <a:ext uri="{FF2B5EF4-FFF2-40B4-BE49-F238E27FC236}">
                <ns2:creationId id="{A1895511-3D6A-4F7E-96B1-579D63823098}"/>
              </a:ext>
            </a:extLst>
          </p:cNvPr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>
            <a:extLst>
              <a:ext uri="{FF2B5EF4-FFF2-40B4-BE49-F238E27FC236}">
                <ns2:creationId id="{90AE48BA-1D8C-45A6-BABF-3124B14F8ADE}"/>
              </a:ext>
            </a:extLst>
          </p:cNvPr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ns2:creationId id="{720A8F54-FAB9-42D9-A750-B52FA83B00A5}"/>
              </a:ext>
            </a:extLst>
          </p:cNvPr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ns2:creationId id="{B1377B59-A5A0-46D7-A31C-05EBD9602132}"/>
              </a:ext>
            </a:extLst>
          </p:cNvPr>
          <p:cNvSpPr/>
          <p:nvPr/>
        </p:nvSpPr>
        <p:spPr>
          <a:xfrm>
            <a:off x="7140423" y="252075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DW 多数接近 2，残差一阶自相关总体有限</a:t>
            </a:r>
          </a:p>
        </p:txBody>
      </p:sp>
      <p:sp>
        <p:nvSpPr>
          <p:cNvPr id="29" name="矩形 28">
            <a:extLst>
              <a:ext uri="{FF2B5EF4-FFF2-40B4-BE49-F238E27FC236}">
                <ns2:creationId id="{E9AAFE55-BA98-4ADA-B0AC-FC479DDA98B8}"/>
              </a:ext>
            </a:extLst>
          </p:cNvPr>
          <p:cNvSpPr/>
          <p:nvPr/>
        </p:nvSpPr>
        <p:spPr>
          <a:xfrm>
            <a:off x="72435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诊断与断点</a:t>
            </a:r>
            <a:r>
              <a:rPr lang="en-US" altLang="zh-CN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/>
            </a:r>
            <a:endParaRPr lang="zh-CN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</p:txBody>
      </p:sp>
      <p:sp>
        <p:nvSpPr>
          <p:cNvPr id="30" name="矩形 29">
            <a:extLst>
              <a:ext uri="{FF2B5EF4-FFF2-40B4-BE49-F238E27FC236}">
                <ns2:creationId id="{36ED2F98-1A10-44AA-A4A6-E19B4CCE608E}"/>
              </a:ext>
            </a:extLst>
          </p:cNvPr>
          <p:cNvSpPr/>
          <p:nvPr/>
        </p:nvSpPr>
        <p:spPr>
          <a:xfrm>
            <a:off x="7140423" y="370947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部分 BP 检验显著，因此使用 Newey-West 修正推断</a:t>
            </a:r>
          </a:p>
        </p:txBody>
      </p:sp>
      <p:sp>
        <p:nvSpPr>
          <p:cNvPr id="31" name="矩形 30">
            <a:extLst>
              <a:ext uri="{FF2B5EF4-FFF2-40B4-BE49-F238E27FC236}">
                <ns2:creationId id="{16B75D1D-33A8-4248-BE07-52E2258F942F}"/>
              </a:ext>
            </a:extLst>
          </p:cNvPr>
          <p:cNvSpPr/>
          <p:nvPr/>
        </p:nvSpPr>
        <p:spPr>
          <a:xfrm>
            <a:off x="7140423" y="489819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WTI/Brent 断点集中于 2026-02-27 至 03-02，与 E3 高度重合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53142470-F424-4EDD-ADA8-CF86224C927C}"/>
              </a:ext>
            </a:extLst>
          </p:cNvPr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33" name="矩形 32">
            <a:extLst>
              <a:ext uri="{FF2B5EF4-FFF2-40B4-BE49-F238E27FC236}">
                <ns2:creationId id="{683A36BC-ACA0-4478-8037-C04EF0B7F9FD}"/>
              </a:ext>
            </a:extLst>
          </p:cNvPr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34" name="矩形 33">
            <a:extLst>
              <a:ext uri="{FF2B5EF4-FFF2-40B4-BE49-F238E27FC236}">
                <ns2:creationId id="{DA8B0A44-9537-415F-BD97-AC4AC4AF3883}"/>
              </a:ext>
            </a:extLst>
          </p:cNvPr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ns2:creationId id="{225C84CF-77BF-41BC-80DB-F4B9045F75C7}"/>
              </a:ext>
            </a:extLst>
          </p:cNvPr>
          <p:cNvCxnSpPr>
            <a:cxnSpLocks/>
          </p:cNvCxnSpPr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>
            <a:extLst>
              <a:ext uri="{FF2B5EF4-FFF2-40B4-BE49-F238E27FC236}">
                <ns2:creationId id="{1701DC1C-8D5D-47D2-88B3-2C7BB72088F4}"/>
              </a:ext>
            </a:extLst>
          </p:cNvPr>
          <p:cNvCxnSpPr>
            <a:cxnSpLocks/>
          </p:cNvCxnSpPr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>
            <a:extLst>
              <a:ext uri="{FF2B5EF4-FFF2-40B4-BE49-F238E27FC236}">
                <ns2:creationId id="{B9379BD2-0413-4260-A718-41EA36481C75}"/>
              </a:ext>
            </a:extLst>
          </p:cNvPr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>
            <a:extLst>
              <a:ext uri="{FF2B5EF4-FFF2-40B4-BE49-F238E27FC236}">
                <ns2:creationId id="{C91DC9DF-39C3-4BA4-90A6-43C68B84D3E1}"/>
              </a:ext>
            </a:extLst>
          </p:cNvPr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ns2:creationId id="{DDFA6D04-DBE4-4B5E-AEB1-BBC61777FA8E}"/>
              </a:ext>
            </a:extLst>
          </p:cNvPr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val="2230676449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ns2:creationId id="{1CD06CE8-775B-412D-8CA5-38149B4250F2}"/>
              </a:ext>
            </a:extLst>
          </p:cNvPr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>
              <a:extLst>
                <a:ext uri="{FF2B5EF4-FFF2-40B4-BE49-F238E27FC236}">
                  <ns2:creationId id="{6B433195-F3A3-4CAE-9D18-8C115F4AFBBC}"/>
                </a:ext>
              </a:extLst>
            </p:cNvPr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>
              <a:extLst>
                <a:ext uri="{FF2B5EF4-FFF2-40B4-BE49-F238E27FC236}">
                  <ns2:creationId id="{4EC9FACA-42BA-40CA-8CD7-36526B08C4C9}"/>
                </a:ext>
              </a:extLst>
            </p:cNvPr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ns2:creationId id="{42F384D8-7D4B-43C0-A2C8-97BCCCA3B07A}"/>
              </a:ext>
            </a:extLst>
          </p:cNvPr>
          <p:cNvCxnSpPr>
            <a:cxnSpLocks/>
          </p:cNvCxnSpPr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>
            <a:extLst>
              <a:ext uri="{FF2B5EF4-FFF2-40B4-BE49-F238E27FC236}">
                <ns2:creationId id="{00EE87AC-3A4F-4A38-9D57-EA0EE0E3FE63}"/>
              </a:ext>
            </a:extLst>
          </p:cNvPr>
          <p:cNvSpPr txBox="1">
            <a:spLocks/>
          </p:cNvSpPr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结论与展望</a:t>
            </a:r>
          </a:p>
        </p:txBody>
      </p:sp>
      <p:sp>
        <p:nvSpPr>
          <p:cNvPr id="17" name="文本框 16">
            <a:extLst>
              <a:ext uri="{FF2B5EF4-FFF2-40B4-BE49-F238E27FC236}">
                <ns2:creationId id="{F2EAD76E-80E2-4702-BF6A-13DAF0D3285D}"/>
              </a:ext>
            </a:extLst>
          </p:cNvPr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2026.06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/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>
            <a:extLst>
              <a:ext uri="{FF2B5EF4-FFF2-40B4-BE49-F238E27FC236}">
                <ns2:creationId id="{BEC715CC-7798-47E5-ABB7-FF5B123B4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ns4:imgProps>
                  <ns4:imgLayer r:embed="rId3">
                    <ns4:imgEffect>
                      <ns4:brightnessContrast bright="-40000" contrast="20000"/>
                    </ns4:imgEffect>
                  </ns4:imgLayer>
                </ns4:imgProps>
              </a:ex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ns2:creationId id="{41E23F5A-171A-41C4-8D7B-D7E69E0DFD69}"/>
              </a:ext>
            </a:extLst>
          </p:cNvPr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>
              <a:extLst>
                <a:ext uri="{FF2B5EF4-FFF2-40B4-BE49-F238E27FC236}">
                  <ns2:creationId id="{83C9711A-FB31-4193-B787-05EAA2DA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ns2:creationId id="{AF0C8A20-4182-463D-83B7-12A390AF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>
              <a:extLst>
                <a:ext uri="{FF2B5EF4-FFF2-40B4-BE49-F238E27FC236}">
                  <ns2:creationId id="{EFA628AF-171D-45FF-ADE3-0DC0D0EDB0DD}"/>
                </a:ext>
              </a:extLst>
            </p:cNvPr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</a:p>
          </p:txBody>
        </p:sp>
      </p:grpSp>
      <p:sp>
        <p:nvSpPr>
          <p:cNvPr id="13" name="矩形 12">
            <a:extLst>
              <a:ext uri="{FF2B5EF4-FFF2-40B4-BE49-F238E27FC236}">
                <ns2:creationId id="{92E14DDB-9A84-44E3-8892-207697201132}"/>
              </a:ext>
            </a:extLst>
          </p:cNvPr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ns2:creationId id="{E7B08DE8-0D8D-4702-81AB-0E28446C28A4}"/>
              </a:ext>
            </a:extLst>
          </p:cNvPr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15" name="矩形 14">
            <a:extLst>
              <a:ext uri="{FF2B5EF4-FFF2-40B4-BE49-F238E27FC236}">
                <ns2:creationId id="{64EA757B-9C2F-4E4A-B85F-312D920718A0}"/>
              </a:ext>
            </a:extLst>
          </p:cNvPr>
          <p:cNvSpPr/>
          <p:nvPr/>
        </p:nvSpPr>
        <p:spPr>
          <a:xfrm>
            <a:off x="1247623" y="252075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事件冲击并非普遍显著，E4 是主窗口中最稳健、经济幅度最大的事件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FA8C70F1-5A95-4295-BA2C-CAE45E169848}"/>
              </a:ext>
            </a:extLst>
          </p:cNvPr>
          <p:cNvSpPr/>
          <p:nvPr/>
        </p:nvSpPr>
        <p:spPr>
          <a:xfrm>
            <a:off x="13507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/>
                <a:ea typeface="微软雅黑"/>
              </a:rPr>
              <a:t>主要结论</a:t>
            </a:r>
            <a:r>
              <a:rPr lang="en-US" altLang="zh-CN" sz="1100" b="1" dirty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  <a:endParaRPr lang="zh-CN" altLang="en-US" sz="20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矩形 17">
            <a:extLst>
              <a:ext uri="{FF2B5EF4-FFF2-40B4-BE49-F238E27FC236}">
                <ns2:creationId id="{89F7CD42-25DB-4A4E-A7FB-315338715FE0}"/>
              </a:ext>
            </a:extLst>
          </p:cNvPr>
          <p:cNvSpPr/>
          <p:nvPr/>
        </p:nvSpPr>
        <p:spPr>
          <a:xfrm>
            <a:off x="1247623" y="370947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Brent 对中东供应风险反应更直接，支持基准油价敏感度差异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67A4755B-E0FD-4EE6-98DB-8971FD779D75}"/>
              </a:ext>
            </a:extLst>
          </p:cNvPr>
          <p:cNvSpPr/>
          <p:nvPr/>
        </p:nvSpPr>
        <p:spPr>
          <a:xfrm>
            <a:off x="1247623" y="489819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CAR、ITS 与断点结果共同支持事件影响具有类型和时点异质性</a:t>
            </a:r>
          </a:p>
        </p:txBody>
      </p:sp>
      <p:sp>
        <p:nvSpPr>
          <p:cNvPr id="20" name="矩形 19">
            <a:extLst>
              <a:ext uri="{FF2B5EF4-FFF2-40B4-BE49-F238E27FC236}">
                <ns2:creationId id="{14FF3AFE-24AF-496B-AA67-0D418E492A39}"/>
              </a:ext>
            </a:extLst>
          </p:cNvPr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21" name="矩形 20">
            <a:extLst>
              <a:ext uri="{FF2B5EF4-FFF2-40B4-BE49-F238E27FC236}">
                <ns2:creationId id="{3BA8D66A-30A7-42F0-A218-5518410D8B33}"/>
              </a:ext>
            </a:extLst>
          </p:cNvPr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22" name="矩形 21">
            <a:extLst>
              <a:ext uri="{FF2B5EF4-FFF2-40B4-BE49-F238E27FC236}">
                <ns2:creationId id="{096A6FA2-06FB-4BAE-B4D9-324F58C9A416}"/>
              </a:ext>
            </a:extLst>
          </p:cNvPr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ns2:creationId id="{20DFFB90-31F0-4B18-9415-3B871F948CCB}"/>
              </a:ext>
            </a:extLst>
          </p:cNvPr>
          <p:cNvCxnSpPr>
            <a:cxnSpLocks/>
          </p:cNvCxnSpPr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ns2:creationId id="{C4665CBE-FC9D-43A8-9200-132BBFFBB266}"/>
              </a:ext>
            </a:extLst>
          </p:cNvPr>
          <p:cNvCxnSpPr>
            <a:cxnSpLocks/>
          </p:cNvCxnSpPr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>
            <a:extLst>
              <a:ext uri="{FF2B5EF4-FFF2-40B4-BE49-F238E27FC236}">
                <ns2:creationId id="{A1895511-3D6A-4F7E-96B1-579D63823098}"/>
              </a:ext>
            </a:extLst>
          </p:cNvPr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>
            <a:extLst>
              <a:ext uri="{FF2B5EF4-FFF2-40B4-BE49-F238E27FC236}">
                <ns2:creationId id="{90AE48BA-1D8C-45A6-BABF-3124B14F8ADE}"/>
              </a:ext>
            </a:extLst>
          </p:cNvPr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7" name="矩形 26">
            <a:extLst>
              <a:ext uri="{FF2B5EF4-FFF2-40B4-BE49-F238E27FC236}">
                <ns2:creationId id="{720A8F54-FAB9-42D9-A750-B52FA83B00A5}"/>
              </a:ext>
            </a:extLst>
          </p:cNvPr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ns2:creationId id="{B1377B59-A5A0-46D7-A31C-05EBD9602132}"/>
              </a:ext>
            </a:extLst>
          </p:cNvPr>
          <p:cNvSpPr/>
          <p:nvPr/>
        </p:nvSpPr>
        <p:spPr>
          <a:xfrm>
            <a:off x="7140423" y="252075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WTI 与 Brent 互为市场因子，CAR 是相对异常反应而非绝对因果效应</a:t>
            </a:r>
          </a:p>
        </p:txBody>
      </p:sp>
      <p:sp>
        <p:nvSpPr>
          <p:cNvPr id="29" name="矩形 28">
            <a:extLst>
              <a:ext uri="{FF2B5EF4-FFF2-40B4-BE49-F238E27FC236}">
                <ns2:creationId id="{E9AAFE55-BA98-4ADA-B0AC-FC479DDA98B8}"/>
              </a:ext>
            </a:extLst>
          </p:cNvPr>
          <p:cNvSpPr/>
          <p:nvPr/>
        </p:nvSpPr>
        <p:spPr>
          <a:xfrm>
            <a:off x="7243506" y="1505200"/>
            <a:ext cx="4304499" cy="43037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zh-CN" altLang="en-US" sz="20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局限与展望</a:t>
            </a:r>
            <a:r>
              <a:rPr lang="en-US" altLang="zh-CN" sz="11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/>
            </a:r>
            <a:endParaRPr lang="zh-CN" altLang="en-US" sz="2000" b="1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</p:txBody>
      </p:sp>
      <p:sp>
        <p:nvSpPr>
          <p:cNvPr id="30" name="矩形 29">
            <a:extLst>
              <a:ext uri="{FF2B5EF4-FFF2-40B4-BE49-F238E27FC236}">
                <ns2:creationId id="{36ED2F98-1A10-44AA-A4A6-E19B4CCE608E}"/>
              </a:ext>
            </a:extLst>
          </p:cNvPr>
          <p:cNvSpPr/>
          <p:nvPr/>
        </p:nvSpPr>
        <p:spPr>
          <a:xfrm>
            <a:off x="7140423" y="370947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ACLED 为周度汇总，不能替代 actor、地点和 notes 层面的逐事件数据</a:t>
            </a:r>
          </a:p>
        </p:txBody>
      </p:sp>
      <p:sp>
        <p:nvSpPr>
          <p:cNvPr id="31" name="矩形 30">
            <a:extLst>
              <a:ext uri="{FF2B5EF4-FFF2-40B4-BE49-F238E27FC236}">
                <ns2:creationId id="{16B75D1D-33A8-4248-BE07-52E2258F942F}"/>
              </a:ext>
            </a:extLst>
          </p:cNvPr>
          <p:cNvSpPr/>
          <p:nvPr/>
        </p:nvSpPr>
        <p:spPr>
          <a:xfrm>
            <a:off x="7140423" y="4898190"/>
            <a:ext cx="4248605" cy="658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后续引入独立商品指数、汇率与库存控制，并扩展联合事件模型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53142470-F424-4EDD-ADA8-CF86224C927C}"/>
              </a:ext>
            </a:extLst>
          </p:cNvPr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33" name="矩形 32">
            <a:extLst>
              <a:ext uri="{FF2B5EF4-FFF2-40B4-BE49-F238E27FC236}">
                <ns2:creationId id="{683A36BC-ACA0-4478-8037-C04EF0B7F9FD}"/>
              </a:ext>
            </a:extLst>
          </p:cNvPr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sp>
        <p:nvSpPr>
          <p:cNvPr id="34" name="矩形 33">
            <a:extLst>
              <a:ext uri="{FF2B5EF4-FFF2-40B4-BE49-F238E27FC236}">
                <ns2:creationId id="{DA8B0A44-9537-415F-BD97-AC4AC4AF3883}"/>
              </a:ext>
            </a:extLst>
          </p:cNvPr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微软雅黑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/>
              <a:ea typeface="微软雅黑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ns2:creationId id="{225C84CF-77BF-41BC-80DB-F4B9045F75C7}"/>
              </a:ext>
            </a:extLst>
          </p:cNvPr>
          <p:cNvCxnSpPr>
            <a:cxnSpLocks/>
          </p:cNvCxnSpPr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>
            <a:extLst>
              <a:ext uri="{FF2B5EF4-FFF2-40B4-BE49-F238E27FC236}">
                <ns2:creationId id="{1701DC1C-8D5D-47D2-88B3-2C7BB72088F4}"/>
              </a:ext>
            </a:extLst>
          </p:cNvPr>
          <p:cNvCxnSpPr>
            <a:cxnSpLocks/>
          </p:cNvCxnSpPr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>
            <a:extLst>
              <a:ext uri="{FF2B5EF4-FFF2-40B4-BE49-F238E27FC236}">
                <ns2:creationId id="{B9379BD2-0413-4260-A718-41EA36481C75}"/>
              </a:ext>
            </a:extLst>
          </p:cNvPr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>
            <a:extLst>
              <a:ext uri="{FF2B5EF4-FFF2-40B4-BE49-F238E27FC236}">
                <ns2:creationId id="{C91DC9DF-39C3-4BA4-90A6-43C68B84D3E1}"/>
              </a:ext>
            </a:extLst>
          </p:cNvPr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ns2:creationId id="{DDFA6D04-DBE4-4B5E-AEB1-BBC61777FA8E}"/>
              </a:ext>
            </a:extLst>
          </p:cNvPr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val="2230676449"/>
      </p:ext>
    </p:extLst>
  </p:cSld>
  <p:clrMapOvr>
    <a:masterClrMapping/>
  </p:clrMapOvr>
  <p:transition p14:dur="500">
    <p:fade/>
  </p:transition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ns2:creationId id="{974FAECE-52C2-4A19-98CB-143BFA01D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ns2:creationId id="{FE573614-05E6-400F-AF88-EA6961E083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191345" y="116631"/>
            <a:ext cx="11809308" cy="522678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ns2:creationId id="{C9FC9252-9697-4073-AFE0-28B73C8FCF98}"/>
              </a:ext>
            </a:extLst>
          </p:cNvPr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>
            <a:extLst>
              <a:ext uri="{FF2B5EF4-FFF2-40B4-BE49-F238E27FC236}">
                <ns2:creationId id="{193FE55D-C9BC-4524-BCA9-805B717C2634}"/>
              </a:ext>
            </a:extLst>
          </p:cNvPr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>
            <a:extLst>
              <a:ext uri="{FF2B5EF4-FFF2-40B4-BE49-F238E27FC236}">
                <ns2:creationId id="{A430C48D-9E63-4B2D-94B2-FD35F0F118B3}"/>
              </a:ext>
            </a:extLst>
          </p:cNvPr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>
            <a:extLst>
              <a:ext uri="{FF2B5EF4-FFF2-40B4-BE49-F238E27FC236}">
                <ns2:creationId id="{DC882D8F-DD28-475A-9EE6-2E7CBB373069}"/>
              </a:ext>
            </a:extLst>
          </p:cNvPr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>
            <a:extLst>
              <a:ext uri="{FF2B5EF4-FFF2-40B4-BE49-F238E27FC236}">
                <ns2:creationId id="{AEC1EBF5-5340-4DC9-8A70-4D38A7CD9401}"/>
              </a:ext>
            </a:extLst>
          </p:cNvPr>
          <p:cNvSpPr txBox="1">
            <a:spLocks/>
          </p:cNvSpPr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汇报人：XXX</a:t>
            </a:r>
          </a:p>
        </p:txBody>
      </p:sp>
      <p:sp>
        <p:nvSpPr>
          <p:cNvPr id="16" name="文本占位符 31">
            <a:extLst>
              <a:ext uri="{FF2B5EF4-FFF2-40B4-BE49-F238E27FC236}">
                <ns2:creationId id="{DF081BEA-0677-4367-99A9-244DBE9DC50B}"/>
              </a:ext>
            </a:extLst>
          </p:cNvPr>
          <p:cNvSpPr txBox="1">
            <a:spLocks/>
          </p:cNvSpPr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指导教师：XXX</a:t>
            </a:r>
          </a:p>
        </p:txBody>
      </p:sp>
      <p:sp>
        <p:nvSpPr>
          <p:cNvPr id="17" name="文本占位符 32">
            <a:extLst>
              <a:ext uri="{FF2B5EF4-FFF2-40B4-BE49-F238E27FC236}">
                <ns2:creationId id="{272C9CE6-48E9-484C-AF23-6EFF74EA78D6}"/>
              </a:ext>
            </a:extLst>
          </p:cNvPr>
          <p:cNvSpPr txBox="1">
            <a:spLocks/>
          </p:cNvSpPr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2026年6月12日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</a:p>
        </p:txBody>
      </p:sp>
      <p:grpSp>
        <p:nvGrpSpPr>
          <p:cNvPr id="19" name="组合 18">
            <a:extLst>
              <a:ext uri="{FF2B5EF4-FFF2-40B4-BE49-F238E27FC236}">
                <ns2:creationId id="{84995886-2C45-43AA-97AB-D7F04D61C9DF}"/>
              </a:ext>
            </a:extLst>
          </p:cNvPr>
          <p:cNvGrpSpPr/>
          <p:nvPr/>
        </p:nvGrpSpPr>
        <p:grpSpPr>
          <a:xfrm>
            <a:off x="3879975" y="1131474"/>
            <a:ext cx="4918925" cy="1253932"/>
            <a:chOff x="751446" y="486412"/>
            <a:chExt cx="4918925" cy="1253932"/>
          </a:xfrm>
        </p:grpSpPr>
        <p:pic>
          <p:nvPicPr>
            <p:cNvPr id="21" name="图片 20">
              <a:extLst>
                <a:ext uri="{FF2B5EF4-FFF2-40B4-BE49-F238E27FC236}">
                  <ns2:creationId id="{06EB3F4A-6D0E-42C9-A048-FCD40EC743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ns2:creationId id="{EB2FA68D-EEA8-4FAB-AD8F-D4B373F2E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ns4:useLocalDpi val="0"/>
                </a:ext>
              </a:extLst>
            </a:blip>
            <a:srcRect/>
            <a:stretch/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ns2:creationId id="{3B0BCE8E-261E-425C-A6BF-96341D5501E7}"/>
                </a:ext>
              </a:extLst>
            </p:cNvPr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文本占位符 24">
            <a:extLst>
              <a:ext uri="{FF2B5EF4-FFF2-40B4-BE49-F238E27FC236}">
                <ns2:creationId id="{ED6A891B-380D-485C-811B-DDFCE0E349F9}"/>
              </a:ext>
            </a:extLst>
          </p:cNvPr>
          <p:cNvSpPr txBox="1">
            <a:spLocks/>
          </p:cNvSpPr>
          <p:nvPr/>
        </p:nvSpPr>
        <p:spPr>
          <a:xfrm>
            <a:off x="191347" y="2324320"/>
            <a:ext cx="11809308" cy="1415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汇报结束  感谢聆听！</a:t>
            </a:r>
            <a:r>
              <a:rPr kumimoji="0" lang="zh-CN" altLang="en-US" sz="72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</a:p>
        </p:txBody>
      </p:sp>
      <p:cxnSp>
        <p:nvCxnSpPr>
          <p:cNvPr id="26" name="直接连接符 25">
            <a:extLst>
              <a:ext uri="{FF2B5EF4-FFF2-40B4-BE49-F238E27FC236}">
                <ns2:creationId id="{800128EB-8591-4195-ACEA-9A766601615E}"/>
              </a:ext>
            </a:extLst>
          </p:cNvPr>
          <p:cNvCxnSpPr/>
          <p:nvPr/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ns2:creationId id="{638E0185-FC14-44BE-92F4-520A043919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ns4:useLocalDpi val="0"/>
              </a:ext>
            </a:extLst>
          </a:blip>
          <a:srcRect/>
          <a:stretch/>
        </p:blipFill>
        <p:spPr>
          <a:xfrm>
            <a:off x="2039657" y="4040776"/>
            <a:ext cx="8112685" cy="734387"/>
          </a:xfrm>
          <a:prstGeom prst="rect">
            <a:avLst/>
          </a:prstGeom>
        </p:spPr>
      </p:pic>
    </p:spTree>
    <p:extLst>
      <p:ext uri="{BB962C8B-B14F-4D97-AF65-F5344CB8AC3E}">
        <p14:creationId val="3586167622"/>
      </p:ext>
    </p:extLst>
  </p:cSld>
  <p:clrMapOvr>
    <a:masterClrMapping/>
  </p:clrMapOvr>
  <p:transition p14:dur="500">
    <p:fade/>
  </p:transition>
  <mc:AlternateContent>
    <mc:Choice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3689</Words>
  <Application>Microsoft Office PowerPoint</Application>
  <PresentationFormat>宽屏</PresentationFormat>
  <Paragraphs>387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阿里巴巴普惠体 H</vt:lpstr>
      <vt:lpstr>阿里巴巴普惠体 M</vt:lpstr>
      <vt:lpstr>等线</vt:lpstr>
      <vt:lpstr>华文细黑</vt:lpstr>
      <vt:lpstr>宋体</vt:lpstr>
      <vt:lpstr>微软雅黑</vt:lpstr>
      <vt:lpstr>Arial</vt:lpstr>
      <vt:lpstr>Arial Black</vt:lpstr>
      <vt:lpstr>Calibri</vt:lpstr>
      <vt:lpstr>Calibri Light</vt:lpstr>
      <vt:lpstr>Candara</vt:lpstr>
      <vt:lpstr>Century Gothic</vt:lpstr>
      <vt:lpstr>Segoe UI</vt:lpstr>
      <vt:lpstr>Segoe UI Semilight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东泽 吴</cp:lastModifiedBy>
  <cp:revision>23</cp:revision>
  <dcterms:created xsi:type="dcterms:W3CDTF">2020-07-27T01:08:13Z</dcterms:created>
  <dcterms:modified xsi:type="dcterms:W3CDTF">2024-10-12T04:16:33Z</dcterms:modified>
</cp:coreProperties>
</file>