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8" d="100"/>
          <a:sy n="88" d="100"/>
        </p:scale>
        <p:origin x="712" y="5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4" Type="http://schemas.microsoft.com/office/2011/relationships/chartColorStyle" Target="colors2.xml"/><Relationship Id="rId3" Type="http://schemas.microsoft.com/office/2011/relationships/chartStyle" Target="style2.xml"/><Relationship Id="rId2" Type="http://schemas.openxmlformats.org/officeDocument/2006/relationships/themeOverride" Target="../theme/themeOverrid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themeOverride" Target="../theme/themeOverrid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4" Type="http://schemas.microsoft.com/office/2011/relationships/chartColorStyle" Target="colors4.xml"/><Relationship Id="rId3" Type="http://schemas.microsoft.com/office/2011/relationships/chartStyle" Target="style4.xml"/><Relationship Id="rId2" Type="http://schemas.openxmlformats.org/officeDocument/2006/relationships/themeOverride" Target="../theme/themeOverride4.xml"/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WTI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标准差</c:v>
                </c:pt>
                <c:pt idx="1">
                  <c:v>其余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2.901</c:v>
                </c:pt>
                <c:pt idx="1">
                  <c:v>97.099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f35b520-210e-4834-a4c1-5134c20fb32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标准差</c:v>
                </c:pt>
                <c:pt idx="1">
                  <c:v>其余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2.984</c:v>
                </c:pt>
                <c:pt idx="1">
                  <c:v>97.016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1f8a173-bda5-401b-8c2f-28d3809e55e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相关系数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相关</c:v>
                </c:pt>
                <c:pt idx="1">
                  <c:v>其余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84.5</c:v>
                </c:pt>
                <c:pt idx="1">
                  <c:v>15.5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14fdd16-ed07-4fbd-93e7-bba7ef4af61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</a:rPr>
              <a:t>2018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年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</a:rPr>
              <a:t>XXXX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发展趋势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WTI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  <c:pt idx="4">
                  <c:v>E5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0.214</c:v>
                </c:pt>
                <c:pt idx="1">
                  <c:v>-3.681</c:v>
                </c:pt>
                <c:pt idx="2">
                  <c:v>2.567</c:v>
                </c:pt>
                <c:pt idx="3">
                  <c:v>-10.198</c:v>
                </c:pt>
                <c:pt idx="4">
                  <c:v>-0.165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Brent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  <c:pt idx="4">
                  <c:v>E5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2.265</c:v>
                </c:pt>
                <c:pt idx="1">
                  <c:v>2.859</c:v>
                </c:pt>
                <c:pt idx="2">
                  <c:v>2.474</c:v>
                </c:pt>
                <c:pt idx="3">
                  <c:v>13.552</c:v>
                </c:pt>
                <c:pt idx="4">
                  <c:v>-0.711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929066816"/>
        <c:axId val="-929088032"/>
      </c:barChart>
      <c:catAx>
        <c:axId val="-929066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929088032"/>
        <c:crosses val="autoZero"/>
        <c:auto val="1"/>
        <c:lblAlgn val="ctr"/>
        <c:lblOffset val="100"/>
        <c:noMultiLvlLbl val="0"/>
      </c:catAx>
      <c:valAx>
        <c:axId val="-929088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929066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9379d6b-c29a-4835-ae0a-cabb2108f4a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各位老师好，我汇报的题目是中东冲突对国际油价冲击。本文使用事件研究和中断时间序列，比较五次关键事件后 WTI 与 Brent 的相对异常反应。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汇报分为四部分。先说明研究问题和数据，再介绍统计方法链，随后展示核心实证结果，最后总结结论与不足。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首先从经济机制出发，说明为什么中东冲突可能快速传导到国际油价，并据此提出可检验的研究假设。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冲突并不一定要实际减少产量才会影响油价。供应设施、航运通道、市场预期和风险溢价四条渠道可以同时作用，因此价格反应往往具有突发性和非对称性。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本文的核心不是只观察油价是否上涨，而是识别每个事件的异常反应是否具有统计显著性，并比较不同事件和不同基准油价之间的差异。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价格数据采用 FRED 日度 WTI 与 Brent，冲突背景使用 ACLED 周度汇总数据。事件样本由外部新闻事实与冲突严重程度确定，避免根据油价结果反向挑选事件。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在明确数据与事件后，下面介绍完整统计方法链。方法设计同时回答短期异常收益、动态水平变化和序列结构变化三个问题。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整个分析从外部事实确定事件开始，先估计正常收益和 CAR，再用 ITS 分离即时与趋势冲击，最后通过残差诊断、稳健标准误和结构断点进行验证。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事件研究的关键是构造反事实，即如果没有事件，油价收益率本应是多少。实际收益与市场模型预测值的差异就是异常收益，跨事件窗口累加后得到 CAR。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CAR 描述事件窗口内的累计异常收益，而 ITS 进一步把冲击拆成事件后的即时水平变化和后续趋势变化。由于金融收益率可能存在异方差和自相关，最终推断采用 Newey-West 标准误。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下面进入实证结果。重点关注三个层面：收益率的基本特征、CAR 的事件排序，以及 ITS 和结构断点能否提供一致证据。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WTI 和 Brent 的日收益率均呈现高峰厚尾，说明极端波动出现频率高于正态分布。两者相关系数为零点八四五，但并非完全同步，这为相对异常收益分析提供了变化空间。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主窗口零到加三日中，E4 的相对异常反应最强，并在多重检验修正后仍显著。WTI 的负 CAR 不是绝对价格必然下跌，而是相对于作为市场因子的 Brent 表现更弱。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ITS 与 CAR 给出了互补证据。E3 对 Brent 的即时冲击和 E4 对 WTI 的相对即时冲击在 Newey-West 修正后显著，同时断点集中在 E3 对应交易日前后。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综合来看，冲突事件的市场影响具有明显异质性，真正涉及出口设施和地区供应风险的事件更容易产生稳健异常反应。本文结果应理解为相对价格反应，未来可通过独立商品市场因子和逐事件 ACLED 数据提高因果识别。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我的汇报到这里结束，感谢各位老师的聆听，欢迎批评指正。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image" Target="../media/image8.png"/><Relationship Id="rId32" Type="http://schemas.openxmlformats.org/officeDocument/2006/relationships/notesSlide" Target="../notesSlides/notesSlide8.xml"/><Relationship Id="rId31" Type="http://schemas.openxmlformats.org/officeDocument/2006/relationships/slideLayout" Target="../slideLayouts/slideLayout2.xml"/><Relationship Id="rId30" Type="http://schemas.openxmlformats.org/officeDocument/2006/relationships/image" Target="../media/image1.png"/><Relationship Id="rId3" Type="http://schemas.openxmlformats.org/officeDocument/2006/relationships/image" Target="../media/image7.png"/><Relationship Id="rId29" Type="http://schemas.openxmlformats.org/officeDocument/2006/relationships/tags" Target="../tags/tag25.xml"/><Relationship Id="rId28" Type="http://schemas.openxmlformats.org/officeDocument/2006/relationships/tags" Target="../tags/tag24.xml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microsoft.com/office/2007/relationships/hdphoto" Target="../media/image10.wdp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microsoft.com/office/2007/relationships/hdphoto" Target="../media/image10.wdp"/><Relationship Id="rId4" Type="http://schemas.openxmlformats.org/officeDocument/2006/relationships/image" Target="../media/image9.png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microsoft.com/office/2007/relationships/hdphoto" Target="../media/image10.wdp"/><Relationship Id="rId2" Type="http://schemas.openxmlformats.org/officeDocument/2006/relationships/image" Target="../media/image9.png"/><Relationship Id="rId1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64852" y="1350313"/>
            <a:ext cx="6117528" cy="61175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3"/>
          <a:stretch>
            <a:fillRect/>
          </a:stretch>
        </p:blipFill>
        <p:spPr>
          <a:xfrm>
            <a:off x="191346" y="116631"/>
            <a:ext cx="11809309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45" y="116631"/>
            <a:ext cx="11809309" cy="5226782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999656" y="5935211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6427748" y="5935210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3121932" y="6033862"/>
            <a:ext cx="2609850" cy="296545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汇报人：XXX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6" name="文本占位符 31"/>
          <p:cNvSpPr txBox="1"/>
          <p:nvPr/>
        </p:nvSpPr>
        <p:spPr>
          <a:xfrm>
            <a:off x="6460218" y="6033862"/>
            <a:ext cx="2609850" cy="296545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指导教师：XXX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2026年6月12日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4" name="文本占位符 24"/>
          <p:cNvSpPr txBox="1"/>
          <p:nvPr/>
        </p:nvSpPr>
        <p:spPr>
          <a:xfrm>
            <a:off x="515378" y="2218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ysClr val="window" lastClr="FFFFFF"/>
                </a:solidFill>
              </a:rPr>
              <a:t>中东冲突对国际油价冲击
事件研究法与回归分析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占位符 27"/>
          <p:cNvSpPr txBox="1"/>
          <p:nvPr/>
        </p:nvSpPr>
        <p:spPr>
          <a:xfrm>
            <a:off x="1166827" y="4542358"/>
            <a:ext cx="9858345" cy="296546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fontAlgn="base"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数理统计课程作业答辩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207568" y="4392452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879975" y="981574"/>
            <a:ext cx="4918925" cy="1253932"/>
            <a:chOff x="751446" y="486412"/>
            <a:chExt cx="4918925" cy="1253932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51446" y="486412"/>
              <a:ext cx="1253932" cy="1253932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60350" y="609785"/>
              <a:ext cx="3710021" cy="607920"/>
            </a:xfrm>
            <a:prstGeom prst="rect">
              <a:avLst/>
            </a:prstGeom>
          </p:spPr>
        </p:pic>
        <p:sp>
          <p:nvSpPr>
            <p:cNvPr id="23" name="矩形 22"/>
            <p:cNvSpPr/>
            <p:nvPr/>
          </p:nvSpPr>
          <p:spPr>
            <a:xfrm>
              <a:off x="2167394" y="1226892"/>
              <a:ext cx="3502977" cy="307777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lvl="0" indent="0" algn="l" fontAlgn="base"/>
              <a:r>
                <a:rPr lang="zh-CN" altLang="zh-CN" sz="900" b="0" dirty="0">
                  <a:solidFill>
                    <a:prstClr val="white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30031" y="522153"/>
            <a:ext cx="6049548" cy="604954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0" r="16132"/>
          <a:stretch>
            <a:fillRect/>
          </a:stretch>
        </p:blipFill>
        <p:spPr>
          <a:xfrm>
            <a:off x="1" y="-1"/>
            <a:ext cx="6240014" cy="687298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19601" y="0"/>
            <a:ext cx="6259616" cy="6872990"/>
          </a:xfrm>
          <a:prstGeom prst="rect">
            <a:avLst/>
          </a:prstGeom>
          <a:gradFill flip="none" rotWithShape="1">
            <a:gsLst>
              <a:gs pos="0">
                <a:srgbClr val="024282">
                  <a:alpha val="70000"/>
                </a:srgbClr>
              </a:gs>
              <a:gs pos="59000">
                <a:srgbClr val="024282">
                  <a:alpha val="80000"/>
                </a:srgbClr>
              </a:gs>
              <a:gs pos="100000">
                <a:srgbClr val="024282">
                  <a:alpha val="9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51251" y="948678"/>
            <a:ext cx="3022484" cy="1350274"/>
            <a:chOff x="1283804" y="1236710"/>
            <a:chExt cx="3022484" cy="1350274"/>
          </a:xfrm>
        </p:grpSpPr>
        <p:sp>
          <p:nvSpPr>
            <p:cNvPr id="4" name="平行四边形 3"/>
            <p:cNvSpPr/>
            <p:nvPr/>
          </p:nvSpPr>
          <p:spPr>
            <a:xfrm>
              <a:off x="1283804" y="1236710"/>
              <a:ext cx="3022484" cy="1350274"/>
            </a:xfrm>
            <a:prstGeom prst="parallelogram">
              <a:avLst>
                <a:gd name="adj" fmla="val 3020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573792" y="1256225"/>
              <a:ext cx="2410259" cy="1330759"/>
              <a:chOff x="4874746" y="232424"/>
              <a:chExt cx="2410259" cy="1330759"/>
            </a:xfrm>
          </p:grpSpPr>
          <p:sp>
            <p:nvSpPr>
              <p:cNvPr id="7" name="文本框 6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  <p:cNvSpPr txBox="1">
                <a:spLocks noChangeArrowheads="1"/>
              </p:cNvSpPr>
              <p:nvPr/>
            </p:nvSpPr>
            <p:spPr bwMode="auto">
              <a:xfrm>
                <a:off x="5193843" y="1163073"/>
                <a:ext cx="177206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755" algn="l"/>
                  </a:tabLst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  <a:sym typeface="Calibri" panose="020F0502020204030204" pitchFamily="34" charset="0"/>
                  </a:rPr>
                  <a:t>CONTENTS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endParaRPr>
              </a:p>
            </p:txBody>
          </p:sp>
          <p:sp>
            <p:nvSpPr>
    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  <p:cNvSpPr txBox="1">
                <a:spLocks noChangeArrowheads="1"/>
              </p:cNvSpPr>
              <p:nvPr/>
            </p:nvSpPr>
            <p:spPr bwMode="auto">
              <a:xfrm>
                <a:off x="4874746" y="232424"/>
                <a:ext cx="2410259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755" algn="l"/>
                  </a:tabLst>
                  <a:defRPr/>
                </a:pPr>
                <a:r>
                  <a:rPr kumimoji="0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Calibri" panose="020F0502020204030204" pitchFamily="34" charset="0"/>
                  </a:rPr>
                  <a:t>目 录</a:t>
                </a:r>
                <a:endPara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endParaRP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5471592" y="1091557"/>
                <a:ext cx="1224136" cy="0"/>
              </a:xfrm>
              <a:prstGeom prst="line">
                <a:avLst/>
              </a:prstGeom>
              <a:ln w="28575">
                <a:solidFill>
                  <a:srgbClr val="02428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组合 12"/>
          <p:cNvGrpSpPr/>
          <p:nvPr/>
        </p:nvGrpSpPr>
        <p:grpSpPr>
          <a:xfrm>
            <a:off x="5519934" y="1112416"/>
            <a:ext cx="1381373" cy="660400"/>
            <a:chOff x="5519936" y="1488468"/>
            <a:chExt cx="1381373" cy="660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平行四边形 10"/>
            <p:cNvSpPr/>
            <p:nvPr/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文本框 1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/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01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519935" y="2528573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平行四边形 14"/>
            <p:cNvSpPr/>
            <p:nvPr/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文本框 15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/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02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450291" y="3944730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平行四边形 17"/>
            <p:cNvSpPr/>
            <p:nvPr/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文本框 18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/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03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519934" y="5360888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平行四边形 20"/>
            <p:cNvSpPr/>
            <p:nvPr/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文本框 2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/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04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7407883" y="968193"/>
            <a:ext cx="3293850" cy="884773"/>
            <a:chOff x="7214249" y="968193"/>
            <a:chExt cx="3293850" cy="884773"/>
          </a:xfrm>
        </p:grpSpPr>
        <p:sp>
          <p:nvSpPr>
            <p:cNvPr id="31" name="文本框 6"/>
            <p:cNvSpPr txBox="1">
              <a:spLocks noChangeArrowheads="1"/>
            </p:cNvSpPr>
            <p:nvPr/>
          </p:nvSpPr>
          <p:spPr bwMode="auto">
            <a:xfrm>
              <a:off x="7214249" y="968193"/>
              <a:ext cx="26981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200" tIns="45720" rIns="76200" bIns="45720" anchor="ctr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研究背景与问题</a:t>
              </a:r>
              <a:endParaRPr lang="zh-CN" sz="2000" b="1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7214249" y="1483634"/>
              <a:ext cx="3293850" cy="369332"/>
            </a:xfrm>
            <a:prstGeom prst="rect">
              <a:avLst/>
            </a:prstGeom>
          </p:spPr>
          <p:txBody>
            <a:bodyPr wrap="non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ptos" panose="020F0302020204030204" pitchFamily="34" charset="0"/>
                  <a:ea typeface="微软雅黑" panose="020B0503020204020204" pitchFamily="34" charset="-122"/>
                  <a:cs typeface="Aptos"/>
                </a:rPr>
                <a:t>BACKGROUND &amp; QUESTIONS</a:t>
              </a:r>
              <a:endParaRPr lang="zh-CN" sz="10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7407883" y="2416386"/>
            <a:ext cx="3293850" cy="884773"/>
            <a:chOff x="7214249" y="968193"/>
            <a:chExt cx="3293850" cy="884773"/>
          </a:xfrm>
        </p:grpSpPr>
        <p:sp>
          <p:nvSpPr>
            <p:cNvPr id="35" name="文本框 6"/>
            <p:cNvSpPr txBox="1">
              <a:spLocks noChangeArrowheads="1"/>
            </p:cNvSpPr>
            <p:nvPr/>
          </p:nvSpPr>
          <p:spPr bwMode="auto">
            <a:xfrm>
              <a:off x="7214249" y="968193"/>
              <a:ext cx="26981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200" tIns="45720" rIns="76200" bIns="45720" anchor="ctr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统计方法与设计</a:t>
              </a:r>
              <a:endParaRPr lang="zh-CN" sz="2000" b="1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7214249" y="1483634"/>
              <a:ext cx="3293850" cy="369332"/>
            </a:xfrm>
            <a:prstGeom prst="rect">
              <a:avLst/>
            </a:prstGeom>
          </p:spPr>
          <p:txBody>
            <a:bodyPr wrap="non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ptos" panose="020F0302020204030204" pitchFamily="34" charset="0"/>
                  <a:ea typeface="微软雅黑" panose="020B0503020204020204" pitchFamily="34" charset="-122"/>
                  <a:cs typeface="Aptos"/>
                </a:rPr>
                <a:t>METHODS &amp; DESIGN</a:t>
              </a:r>
              <a:endParaRPr lang="zh-CN" sz="10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7407883" y="3832543"/>
            <a:ext cx="3293850" cy="884773"/>
            <a:chOff x="7214249" y="968193"/>
            <a:chExt cx="3293850" cy="884773"/>
          </a:xfrm>
        </p:grpSpPr>
        <p:sp>
          <p:nvSpPr>
            <p:cNvPr id="38" name="文本框 6"/>
            <p:cNvSpPr txBox="1">
              <a:spLocks noChangeArrowheads="1"/>
            </p:cNvSpPr>
            <p:nvPr/>
          </p:nvSpPr>
          <p:spPr bwMode="auto">
            <a:xfrm>
              <a:off x="7214249" y="968193"/>
              <a:ext cx="26981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200" tIns="45720" rIns="76200" bIns="45720" anchor="ctr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实证结果与解释</a:t>
              </a:r>
              <a:endParaRPr lang="zh-CN" sz="2000" b="1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7214249" y="1483634"/>
              <a:ext cx="3293850" cy="369332"/>
            </a:xfrm>
            <a:prstGeom prst="rect">
              <a:avLst/>
            </a:prstGeom>
          </p:spPr>
          <p:txBody>
            <a:bodyPr wrap="non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ptos" panose="020F0302020204030204" pitchFamily="34" charset="0"/>
                  <a:ea typeface="微软雅黑" panose="020B0503020204020204" pitchFamily="34" charset="-122"/>
                  <a:cs typeface="Aptos"/>
                </a:rPr>
                <a:t>EMPIRICAL RESULTS</a:t>
              </a:r>
              <a:endParaRPr lang="zh-CN" sz="10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407883" y="5264329"/>
            <a:ext cx="3293850" cy="884773"/>
            <a:chOff x="7214249" y="968193"/>
            <a:chExt cx="3293850" cy="884773"/>
          </a:xfrm>
        </p:grpSpPr>
        <p:sp>
          <p:nvSpPr>
            <p:cNvPr id="41" name="文本框 6"/>
            <p:cNvSpPr txBox="1">
              <a:spLocks noChangeArrowheads="1"/>
            </p:cNvSpPr>
            <p:nvPr/>
          </p:nvSpPr>
          <p:spPr bwMode="auto">
            <a:xfrm>
              <a:off x="7214249" y="968193"/>
              <a:ext cx="26981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200" tIns="45720" rIns="76200" bIns="45720" anchor="ctr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结论、局限与展望</a:t>
              </a:r>
              <a:endParaRPr lang="zh-CN" sz="2000" b="1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7214249" y="1483634"/>
              <a:ext cx="3293850" cy="369332"/>
            </a:xfrm>
            <a:prstGeom prst="rect">
              <a:avLst/>
            </a:prstGeom>
          </p:spPr>
          <p:txBody>
            <a:bodyPr wrap="non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ptos" panose="020F0302020204030204" pitchFamily="34" charset="0"/>
                  <a:ea typeface="微软雅黑" panose="020B0503020204020204" pitchFamily="34" charset="-122"/>
                  <a:cs typeface="Aptos"/>
                </a:rPr>
                <a:t>CONCLUSION &amp; OUTLOOK</a:t>
              </a:r>
              <a:endParaRPr lang="zh-CN" sz="10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13545" y="6447112"/>
            <a:ext cx="2093426" cy="334487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7" name="矩形 46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lvl="0" indent="0" algn="l" fontAlgn="base">
                <a:defRPr/>
              </a:pPr>
              <a:r>
                <a:rPr lang="zh-CN" altLang="zh-CN" sz="900" b="0" dirty="0">
                  <a:solidFill>
                    <a:prstClr val="black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研究背景与问题</a:t>
            </a:r>
            <a:endParaRPr lang="zh-CN" sz="36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156111" y="4424107"/>
            <a:ext cx="6088996" cy="1200329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F0302020204030204" pitchFamily="34" charset="0"/>
                <a:ea typeface="微软雅黑" panose="020B0503020204020204" pitchFamily="34" charset="-122"/>
                <a:cs typeface="Aptos"/>
              </a:rPr>
              <a:t>冲突升级如何改变石油供应预期、航运安全与风险溢价？</a:t>
            </a:r>
            <a:endParaRPr lang="zh-CN" sz="17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lvl="0" indent="0" algn="l" fontAlgn="base">
                <a:defRPr/>
              </a:pPr>
              <a:r>
                <a:rPr lang="zh-CN" altLang="zh-CN" sz="900" b="0" dirty="0">
                  <a:solidFill>
                    <a:prstClr val="black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冲突传导机制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14" name="文本占位符 14"/>
          <p:cNvSpPr txBox="1"/>
          <p:nvPr/>
        </p:nvSpPr>
        <p:spPr>
          <a:xfrm>
            <a:off x="1626840" y="3680727"/>
            <a:ext cx="1145772" cy="442441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900" b="1" i="0" u="none" strike="noStrike" kern="1200" cap="none" spc="0" normalizeH="0" baseline="0" noProof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供应</a:t>
            </a:r>
            <a:endParaRPr kumimoji="0" lang="zh-CN" altLang="en-US" sz="19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5" name="文本占位符 81"/>
          <p:cNvSpPr txBox="1"/>
          <p:nvPr/>
        </p:nvSpPr>
        <p:spPr>
          <a:xfrm>
            <a:off x="1554218" y="4233343"/>
            <a:ext cx="2146300" cy="1937700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 b="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核设施、油田和出口终端受到威胁，市场上调潜在供应损失。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8" name="文本占位符 22"/>
          <p:cNvSpPr txBox="1"/>
          <p:nvPr/>
        </p:nvSpPr>
        <p:spPr>
          <a:xfrm>
            <a:off x="4081518" y="3680727"/>
            <a:ext cx="1145772" cy="442441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900" b="1" i="0" u="none" strike="noStrike" kern="1200" cap="none" spc="0" normalizeH="0" baseline="0" noProof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航运</a:t>
            </a:r>
            <a:endParaRPr kumimoji="0" lang="zh-CN" altLang="en-US" sz="19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9" name="文本占位符 82"/>
          <p:cNvSpPr txBox="1"/>
          <p:nvPr/>
        </p:nvSpPr>
        <p:spPr>
          <a:xfrm>
            <a:off x="4008896" y="4233343"/>
            <a:ext cx="2146300" cy="1937700"/>
          </a:xfrm>
          <a:prstGeom prst="rect">
            <a:avLst/>
          </a:prstGeom>
        </p:spPr>
        <p:txBody>
          <a:bodyPr vert="horz" lIns="76200" tIns="45720" rIns="76200" bIns="45720" rtlCol="0" anchor="ctr">
            <a:normAutofit fontScale="70000" lnSpcReduction="2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 b="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霍尔木兹海峡等通道受阻预期推高运输、保险与交割成本。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marR="0" lvl="0" indent="0" algn="l" defTabSz="914400" rtl="0" eaLnBrk="1" fontAlgn="base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1" name="文本占位符 26"/>
          <p:cNvSpPr txBox="1"/>
          <p:nvPr/>
        </p:nvSpPr>
        <p:spPr>
          <a:xfrm>
            <a:off x="6536196" y="3680727"/>
            <a:ext cx="1145772" cy="442441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900" b="1" i="0" u="none" strike="noStrike" kern="1200" cap="none" spc="0" normalizeH="0" baseline="0" noProof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预期</a:t>
            </a:r>
            <a:endParaRPr kumimoji="0" lang="zh-CN" altLang="en-US" sz="19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2" name="文本占位符 83"/>
          <p:cNvSpPr txBox="1"/>
          <p:nvPr/>
        </p:nvSpPr>
        <p:spPr>
          <a:xfrm>
            <a:off x="6463574" y="4233343"/>
            <a:ext cx="2146300" cy="1937700"/>
          </a:xfrm>
          <a:prstGeom prst="rect">
            <a:avLst/>
          </a:prstGeom>
        </p:spPr>
        <p:txBody>
          <a:bodyPr vert="horz" lIns="76200" tIns="45720" rIns="76200" bIns="45720" rtlCol="0" anchor="ctr">
            <a:normAutofit fontScale="70000" lnSpcReduction="2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 b="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交易者在真实减产前提前定价，造成事件日前后价格快速调整。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marR="0" lvl="0" indent="0" algn="l" defTabSz="914400" rtl="0" eaLnBrk="1" fontAlgn="base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4" name="文本占位符 71"/>
          <p:cNvSpPr txBox="1"/>
          <p:nvPr/>
        </p:nvSpPr>
        <p:spPr>
          <a:xfrm>
            <a:off x="8990874" y="3680727"/>
            <a:ext cx="1145772" cy="442441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900" b="1" i="0" u="none" strike="noStrike" kern="1200" cap="none" spc="0" normalizeH="0" baseline="0" noProof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溢价</a:t>
            </a:r>
            <a:endParaRPr kumimoji="0" lang="zh-CN" altLang="en-US" sz="19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5" name="文本占位符 84"/>
          <p:cNvSpPr txBox="1"/>
          <p:nvPr/>
        </p:nvSpPr>
        <p:spPr>
          <a:xfrm>
            <a:off x="8918252" y="4233343"/>
            <a:ext cx="2146300" cy="1937700"/>
          </a:xfrm>
          <a:prstGeom prst="rect">
            <a:avLst/>
          </a:prstGeom>
        </p:spPr>
        <p:txBody>
          <a:bodyPr vert="horz" lIns="76200" tIns="45720" rIns="76200" bIns="45720" rtlCol="0" anchor="ctr">
            <a:normAutofit fontScale="70000" lnSpcReduction="2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 b="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地缘政治不确定性提高持有与套期保值需求，放大短期波动。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marR="0" lvl="0" indent="0" algn="l" defTabSz="914400" rtl="0" eaLnBrk="1" fontAlgn="base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研究问题与三项假设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322006" y="3265478"/>
            <a:ext cx="1819616" cy="1819616"/>
            <a:chOff x="1699695" y="2430291"/>
            <a:chExt cx="1819616" cy="1819616"/>
          </a:xfrm>
        </p:grpSpPr>
        <p:sp>
          <p:nvSpPr>
            <p:cNvPr id="14" name="椭圆 13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Segoe UI" panose="020B0502040204020203"/>
                  <a:ea typeface="微软雅黑 Light" panose="020B0502040204020203" charset="-122"/>
                </a:rPr>
                <a:t>01</a:t>
              </a:r>
              <a:endParaRPr lang="zh-CN" altLang="en-US" sz="3600" kern="0" dirty="0">
                <a:solidFill>
                  <a:srgbClr val="FFFFFF"/>
                </a:solidFill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15" name="弧形 14"/>
            <p:cNvSpPr/>
            <p:nvPr/>
          </p:nvSpPr>
          <p:spPr>
            <a:xfrm rot="7941625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rgbClr val="024282"/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EA5504"/>
                </a:solidFill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059179" y="1980180"/>
            <a:ext cx="1819616" cy="1819616"/>
            <a:chOff x="1699695" y="2430291"/>
            <a:chExt cx="1819616" cy="1819616"/>
          </a:xfrm>
        </p:grpSpPr>
        <p:sp>
          <p:nvSpPr>
            <p:cNvPr id="18" name="椭圆 17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/>
                  <a:ea typeface="微软雅黑 Light" panose="020B0502040204020203" charset="-122"/>
                </a:rPr>
                <a:t>02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19" name="弧形 18"/>
            <p:cNvSpPr/>
            <p:nvPr/>
          </p:nvSpPr>
          <p:spPr>
            <a:xfrm rot="2784046" flipH="1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EA5504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549030" y="3095868"/>
            <a:ext cx="1819616" cy="1819616"/>
            <a:chOff x="1699695" y="2430291"/>
            <a:chExt cx="1819616" cy="1819616"/>
          </a:xfrm>
        </p:grpSpPr>
        <p:sp>
          <p:nvSpPr>
            <p:cNvPr id="21" name="椭圆 20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Segoe UI" panose="020B0502040204020203"/>
                  <a:ea typeface="微软雅黑 Light" panose="020B0502040204020203" charset="-122"/>
                </a:rPr>
                <a:t>03</a:t>
              </a:r>
              <a:endParaRPr lang="zh-CN" altLang="en-US" sz="3600" kern="0" dirty="0">
                <a:solidFill>
                  <a:srgbClr val="FFFFFF"/>
                </a:solidFill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2" name="弧形 21"/>
            <p:cNvSpPr/>
            <p:nvPr/>
          </p:nvSpPr>
          <p:spPr>
            <a:xfrm rot="7941625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rgbClr val="024282"/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EA5504"/>
                </a:solidFill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133212" y="1957678"/>
            <a:ext cx="1819616" cy="1819616"/>
            <a:chOff x="1699695" y="2430291"/>
            <a:chExt cx="1819616" cy="1819616"/>
          </a:xfrm>
        </p:grpSpPr>
        <p:sp>
          <p:nvSpPr>
            <p:cNvPr id="24" name="椭圆 23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/>
                  <a:ea typeface="微软雅黑 Light" panose="020B0502040204020203" charset="-122"/>
                </a:rPr>
                <a:t>04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5" name="弧形 24"/>
            <p:cNvSpPr/>
            <p:nvPr/>
          </p:nvSpPr>
          <p:spPr>
            <a:xfrm rot="2810902" flipH="1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EA5504"/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  <p:sp>
        <p:nvSpPr>
          <p:cNvPr id="26" name="文本占位符 50"/>
          <p:cNvSpPr txBox="1"/>
          <p:nvPr/>
        </p:nvSpPr>
        <p:spPr>
          <a:xfrm>
            <a:off x="1463089" y="1974730"/>
            <a:ext cx="1624919" cy="439738"/>
          </a:xfrm>
          <a:prstGeom prst="rect">
            <a:avLst/>
          </a:prstGeom>
        </p:spPr>
        <p:txBody>
          <a:bodyPr lIns="76200" tIns="45720" rIns="76200" bIns="4572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fontAlgn="base"/>
            <a:r>
              <a:rPr lang="zh-CN" altLang="en-US" sz="1700" b="1" dirty="0">
                <a:solidFill>
                  <a:srgbClr val="024282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研究目标</a:t>
            </a:r>
            <a:endParaRPr lang="zh-CN" sz="17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7" name="文本占位符 50"/>
          <p:cNvSpPr txBox="1"/>
          <p:nvPr/>
        </p:nvSpPr>
        <p:spPr>
          <a:xfrm>
            <a:off x="912710" y="2437489"/>
            <a:ext cx="2725677" cy="710298"/>
          </a:xfrm>
          <a:prstGeom prst="rect">
            <a:avLst/>
          </a:prstGeom>
        </p:spPr>
        <p:txBody>
          <a:bodyPr lIns="76200" tIns="45720" rIns="76200" bIns="4572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2764A7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fontAlgn="base"/>
            <a:r>
              <a:rPr lang="zh-CN" altLang="en-US" sz="1500" b="0" dirty="0">
                <a:solidFill>
                  <a:srgbClr val="024282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分离五次冲击，比较显著性与经济幅度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8" name="文本占位符 50"/>
          <p:cNvSpPr txBox="1"/>
          <p:nvPr/>
        </p:nvSpPr>
        <p:spPr>
          <a:xfrm>
            <a:off x="6646379" y="1974730"/>
            <a:ext cx="1624919" cy="439738"/>
          </a:xfrm>
          <a:prstGeom prst="rect">
            <a:avLst/>
          </a:prstGeom>
        </p:spPr>
        <p:txBody>
          <a:bodyPr lIns="76200" tIns="45720" rIns="76200" bIns="4572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fontAlgn="base"/>
            <a:r>
              <a:rPr lang="zh-CN" altLang="en-US" sz="1700" b="1" dirty="0">
                <a:solidFill>
                  <a:srgbClr val="024282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H2 基准</a:t>
            </a:r>
            <a:endParaRPr lang="zh-CN" sz="17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9" name="文本占位符 50"/>
          <p:cNvSpPr txBox="1"/>
          <p:nvPr/>
        </p:nvSpPr>
        <p:spPr>
          <a:xfrm>
            <a:off x="6096000" y="2437489"/>
            <a:ext cx="2725677" cy="710298"/>
          </a:xfrm>
          <a:prstGeom prst="rect">
            <a:avLst/>
          </a:prstGeom>
        </p:spPr>
        <p:txBody>
          <a:bodyPr lIns="76200" tIns="45720" rIns="76200" bIns="4572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2764A7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fontAlgn="base"/>
            <a:r>
              <a:rPr lang="zh-CN" altLang="en-US" sz="1500" b="0" dirty="0">
                <a:solidFill>
                  <a:srgbClr val="024282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Brent 对中东冲突的反应强于 WTI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0" name="文本占位符 50"/>
          <p:cNvSpPr txBox="1"/>
          <p:nvPr/>
        </p:nvSpPr>
        <p:spPr>
          <a:xfrm>
            <a:off x="4156528" y="4117917"/>
            <a:ext cx="1624919" cy="439738"/>
          </a:xfrm>
          <a:prstGeom prst="rect">
            <a:avLst/>
          </a:prstGeom>
        </p:spPr>
        <p:txBody>
          <a:bodyPr lIns="76200" tIns="45720" rIns="76200" bIns="4572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fontAlgn="base"/>
            <a:r>
              <a:rPr lang="zh-CN" altLang="en-US" sz="1700" b="1" dirty="0">
                <a:solidFill>
                  <a:prstClr val="black">
                    <a:lumMod val="65000"/>
                    <a:lumOff val="35000"/>
                  </a:prstClr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H1 异常</a:t>
            </a:r>
            <a:endParaRPr lang="zh-CN" sz="17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1" name="文本占位符 50"/>
          <p:cNvSpPr txBox="1"/>
          <p:nvPr/>
        </p:nvSpPr>
        <p:spPr>
          <a:xfrm>
            <a:off x="3606149" y="4580676"/>
            <a:ext cx="2725677" cy="710298"/>
          </a:xfrm>
          <a:prstGeom prst="rect">
            <a:avLst/>
          </a:prstGeom>
        </p:spPr>
        <p:txBody>
          <a:bodyPr lIns="76200" tIns="45720" rIns="76200" bIns="4572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fontAlgn="base"/>
            <a:r>
              <a:rPr lang="zh-CN" altLang="en-US" sz="1500" b="0" dirty="0">
                <a:solidFill>
                  <a:prstClr val="black">
                    <a:lumMod val="65000"/>
                    <a:lumOff val="35000"/>
                  </a:prstClr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重大冲突事件产生显著累计异常收益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2" name="文本占位符 50"/>
          <p:cNvSpPr txBox="1"/>
          <p:nvPr/>
        </p:nvSpPr>
        <p:spPr>
          <a:xfrm>
            <a:off x="9230561" y="4117917"/>
            <a:ext cx="1624919" cy="439738"/>
          </a:xfrm>
          <a:prstGeom prst="rect">
            <a:avLst/>
          </a:prstGeom>
        </p:spPr>
        <p:txBody>
          <a:bodyPr lIns="76200" tIns="45720" rIns="76200" bIns="4572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fontAlgn="base"/>
            <a:r>
              <a:rPr lang="zh-CN" altLang="en-US" sz="1700" b="1" dirty="0">
                <a:solidFill>
                  <a:prstClr val="black">
                    <a:lumMod val="65000"/>
                    <a:lumOff val="35000"/>
                  </a:prstClr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H3 类型</a:t>
            </a:r>
            <a:endParaRPr lang="zh-CN" sz="17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3" name="文本占位符 50"/>
          <p:cNvSpPr txBox="1"/>
          <p:nvPr/>
        </p:nvSpPr>
        <p:spPr>
          <a:xfrm>
            <a:off x="8680182" y="4580676"/>
            <a:ext cx="2725677" cy="710298"/>
          </a:xfrm>
          <a:prstGeom prst="rect">
            <a:avLst/>
          </a:prstGeom>
        </p:spPr>
        <p:txBody>
          <a:bodyPr lIns="76200" tIns="45720" rIns="76200" bIns="4572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fontAlgn="base"/>
            <a:r>
              <a:rPr lang="zh-CN" altLang="en-US" sz="1500" b="0" dirty="0">
                <a:solidFill>
                  <a:prstClr val="black">
                    <a:lumMod val="65000"/>
                    <a:lumOff val="35000"/>
                  </a:prstClr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石油设施与航运通道事件冲击更强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934641"/>
            <a:ext cx="6049548" cy="6049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数据与样本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6954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95400" y="1340768"/>
            <a:ext cx="4965700" cy="75923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247623" y="252075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FRED：WTI（DCOILWTICO）与 Brent（DCOILBRENTEU）日度现货价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50706" y="1505200"/>
            <a:ext cx="4304499" cy="43037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数据与变量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247623" y="370947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收益率：rₜ = ln(Pₜ) − ln(Pₜ₋₁)，共 345 个交易日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47623" y="489819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ACLED：六个目标国家的周度事件数与死亡人数，仅作背景验证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98044" y="242417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1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98044" y="3595746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2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98044" y="476732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3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8832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24" name="直接连接符 23"/>
          <p:cNvCxnSpPr/>
          <p:nvPr/>
        </p:nvCxnSpPr>
        <p:spPr>
          <a:xfrm>
            <a:off x="8832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25" name="check_97186"/>
          <p:cNvSpPr>
            <a:spLocks noChangeAspect="1"/>
          </p:cNvSpPr>
          <p:nvPr/>
        </p:nvSpPr>
        <p:spPr bwMode="auto">
          <a:xfrm>
            <a:off x="923231" y="1564071"/>
            <a:ext cx="435512" cy="345592"/>
          </a:xfrm>
          <a:custGeom>
            <a:avLst/>
            <a:gdLst>
              <a:gd name="T0" fmla="*/ 2641 w 3160"/>
              <a:gd name="T1" fmla="*/ 0 h 2511"/>
              <a:gd name="T2" fmla="*/ 1167 w 3160"/>
              <a:gd name="T3" fmla="*/ 1474 h 2511"/>
              <a:gd name="T4" fmla="*/ 519 w 3160"/>
              <a:gd name="T5" fmla="*/ 826 h 2511"/>
              <a:gd name="T6" fmla="*/ 0 w 3160"/>
              <a:gd name="T7" fmla="*/ 1344 h 2511"/>
              <a:gd name="T8" fmla="*/ 1167 w 3160"/>
              <a:gd name="T9" fmla="*/ 2511 h 2511"/>
              <a:gd name="T10" fmla="*/ 3160 w 3160"/>
              <a:gd name="T11" fmla="*/ 519 h 2511"/>
              <a:gd name="T12" fmla="*/ 2641 w 3160"/>
              <a:gd name="T13" fmla="*/ 0 h 2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60" h="2511">
                <a:moveTo>
                  <a:pt x="2641" y="0"/>
                </a:moveTo>
                <a:lnTo>
                  <a:pt x="1167" y="1474"/>
                </a:lnTo>
                <a:lnTo>
                  <a:pt x="519" y="826"/>
                </a:lnTo>
                <a:lnTo>
                  <a:pt x="0" y="1344"/>
                </a:lnTo>
                <a:lnTo>
                  <a:pt x="1167" y="2511"/>
                </a:lnTo>
                <a:lnTo>
                  <a:pt x="3160" y="519"/>
                </a:lnTo>
                <a:lnTo>
                  <a:pt x="26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" name="矩形 25"/>
          <p:cNvSpPr/>
          <p:nvPr/>
        </p:nvSpPr>
        <p:spPr>
          <a:xfrm>
            <a:off x="65882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588200" y="1340768"/>
            <a:ext cx="4965700" cy="75923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140423" y="252075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样本区间：2025-01-01 至 2026-06-01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243506" y="1505200"/>
            <a:ext cx="4304499" cy="43037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样本设计</a:t>
            </a:r>
            <a:endParaRPr lang="zh-CN" altLang="en-US" sz="20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140423" y="370947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五个事件：E1–E5，覆盖核设施、联合打击、出口设施与海峡风险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140423" y="489819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事件日映射至最近交易日；事件选择不使用事后油价波动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690844" y="242417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1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690844" y="3595746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2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690844" y="476732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3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67760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36" name="直接连接符 35"/>
          <p:cNvCxnSpPr/>
          <p:nvPr/>
        </p:nvCxnSpPr>
        <p:spPr>
          <a:xfrm>
            <a:off x="67760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37" name="up-arrow_2486"/>
          <p:cNvSpPr>
            <a:spLocks noChangeAspect="1"/>
          </p:cNvSpPr>
          <p:nvPr/>
        </p:nvSpPr>
        <p:spPr bwMode="auto">
          <a:xfrm>
            <a:off x="6868694" y="1531940"/>
            <a:ext cx="322150" cy="435512"/>
          </a:xfrm>
          <a:custGeom>
            <a:avLst/>
            <a:gdLst>
              <a:gd name="T0" fmla="*/ 142 w 268"/>
              <a:gd name="T1" fmla="*/ 11 h 363"/>
              <a:gd name="T2" fmla="*/ 252 w 268"/>
              <a:gd name="T3" fmla="*/ 144 h 363"/>
              <a:gd name="T4" fmla="*/ 250 w 268"/>
              <a:gd name="T5" fmla="*/ 160 h 363"/>
              <a:gd name="T6" fmla="*/ 188 w 268"/>
              <a:gd name="T7" fmla="*/ 160 h 363"/>
              <a:gd name="T8" fmla="*/ 188 w 268"/>
              <a:gd name="T9" fmla="*/ 187 h 363"/>
              <a:gd name="T10" fmla="*/ 188 w 268"/>
              <a:gd name="T11" fmla="*/ 354 h 363"/>
              <a:gd name="T12" fmla="*/ 176 w 268"/>
              <a:gd name="T13" fmla="*/ 363 h 363"/>
              <a:gd name="T14" fmla="*/ 89 w 268"/>
              <a:gd name="T15" fmla="*/ 363 h 363"/>
              <a:gd name="T16" fmla="*/ 79 w 268"/>
              <a:gd name="T17" fmla="*/ 355 h 363"/>
              <a:gd name="T18" fmla="*/ 79 w 268"/>
              <a:gd name="T19" fmla="*/ 188 h 363"/>
              <a:gd name="T20" fmla="*/ 79 w 268"/>
              <a:gd name="T21" fmla="*/ 164 h 363"/>
              <a:gd name="T22" fmla="*/ 22 w 268"/>
              <a:gd name="T23" fmla="*/ 164 h 363"/>
              <a:gd name="T24" fmla="*/ 16 w 268"/>
              <a:gd name="T25" fmla="*/ 147 h 363"/>
              <a:gd name="T26" fmla="*/ 123 w 268"/>
              <a:gd name="T27" fmla="*/ 10 h 363"/>
              <a:gd name="T28" fmla="*/ 142 w 268"/>
              <a:gd name="T29" fmla="*/ 11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68" h="363">
                <a:moveTo>
                  <a:pt x="142" y="11"/>
                </a:moveTo>
                <a:lnTo>
                  <a:pt x="252" y="144"/>
                </a:lnTo>
                <a:cubicBezTo>
                  <a:pt x="252" y="144"/>
                  <a:pt x="268" y="160"/>
                  <a:pt x="250" y="160"/>
                </a:cubicBezTo>
                <a:lnTo>
                  <a:pt x="188" y="160"/>
                </a:lnTo>
                <a:lnTo>
                  <a:pt x="188" y="187"/>
                </a:lnTo>
                <a:lnTo>
                  <a:pt x="188" y="354"/>
                </a:lnTo>
                <a:cubicBezTo>
                  <a:pt x="188" y="354"/>
                  <a:pt x="191" y="363"/>
                  <a:pt x="176" y="363"/>
                </a:cubicBezTo>
                <a:lnTo>
                  <a:pt x="89" y="363"/>
                </a:lnTo>
                <a:cubicBezTo>
                  <a:pt x="79" y="363"/>
                  <a:pt x="79" y="355"/>
                  <a:pt x="79" y="355"/>
                </a:cubicBezTo>
                <a:lnTo>
                  <a:pt x="79" y="188"/>
                </a:lnTo>
                <a:lnTo>
                  <a:pt x="79" y="164"/>
                </a:lnTo>
                <a:lnTo>
                  <a:pt x="22" y="164"/>
                </a:lnTo>
                <a:cubicBezTo>
                  <a:pt x="0" y="164"/>
                  <a:pt x="16" y="147"/>
                  <a:pt x="16" y="147"/>
                </a:cubicBezTo>
                <a:cubicBezTo>
                  <a:pt x="16" y="147"/>
                  <a:pt x="110" y="23"/>
                  <a:pt x="123" y="10"/>
                </a:cubicBezTo>
                <a:cubicBezTo>
                  <a:pt x="133" y="0"/>
                  <a:pt x="142" y="11"/>
                  <a:pt x="142" y="11"/>
                </a:cubicBez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>
            <a:noFill/>
          </a:ln>
        </p:spPr>
      </p:sp>
      <p:sp>
        <p:nvSpPr>
          <p:cNvPr id="38" name="矩形 37"/>
          <p:cNvSpPr/>
          <p:nvPr/>
        </p:nvSpPr>
        <p:spPr>
          <a:xfrm>
            <a:off x="695400" y="5917849"/>
            <a:ext cx="4965700" cy="4571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588200" y="5917849"/>
            <a:ext cx="4965700" cy="4571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统计方法与研究设计</a:t>
            </a:r>
            <a:endParaRPr lang="zh-CN" sz="36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156111" y="4424107"/>
            <a:ext cx="6088996" cy="1200329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F0302020204030204" pitchFamily="34" charset="0"/>
                <a:ea typeface="微软雅黑" panose="020B0503020204020204" pitchFamily="34" charset="-122"/>
                <a:cs typeface="Aptos"/>
              </a:rPr>
              <a:t>事件研究识别短期异常反应，ITS 与断点检验验证动态变化</a:t>
            </a:r>
            <a:endParaRPr lang="zh-CN" sz="17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统计方法链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199456" y="1484785"/>
            <a:ext cx="2206286" cy="2206286"/>
            <a:chOff x="1463888" y="1818284"/>
            <a:chExt cx="2206286" cy="2206286"/>
          </a:xfrm>
        </p:grpSpPr>
        <p:sp>
          <p:nvSpPr>
            <p:cNvPr id="14" name="Teardrop 50"/>
            <p:cNvSpPr/>
            <p:nvPr>
              <p:custDataLst>
                <p:tags r:id="rId6"/>
              </p:custDataLst>
            </p:nvPr>
          </p:nvSpPr>
          <p:spPr>
            <a:xfrm rot="2700000">
              <a:off x="1463888" y="1818284"/>
              <a:ext cx="2206286" cy="2206286"/>
            </a:xfrm>
            <a:prstGeom prst="teardrop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id-ID" ker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2206103" y="2342590"/>
              <a:ext cx="731210" cy="698951"/>
              <a:chOff x="6472919" y="2732165"/>
              <a:chExt cx="548947" cy="524729"/>
            </a:xfrm>
            <a:solidFill>
              <a:sysClr val="window" lastClr="FFFFFF"/>
            </a:solidFill>
          </p:grpSpPr>
          <p:sp>
            <p:nvSpPr>
              <p:cNvPr id="18" name="Freeform 255"/>
              <p:cNvSpPr>
                <a:spLocks noEditPoint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6472919" y="2732165"/>
                <a:ext cx="548947" cy="524729"/>
              </a:xfrm>
              <a:custGeom>
                <a:avLst/>
                <a:gdLst>
                  <a:gd name="T0" fmla="*/ 224 w 260"/>
                  <a:gd name="T1" fmla="*/ 0 h 248"/>
                  <a:gd name="T2" fmla="*/ 36 w 260"/>
                  <a:gd name="T3" fmla="*/ 0 h 248"/>
                  <a:gd name="T4" fmla="*/ 0 w 260"/>
                  <a:gd name="T5" fmla="*/ 36 h 248"/>
                  <a:gd name="T6" fmla="*/ 0 w 260"/>
                  <a:gd name="T7" fmla="*/ 166 h 248"/>
                  <a:gd name="T8" fmla="*/ 29 w 260"/>
                  <a:gd name="T9" fmla="*/ 203 h 248"/>
                  <a:gd name="T10" fmla="*/ 68 w 260"/>
                  <a:gd name="T11" fmla="*/ 203 h 248"/>
                  <a:gd name="T12" fmla="*/ 84 w 260"/>
                  <a:gd name="T13" fmla="*/ 210 h 248"/>
                  <a:gd name="T14" fmla="*/ 110 w 260"/>
                  <a:gd name="T15" fmla="*/ 239 h 248"/>
                  <a:gd name="T16" fmla="*/ 130 w 260"/>
                  <a:gd name="T17" fmla="*/ 248 h 248"/>
                  <a:gd name="T18" fmla="*/ 150 w 260"/>
                  <a:gd name="T19" fmla="*/ 239 h 248"/>
                  <a:gd name="T20" fmla="*/ 176 w 260"/>
                  <a:gd name="T21" fmla="*/ 210 h 248"/>
                  <a:gd name="T22" fmla="*/ 188 w 260"/>
                  <a:gd name="T23" fmla="*/ 203 h 248"/>
                  <a:gd name="T24" fmla="*/ 228 w 260"/>
                  <a:gd name="T25" fmla="*/ 203 h 248"/>
                  <a:gd name="T26" fmla="*/ 260 w 260"/>
                  <a:gd name="T27" fmla="*/ 166 h 248"/>
                  <a:gd name="T28" fmla="*/ 260 w 260"/>
                  <a:gd name="T29" fmla="*/ 36 h 248"/>
                  <a:gd name="T30" fmla="*/ 224 w 260"/>
                  <a:gd name="T31" fmla="*/ 0 h 248"/>
                  <a:gd name="T32" fmla="*/ 239 w 260"/>
                  <a:gd name="T33" fmla="*/ 166 h 248"/>
                  <a:gd name="T34" fmla="*/ 228 w 260"/>
                  <a:gd name="T35" fmla="*/ 181 h 248"/>
                  <a:gd name="T36" fmla="*/ 188 w 260"/>
                  <a:gd name="T37" fmla="*/ 181 h 248"/>
                  <a:gd name="T38" fmla="*/ 158 w 260"/>
                  <a:gd name="T39" fmla="*/ 197 h 248"/>
                  <a:gd name="T40" fmla="*/ 134 w 260"/>
                  <a:gd name="T41" fmla="*/ 224 h 248"/>
                  <a:gd name="T42" fmla="*/ 130 w 260"/>
                  <a:gd name="T43" fmla="*/ 226 h 248"/>
                  <a:gd name="T44" fmla="*/ 126 w 260"/>
                  <a:gd name="T45" fmla="*/ 224 h 248"/>
                  <a:gd name="T46" fmla="*/ 102 w 260"/>
                  <a:gd name="T47" fmla="*/ 197 h 248"/>
                  <a:gd name="T48" fmla="*/ 68 w 260"/>
                  <a:gd name="T49" fmla="*/ 181 h 248"/>
                  <a:gd name="T50" fmla="*/ 29 w 260"/>
                  <a:gd name="T51" fmla="*/ 181 h 248"/>
                  <a:gd name="T52" fmla="*/ 21 w 260"/>
                  <a:gd name="T53" fmla="*/ 166 h 248"/>
                  <a:gd name="T54" fmla="*/ 21 w 260"/>
                  <a:gd name="T55" fmla="*/ 36 h 248"/>
                  <a:gd name="T56" fmla="*/ 36 w 260"/>
                  <a:gd name="T57" fmla="*/ 22 h 248"/>
                  <a:gd name="T58" fmla="*/ 224 w 260"/>
                  <a:gd name="T59" fmla="*/ 22 h 248"/>
                  <a:gd name="T60" fmla="*/ 239 w 260"/>
                  <a:gd name="T61" fmla="*/ 36 h 248"/>
                  <a:gd name="T62" fmla="*/ 239 w 260"/>
                  <a:gd name="T63" fmla="*/ 166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60" h="248">
                    <a:moveTo>
                      <a:pt x="224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16" y="0"/>
                      <a:pt x="0" y="16"/>
                      <a:pt x="0" y="36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186"/>
                      <a:pt x="13" y="203"/>
                      <a:pt x="29" y="203"/>
                    </a:cubicBezTo>
                    <a:cubicBezTo>
                      <a:pt x="45" y="203"/>
                      <a:pt x="62" y="203"/>
                      <a:pt x="68" y="203"/>
                    </a:cubicBezTo>
                    <a:cubicBezTo>
                      <a:pt x="74" y="203"/>
                      <a:pt x="82" y="206"/>
                      <a:pt x="84" y="210"/>
                    </a:cubicBezTo>
                    <a:cubicBezTo>
                      <a:pt x="87" y="214"/>
                      <a:pt x="99" y="227"/>
                      <a:pt x="110" y="239"/>
                    </a:cubicBezTo>
                    <a:cubicBezTo>
                      <a:pt x="115" y="245"/>
                      <a:pt x="123" y="248"/>
                      <a:pt x="130" y="248"/>
                    </a:cubicBezTo>
                    <a:cubicBezTo>
                      <a:pt x="137" y="248"/>
                      <a:pt x="145" y="245"/>
                      <a:pt x="150" y="239"/>
                    </a:cubicBezTo>
                    <a:cubicBezTo>
                      <a:pt x="161" y="227"/>
                      <a:pt x="173" y="214"/>
                      <a:pt x="176" y="210"/>
                    </a:cubicBezTo>
                    <a:cubicBezTo>
                      <a:pt x="178" y="206"/>
                      <a:pt x="184" y="203"/>
                      <a:pt x="188" y="203"/>
                    </a:cubicBezTo>
                    <a:cubicBezTo>
                      <a:pt x="192" y="203"/>
                      <a:pt x="210" y="203"/>
                      <a:pt x="228" y="203"/>
                    </a:cubicBezTo>
                    <a:cubicBezTo>
                      <a:pt x="246" y="203"/>
                      <a:pt x="260" y="186"/>
                      <a:pt x="260" y="166"/>
                    </a:cubicBezTo>
                    <a:cubicBezTo>
                      <a:pt x="260" y="36"/>
                      <a:pt x="260" y="36"/>
                      <a:pt x="260" y="36"/>
                    </a:cubicBezTo>
                    <a:cubicBezTo>
                      <a:pt x="260" y="16"/>
                      <a:pt x="244" y="0"/>
                      <a:pt x="224" y="0"/>
                    </a:cubicBezTo>
                    <a:close/>
                    <a:moveTo>
                      <a:pt x="239" y="166"/>
                    </a:moveTo>
                    <a:cubicBezTo>
                      <a:pt x="239" y="174"/>
                      <a:pt x="233" y="181"/>
                      <a:pt x="228" y="181"/>
                    </a:cubicBezTo>
                    <a:cubicBezTo>
                      <a:pt x="188" y="181"/>
                      <a:pt x="188" y="181"/>
                      <a:pt x="188" y="181"/>
                    </a:cubicBezTo>
                    <a:cubicBezTo>
                      <a:pt x="177" y="181"/>
                      <a:pt x="165" y="188"/>
                      <a:pt x="158" y="197"/>
                    </a:cubicBezTo>
                    <a:cubicBezTo>
                      <a:pt x="156" y="200"/>
                      <a:pt x="146" y="212"/>
                      <a:pt x="134" y="224"/>
                    </a:cubicBezTo>
                    <a:cubicBezTo>
                      <a:pt x="133" y="226"/>
                      <a:pt x="131" y="226"/>
                      <a:pt x="130" y="226"/>
                    </a:cubicBezTo>
                    <a:cubicBezTo>
                      <a:pt x="129" y="226"/>
                      <a:pt x="127" y="226"/>
                      <a:pt x="126" y="224"/>
                    </a:cubicBezTo>
                    <a:cubicBezTo>
                      <a:pt x="114" y="212"/>
                      <a:pt x="104" y="200"/>
                      <a:pt x="102" y="197"/>
                    </a:cubicBezTo>
                    <a:cubicBezTo>
                      <a:pt x="95" y="188"/>
                      <a:pt x="81" y="181"/>
                      <a:pt x="68" y="181"/>
                    </a:cubicBezTo>
                    <a:cubicBezTo>
                      <a:pt x="29" y="181"/>
                      <a:pt x="29" y="181"/>
                      <a:pt x="29" y="181"/>
                    </a:cubicBezTo>
                    <a:cubicBezTo>
                      <a:pt x="26" y="181"/>
                      <a:pt x="21" y="175"/>
                      <a:pt x="21" y="16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28"/>
                      <a:pt x="28" y="22"/>
                      <a:pt x="36" y="22"/>
                    </a:cubicBezTo>
                    <a:cubicBezTo>
                      <a:pt x="224" y="22"/>
                      <a:pt x="224" y="22"/>
                      <a:pt x="224" y="22"/>
                    </a:cubicBezTo>
                    <a:cubicBezTo>
                      <a:pt x="232" y="22"/>
                      <a:pt x="239" y="28"/>
                      <a:pt x="239" y="36"/>
                    </a:cubicBezTo>
                    <a:lnTo>
                      <a:pt x="239" y="1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Rectangle 256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24956" y="2901692"/>
                <a:ext cx="244874" cy="296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Rectangle 257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6624956" y="2977038"/>
                <a:ext cx="244874" cy="296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" name="矩形 15"/>
            <p:cNvSpPr/>
            <p:nvPr>
              <p:custDataLst>
                <p:tags r:id="rId10"/>
              </p:custDataLst>
            </p:nvPr>
          </p:nvSpPr>
          <p:spPr>
            <a:xfrm>
              <a:off x="2294468" y="3184804"/>
              <a:ext cx="577850" cy="33718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indent="0" algn="l" fontAlgn="base">
                <a:spcBef>
                  <a:spcPts val="600"/>
                </a:spcBef>
                <a:defRPr/>
              </a:pPr>
              <a:r>
                <a:rPr lang="zh-CN" altLang="en-US" sz="1600" b="1" kern="0" dirty="0">
                  <a:solidFill>
                    <a:sysClr val="window" lastClr="FFFFFF"/>
                  </a:solidFill>
                  <a:latin typeface="Aptos" panose="020B0503020204020204" pitchFamily="34" charset="-122"/>
                  <a:ea typeface="微软雅黑" panose="020B0503020204020204" pitchFamily="34" charset="-122"/>
                  <a:cs typeface="Aptos"/>
                </a:rPr>
                <a:t>事件</a:t>
              </a:r>
              <a:endParaRPr lang="zh-CN" altLang="zh-CN" sz="1600" b="1" kern="0" dirty="0">
                <a:solidFill>
                  <a:sysClr val="window" lastClr="FFFFFF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1"/>
            </p:custDataLst>
          </p:nvPr>
        </p:nvGrpSpPr>
        <p:grpSpPr>
          <a:xfrm>
            <a:off x="3604906" y="1484784"/>
            <a:ext cx="2206286" cy="2206286"/>
            <a:chOff x="3642019" y="1818283"/>
            <a:chExt cx="2206286" cy="2206286"/>
          </a:xfrm>
        </p:grpSpPr>
        <p:sp>
          <p:nvSpPr>
            <p:cNvPr id="22" name="Teardrop 51"/>
            <p:cNvSpPr/>
            <p:nvPr>
              <p:custDataLst>
                <p:tags r:id="rId12"/>
              </p:custDataLst>
            </p:nvPr>
          </p:nvSpPr>
          <p:spPr>
            <a:xfrm rot="2700000">
              <a:off x="3642019" y="1818283"/>
              <a:ext cx="2206286" cy="2206286"/>
            </a:xfrm>
            <a:prstGeom prst="teardrop">
              <a:avLst/>
            </a:prstGeom>
            <a:solidFill>
              <a:sysClr val="windowText" lastClr="000000">
                <a:lumMod val="65000"/>
                <a:lumOff val="35000"/>
                <a:alpha val="9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271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4488245" y="2314810"/>
              <a:ext cx="473136" cy="754509"/>
            </a:xfrm>
            <a:custGeom>
              <a:avLst/>
              <a:gdLst>
                <a:gd name="T0" fmla="*/ 146 w 168"/>
                <a:gd name="T1" fmla="*/ 163 h 268"/>
                <a:gd name="T2" fmla="*/ 124 w 168"/>
                <a:gd name="T3" fmla="*/ 149 h 268"/>
                <a:gd name="T4" fmla="*/ 153 w 168"/>
                <a:gd name="T5" fmla="*/ 76 h 268"/>
                <a:gd name="T6" fmla="*/ 84 w 168"/>
                <a:gd name="T7" fmla="*/ 0 h 268"/>
                <a:gd name="T8" fmla="*/ 16 w 168"/>
                <a:gd name="T9" fmla="*/ 76 h 268"/>
                <a:gd name="T10" fmla="*/ 44 w 168"/>
                <a:gd name="T11" fmla="*/ 149 h 268"/>
                <a:gd name="T12" fmla="*/ 23 w 168"/>
                <a:gd name="T13" fmla="*/ 163 h 268"/>
                <a:gd name="T14" fmla="*/ 0 w 168"/>
                <a:gd name="T15" fmla="*/ 206 h 268"/>
                <a:gd name="T16" fmla="*/ 84 w 168"/>
                <a:gd name="T17" fmla="*/ 268 h 268"/>
                <a:gd name="T18" fmla="*/ 168 w 168"/>
                <a:gd name="T19" fmla="*/ 206 h 268"/>
                <a:gd name="T20" fmla="*/ 146 w 168"/>
                <a:gd name="T21" fmla="*/ 163 h 268"/>
                <a:gd name="T22" fmla="*/ 37 w 168"/>
                <a:gd name="T23" fmla="*/ 76 h 268"/>
                <a:gd name="T24" fmla="*/ 84 w 168"/>
                <a:gd name="T25" fmla="*/ 21 h 268"/>
                <a:gd name="T26" fmla="*/ 131 w 168"/>
                <a:gd name="T27" fmla="*/ 76 h 268"/>
                <a:gd name="T28" fmla="*/ 84 w 168"/>
                <a:gd name="T29" fmla="*/ 144 h 268"/>
                <a:gd name="T30" fmla="*/ 37 w 168"/>
                <a:gd name="T31" fmla="*/ 76 h 268"/>
                <a:gd name="T32" fmla="*/ 84 w 168"/>
                <a:gd name="T33" fmla="*/ 246 h 268"/>
                <a:gd name="T34" fmla="*/ 22 w 168"/>
                <a:gd name="T35" fmla="*/ 206 h 268"/>
                <a:gd name="T36" fmla="*/ 33 w 168"/>
                <a:gd name="T37" fmla="*/ 182 h 268"/>
                <a:gd name="T38" fmla="*/ 63 w 168"/>
                <a:gd name="T39" fmla="*/ 162 h 268"/>
                <a:gd name="T40" fmla="*/ 84 w 168"/>
                <a:gd name="T41" fmla="*/ 166 h 268"/>
                <a:gd name="T42" fmla="*/ 106 w 168"/>
                <a:gd name="T43" fmla="*/ 162 h 268"/>
                <a:gd name="T44" fmla="*/ 135 w 168"/>
                <a:gd name="T45" fmla="*/ 182 h 268"/>
                <a:gd name="T46" fmla="*/ 147 w 168"/>
                <a:gd name="T47" fmla="*/ 206 h 268"/>
                <a:gd name="T48" fmla="*/ 84 w 168"/>
                <a:gd name="T49" fmla="*/ 246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68" h="268">
                  <a:moveTo>
                    <a:pt x="146" y="163"/>
                  </a:moveTo>
                  <a:cubicBezTo>
                    <a:pt x="140" y="160"/>
                    <a:pt x="133" y="156"/>
                    <a:pt x="124" y="149"/>
                  </a:cubicBezTo>
                  <a:cubicBezTo>
                    <a:pt x="142" y="131"/>
                    <a:pt x="153" y="103"/>
                    <a:pt x="153" y="76"/>
                  </a:cubicBezTo>
                  <a:cubicBezTo>
                    <a:pt x="153" y="32"/>
                    <a:pt x="124" y="0"/>
                    <a:pt x="84" y="0"/>
                  </a:cubicBezTo>
                  <a:cubicBezTo>
                    <a:pt x="44" y="0"/>
                    <a:pt x="16" y="32"/>
                    <a:pt x="16" y="76"/>
                  </a:cubicBezTo>
                  <a:cubicBezTo>
                    <a:pt x="16" y="103"/>
                    <a:pt x="26" y="131"/>
                    <a:pt x="44" y="149"/>
                  </a:cubicBezTo>
                  <a:cubicBezTo>
                    <a:pt x="35" y="156"/>
                    <a:pt x="28" y="160"/>
                    <a:pt x="23" y="163"/>
                  </a:cubicBezTo>
                  <a:cubicBezTo>
                    <a:pt x="6" y="173"/>
                    <a:pt x="0" y="179"/>
                    <a:pt x="0" y="206"/>
                  </a:cubicBezTo>
                  <a:cubicBezTo>
                    <a:pt x="0" y="243"/>
                    <a:pt x="33" y="268"/>
                    <a:pt x="84" y="268"/>
                  </a:cubicBezTo>
                  <a:cubicBezTo>
                    <a:pt x="135" y="268"/>
                    <a:pt x="168" y="243"/>
                    <a:pt x="168" y="206"/>
                  </a:cubicBezTo>
                  <a:cubicBezTo>
                    <a:pt x="168" y="179"/>
                    <a:pt x="163" y="173"/>
                    <a:pt x="146" y="163"/>
                  </a:cubicBezTo>
                  <a:close/>
                  <a:moveTo>
                    <a:pt x="37" y="76"/>
                  </a:moveTo>
                  <a:cubicBezTo>
                    <a:pt x="37" y="49"/>
                    <a:pt x="52" y="21"/>
                    <a:pt x="84" y="21"/>
                  </a:cubicBezTo>
                  <a:cubicBezTo>
                    <a:pt x="117" y="21"/>
                    <a:pt x="131" y="49"/>
                    <a:pt x="131" y="76"/>
                  </a:cubicBezTo>
                  <a:cubicBezTo>
                    <a:pt x="131" y="108"/>
                    <a:pt x="112" y="144"/>
                    <a:pt x="84" y="144"/>
                  </a:cubicBezTo>
                  <a:cubicBezTo>
                    <a:pt x="57" y="144"/>
                    <a:pt x="37" y="108"/>
                    <a:pt x="37" y="76"/>
                  </a:cubicBezTo>
                  <a:close/>
                  <a:moveTo>
                    <a:pt x="84" y="246"/>
                  </a:moveTo>
                  <a:cubicBezTo>
                    <a:pt x="70" y="246"/>
                    <a:pt x="22" y="243"/>
                    <a:pt x="22" y="206"/>
                  </a:cubicBezTo>
                  <a:cubicBezTo>
                    <a:pt x="22" y="189"/>
                    <a:pt x="22" y="189"/>
                    <a:pt x="33" y="182"/>
                  </a:cubicBezTo>
                  <a:cubicBezTo>
                    <a:pt x="40" y="178"/>
                    <a:pt x="50" y="172"/>
                    <a:pt x="63" y="162"/>
                  </a:cubicBezTo>
                  <a:cubicBezTo>
                    <a:pt x="70" y="165"/>
                    <a:pt x="77" y="166"/>
                    <a:pt x="84" y="166"/>
                  </a:cubicBezTo>
                  <a:cubicBezTo>
                    <a:pt x="92" y="166"/>
                    <a:pt x="99" y="165"/>
                    <a:pt x="106" y="162"/>
                  </a:cubicBezTo>
                  <a:cubicBezTo>
                    <a:pt x="119" y="172"/>
                    <a:pt x="128" y="178"/>
                    <a:pt x="135" y="182"/>
                  </a:cubicBezTo>
                  <a:cubicBezTo>
                    <a:pt x="147" y="189"/>
                    <a:pt x="147" y="189"/>
                    <a:pt x="147" y="206"/>
                  </a:cubicBezTo>
                  <a:cubicBezTo>
                    <a:pt x="147" y="243"/>
                    <a:pt x="99" y="246"/>
                    <a:pt x="84" y="246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14"/>
              </p:custDataLst>
            </p:nvPr>
          </p:nvSpPr>
          <p:spPr>
            <a:xfrm>
              <a:off x="3944639" y="3168547"/>
              <a:ext cx="1560347" cy="369332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ptos" panose="020B0503020204020204" pitchFamily="34" charset="-122"/>
                  <a:ea typeface="微软雅黑" panose="020B0503020204020204" pitchFamily="34" charset="-122"/>
                  <a:cs typeface="Aptos"/>
                </a:rPr>
                <a:t>CAR</a:t>
              </a:r>
              <a:endPara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15"/>
            </p:custDataLst>
          </p:nvPr>
        </p:nvGrpSpPr>
        <p:grpSpPr>
          <a:xfrm>
            <a:off x="6010356" y="1484785"/>
            <a:ext cx="2206286" cy="2206286"/>
            <a:chOff x="5820150" y="1818284"/>
            <a:chExt cx="2206286" cy="2206286"/>
          </a:xfrm>
        </p:grpSpPr>
        <p:sp>
          <p:nvSpPr>
            <p:cNvPr id="26" name="Teardrop 52"/>
            <p:cNvSpPr/>
            <p:nvPr>
              <p:custDataLst>
                <p:tags r:id="rId16"/>
              </p:custDataLst>
            </p:nvPr>
          </p:nvSpPr>
          <p:spPr>
            <a:xfrm rot="2700000">
              <a:off x="5820150" y="1818284"/>
              <a:ext cx="2206286" cy="2206286"/>
            </a:xfrm>
            <a:prstGeom prst="teardrop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id-ID" ker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6617541" y="2295096"/>
              <a:ext cx="571705" cy="793938"/>
              <a:chOff x="8032306" y="5624901"/>
              <a:chExt cx="429201" cy="596039"/>
            </a:xfrm>
            <a:solidFill>
              <a:sysClr val="window" lastClr="FFFFFF"/>
            </a:solidFill>
          </p:grpSpPr>
          <p:sp>
            <p:nvSpPr>
              <p:cNvPr id="29" name="Freeform 276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8032306" y="5715047"/>
                <a:ext cx="429201" cy="505893"/>
              </a:xfrm>
              <a:custGeom>
                <a:avLst/>
                <a:gdLst>
                  <a:gd name="T0" fmla="*/ 166 w 203"/>
                  <a:gd name="T1" fmla="*/ 0 h 239"/>
                  <a:gd name="T2" fmla="*/ 166 w 203"/>
                  <a:gd name="T3" fmla="*/ 22 h 239"/>
                  <a:gd name="T4" fmla="*/ 181 w 203"/>
                  <a:gd name="T5" fmla="*/ 37 h 239"/>
                  <a:gd name="T6" fmla="*/ 181 w 203"/>
                  <a:gd name="T7" fmla="*/ 203 h 239"/>
                  <a:gd name="T8" fmla="*/ 166 w 203"/>
                  <a:gd name="T9" fmla="*/ 218 h 239"/>
                  <a:gd name="T10" fmla="*/ 36 w 203"/>
                  <a:gd name="T11" fmla="*/ 218 h 239"/>
                  <a:gd name="T12" fmla="*/ 22 w 203"/>
                  <a:gd name="T13" fmla="*/ 203 h 239"/>
                  <a:gd name="T14" fmla="*/ 22 w 203"/>
                  <a:gd name="T15" fmla="*/ 37 h 239"/>
                  <a:gd name="T16" fmla="*/ 36 w 203"/>
                  <a:gd name="T17" fmla="*/ 22 h 239"/>
                  <a:gd name="T18" fmla="*/ 36 w 203"/>
                  <a:gd name="T19" fmla="*/ 0 h 239"/>
                  <a:gd name="T20" fmla="*/ 0 w 203"/>
                  <a:gd name="T21" fmla="*/ 37 h 239"/>
                  <a:gd name="T22" fmla="*/ 0 w 203"/>
                  <a:gd name="T23" fmla="*/ 203 h 239"/>
                  <a:gd name="T24" fmla="*/ 36 w 203"/>
                  <a:gd name="T25" fmla="*/ 239 h 239"/>
                  <a:gd name="T26" fmla="*/ 166 w 203"/>
                  <a:gd name="T27" fmla="*/ 239 h 239"/>
                  <a:gd name="T28" fmla="*/ 203 w 203"/>
                  <a:gd name="T29" fmla="*/ 203 h 239"/>
                  <a:gd name="T30" fmla="*/ 203 w 203"/>
                  <a:gd name="T31" fmla="*/ 37 h 239"/>
                  <a:gd name="T32" fmla="*/ 166 w 203"/>
                  <a:gd name="T33" fmla="*/ 0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03" h="239">
                    <a:moveTo>
                      <a:pt x="166" y="0"/>
                    </a:moveTo>
                    <a:cubicBezTo>
                      <a:pt x="166" y="22"/>
                      <a:pt x="166" y="22"/>
                      <a:pt x="166" y="22"/>
                    </a:cubicBezTo>
                    <a:cubicBezTo>
                      <a:pt x="174" y="22"/>
                      <a:pt x="181" y="29"/>
                      <a:pt x="181" y="37"/>
                    </a:cubicBezTo>
                    <a:cubicBezTo>
                      <a:pt x="181" y="203"/>
                      <a:pt x="181" y="203"/>
                      <a:pt x="181" y="203"/>
                    </a:cubicBezTo>
                    <a:cubicBezTo>
                      <a:pt x="181" y="211"/>
                      <a:pt x="174" y="218"/>
                      <a:pt x="166" y="218"/>
                    </a:cubicBezTo>
                    <a:cubicBezTo>
                      <a:pt x="36" y="218"/>
                      <a:pt x="36" y="218"/>
                      <a:pt x="36" y="218"/>
                    </a:cubicBezTo>
                    <a:cubicBezTo>
                      <a:pt x="28" y="218"/>
                      <a:pt x="22" y="211"/>
                      <a:pt x="22" y="203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2" y="29"/>
                      <a:pt x="28" y="22"/>
                      <a:pt x="36" y="22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16" y="0"/>
                      <a:pt x="0" y="17"/>
                      <a:pt x="0" y="37"/>
                    </a:cubicBezTo>
                    <a:cubicBezTo>
                      <a:pt x="0" y="203"/>
                      <a:pt x="0" y="203"/>
                      <a:pt x="0" y="203"/>
                    </a:cubicBezTo>
                    <a:cubicBezTo>
                      <a:pt x="0" y="223"/>
                      <a:pt x="16" y="239"/>
                      <a:pt x="36" y="239"/>
                    </a:cubicBezTo>
                    <a:cubicBezTo>
                      <a:pt x="166" y="239"/>
                      <a:pt x="166" y="239"/>
                      <a:pt x="166" y="239"/>
                    </a:cubicBezTo>
                    <a:cubicBezTo>
                      <a:pt x="186" y="239"/>
                      <a:pt x="203" y="223"/>
                      <a:pt x="203" y="203"/>
                    </a:cubicBezTo>
                    <a:cubicBezTo>
                      <a:pt x="203" y="37"/>
                      <a:pt x="203" y="37"/>
                      <a:pt x="203" y="37"/>
                    </a:cubicBezTo>
                    <a:cubicBezTo>
                      <a:pt x="203" y="17"/>
                      <a:pt x="186" y="0"/>
                      <a:pt x="1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Freeform 277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8139943" y="5624901"/>
                <a:ext cx="213928" cy="137237"/>
              </a:xfrm>
              <a:custGeom>
                <a:avLst/>
                <a:gdLst>
                  <a:gd name="T0" fmla="*/ 101 w 101"/>
                  <a:gd name="T1" fmla="*/ 29 h 65"/>
                  <a:gd name="T2" fmla="*/ 79 w 101"/>
                  <a:gd name="T3" fmla="*/ 29 h 65"/>
                  <a:gd name="T4" fmla="*/ 50 w 101"/>
                  <a:gd name="T5" fmla="*/ 0 h 65"/>
                  <a:gd name="T6" fmla="*/ 21 w 101"/>
                  <a:gd name="T7" fmla="*/ 29 h 65"/>
                  <a:gd name="T8" fmla="*/ 0 w 101"/>
                  <a:gd name="T9" fmla="*/ 29 h 65"/>
                  <a:gd name="T10" fmla="*/ 0 w 101"/>
                  <a:gd name="T11" fmla="*/ 65 h 65"/>
                  <a:gd name="T12" fmla="*/ 101 w 101"/>
                  <a:gd name="T13" fmla="*/ 65 h 65"/>
                  <a:gd name="T14" fmla="*/ 101 w 101"/>
                  <a:gd name="T15" fmla="*/ 29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" h="65">
                    <a:moveTo>
                      <a:pt x="101" y="29"/>
                    </a:moveTo>
                    <a:cubicBezTo>
                      <a:pt x="79" y="29"/>
                      <a:pt x="79" y="29"/>
                      <a:pt x="79" y="29"/>
                    </a:cubicBezTo>
                    <a:cubicBezTo>
                      <a:pt x="79" y="13"/>
                      <a:pt x="66" y="0"/>
                      <a:pt x="50" y="0"/>
                    </a:cubicBezTo>
                    <a:cubicBezTo>
                      <a:pt x="34" y="0"/>
                      <a:pt x="21" y="13"/>
                      <a:pt x="2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101" y="65"/>
                      <a:pt x="101" y="65"/>
                      <a:pt x="101" y="65"/>
                    </a:cubicBezTo>
                    <a:lnTo>
                      <a:pt x="101" y="2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Rectangle 278"/>
              <p:cNvSpPr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8123797" y="5837484"/>
                <a:ext cx="244874" cy="3229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Rectangle 279"/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8123797" y="5914175"/>
                <a:ext cx="244874" cy="3229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Rectangle 280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8123797" y="5992211"/>
                <a:ext cx="244874" cy="296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Rectangle 281"/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8123797" y="6068903"/>
                <a:ext cx="244874" cy="296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8" name="矩形 27"/>
            <p:cNvSpPr/>
            <p:nvPr>
              <p:custDataLst>
                <p:tags r:id="rId23"/>
              </p:custDataLst>
            </p:nvPr>
          </p:nvSpPr>
          <p:spPr>
            <a:xfrm>
              <a:off x="6131448" y="3168548"/>
              <a:ext cx="1560347" cy="369332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indent="0" algn="l" fontAlgn="base">
                <a:spcBef>
                  <a:spcPts val="600"/>
                </a:spcBef>
                <a:defRPr/>
              </a:pPr>
              <a:r>
                <a:rPr lang="zh-CN" altLang="en-US" sz="1600" b="1" kern="0" dirty="0">
                  <a:solidFill>
                    <a:sysClr val="window" lastClr="FFFFFF"/>
                  </a:solidFill>
                  <a:latin typeface="Aptos" panose="020B0503020204020204" pitchFamily="34" charset="-122"/>
                  <a:ea typeface="微软雅黑" panose="020B0503020204020204" pitchFamily="34" charset="-122"/>
                  <a:cs typeface="Aptos"/>
                </a:rPr>
                <a:t>ITS</a:t>
              </a:r>
              <a:endParaRPr lang="zh-CN" altLang="zh-CN" sz="1600" b="1" kern="0" dirty="0">
                <a:solidFill>
                  <a:sysClr val="window" lastClr="FFFFFF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24"/>
            </p:custDataLst>
          </p:nvPr>
        </p:nvGrpSpPr>
        <p:grpSpPr>
          <a:xfrm>
            <a:off x="8415805" y="1484785"/>
            <a:ext cx="2206286" cy="2206286"/>
            <a:chOff x="7765026" y="1818284"/>
            <a:chExt cx="2206286" cy="2206286"/>
          </a:xfrm>
        </p:grpSpPr>
        <p:sp>
          <p:nvSpPr>
            <p:cNvPr id="36" name="Teardrop 53"/>
            <p:cNvSpPr/>
            <p:nvPr>
              <p:custDataLst>
                <p:tags r:id="rId25"/>
              </p:custDataLst>
            </p:nvPr>
          </p:nvSpPr>
          <p:spPr>
            <a:xfrm rot="2700000">
              <a:off x="7765026" y="1818284"/>
              <a:ext cx="2206286" cy="2206286"/>
            </a:xfrm>
            <a:prstGeom prst="teardrop">
              <a:avLst/>
            </a:prstGeom>
            <a:solidFill>
              <a:sysClr val="windowText" lastClr="000000">
                <a:lumMod val="65000"/>
                <a:lumOff val="35000"/>
                <a:alpha val="9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8584939" y="2325564"/>
              <a:ext cx="568121" cy="733003"/>
              <a:chOff x="9501547" y="5685447"/>
              <a:chExt cx="426510" cy="550293"/>
            </a:xfrm>
            <a:solidFill>
              <a:sysClr val="window" lastClr="FFFFFF"/>
            </a:solidFill>
          </p:grpSpPr>
          <p:sp>
            <p:nvSpPr>
              <p:cNvPr id="39" name="Freeform 282"/>
              <p:cNvSpPr>
                <a:spLocks noEditPoint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9501547" y="5685447"/>
                <a:ext cx="426510" cy="550293"/>
              </a:xfrm>
              <a:custGeom>
                <a:avLst/>
                <a:gdLst>
                  <a:gd name="T0" fmla="*/ 166 w 202"/>
                  <a:gd name="T1" fmla="*/ 0 h 260"/>
                  <a:gd name="T2" fmla="*/ 36 w 202"/>
                  <a:gd name="T3" fmla="*/ 0 h 260"/>
                  <a:gd name="T4" fmla="*/ 0 w 202"/>
                  <a:gd name="T5" fmla="*/ 36 h 260"/>
                  <a:gd name="T6" fmla="*/ 0 w 202"/>
                  <a:gd name="T7" fmla="*/ 224 h 260"/>
                  <a:gd name="T8" fmla="*/ 36 w 202"/>
                  <a:gd name="T9" fmla="*/ 260 h 260"/>
                  <a:gd name="T10" fmla="*/ 166 w 202"/>
                  <a:gd name="T11" fmla="*/ 260 h 260"/>
                  <a:gd name="T12" fmla="*/ 202 w 202"/>
                  <a:gd name="T13" fmla="*/ 224 h 260"/>
                  <a:gd name="T14" fmla="*/ 202 w 202"/>
                  <a:gd name="T15" fmla="*/ 36 h 260"/>
                  <a:gd name="T16" fmla="*/ 166 w 202"/>
                  <a:gd name="T17" fmla="*/ 0 h 260"/>
                  <a:gd name="T18" fmla="*/ 181 w 202"/>
                  <a:gd name="T19" fmla="*/ 224 h 260"/>
                  <a:gd name="T20" fmla="*/ 166 w 202"/>
                  <a:gd name="T21" fmla="*/ 239 h 260"/>
                  <a:gd name="T22" fmla="*/ 36 w 202"/>
                  <a:gd name="T23" fmla="*/ 239 h 260"/>
                  <a:gd name="T24" fmla="*/ 22 w 202"/>
                  <a:gd name="T25" fmla="*/ 224 h 260"/>
                  <a:gd name="T26" fmla="*/ 22 w 202"/>
                  <a:gd name="T27" fmla="*/ 36 h 260"/>
                  <a:gd name="T28" fmla="*/ 36 w 202"/>
                  <a:gd name="T29" fmla="*/ 22 h 260"/>
                  <a:gd name="T30" fmla="*/ 166 w 202"/>
                  <a:gd name="T31" fmla="*/ 22 h 260"/>
                  <a:gd name="T32" fmla="*/ 181 w 202"/>
                  <a:gd name="T33" fmla="*/ 36 h 260"/>
                  <a:gd name="T34" fmla="*/ 181 w 202"/>
                  <a:gd name="T35" fmla="*/ 224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02" h="260">
                    <a:moveTo>
                      <a:pt x="166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16" y="0"/>
                      <a:pt x="0" y="16"/>
                      <a:pt x="0" y="36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0" y="244"/>
                      <a:pt x="16" y="260"/>
                      <a:pt x="36" y="260"/>
                    </a:cubicBezTo>
                    <a:cubicBezTo>
                      <a:pt x="166" y="260"/>
                      <a:pt x="166" y="260"/>
                      <a:pt x="166" y="260"/>
                    </a:cubicBezTo>
                    <a:cubicBezTo>
                      <a:pt x="186" y="260"/>
                      <a:pt x="202" y="244"/>
                      <a:pt x="202" y="224"/>
                    </a:cubicBezTo>
                    <a:cubicBezTo>
                      <a:pt x="202" y="36"/>
                      <a:pt x="202" y="36"/>
                      <a:pt x="202" y="36"/>
                    </a:cubicBezTo>
                    <a:cubicBezTo>
                      <a:pt x="202" y="16"/>
                      <a:pt x="186" y="0"/>
                      <a:pt x="166" y="0"/>
                    </a:cubicBezTo>
                    <a:close/>
                    <a:moveTo>
                      <a:pt x="181" y="224"/>
                    </a:moveTo>
                    <a:cubicBezTo>
                      <a:pt x="181" y="232"/>
                      <a:pt x="174" y="239"/>
                      <a:pt x="166" y="239"/>
                    </a:cubicBezTo>
                    <a:cubicBezTo>
                      <a:pt x="36" y="239"/>
                      <a:pt x="36" y="239"/>
                      <a:pt x="36" y="239"/>
                    </a:cubicBezTo>
                    <a:cubicBezTo>
                      <a:pt x="28" y="239"/>
                      <a:pt x="22" y="232"/>
                      <a:pt x="22" y="22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2" y="28"/>
                      <a:pt x="28" y="22"/>
                      <a:pt x="36" y="22"/>
                    </a:cubicBezTo>
                    <a:cubicBezTo>
                      <a:pt x="166" y="22"/>
                      <a:pt x="166" y="22"/>
                      <a:pt x="166" y="22"/>
                    </a:cubicBezTo>
                    <a:cubicBezTo>
                      <a:pt x="174" y="22"/>
                      <a:pt x="181" y="28"/>
                      <a:pt x="181" y="36"/>
                    </a:cubicBezTo>
                    <a:lnTo>
                      <a:pt x="181" y="2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Freeform 283"/>
              <p:cNvSpPr>
                <a:spLocks noEditPoint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9576893" y="5762138"/>
                <a:ext cx="274474" cy="367310"/>
              </a:xfrm>
              <a:custGeom>
                <a:avLst/>
                <a:gdLst>
                  <a:gd name="T0" fmla="*/ 0 w 204"/>
                  <a:gd name="T1" fmla="*/ 273 h 273"/>
                  <a:gd name="T2" fmla="*/ 204 w 204"/>
                  <a:gd name="T3" fmla="*/ 273 h 273"/>
                  <a:gd name="T4" fmla="*/ 204 w 204"/>
                  <a:gd name="T5" fmla="*/ 0 h 273"/>
                  <a:gd name="T6" fmla="*/ 0 w 204"/>
                  <a:gd name="T7" fmla="*/ 0 h 273"/>
                  <a:gd name="T8" fmla="*/ 0 w 204"/>
                  <a:gd name="T9" fmla="*/ 273 h 273"/>
                  <a:gd name="T10" fmla="*/ 11 w 204"/>
                  <a:gd name="T11" fmla="*/ 11 h 273"/>
                  <a:gd name="T12" fmla="*/ 193 w 204"/>
                  <a:gd name="T13" fmla="*/ 11 h 273"/>
                  <a:gd name="T14" fmla="*/ 193 w 204"/>
                  <a:gd name="T15" fmla="*/ 262 h 273"/>
                  <a:gd name="T16" fmla="*/ 11 w 204"/>
                  <a:gd name="T17" fmla="*/ 262 h 273"/>
                  <a:gd name="T18" fmla="*/ 11 w 204"/>
                  <a:gd name="T19" fmla="*/ 11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73">
                    <a:moveTo>
                      <a:pt x="0" y="273"/>
                    </a:moveTo>
                    <a:lnTo>
                      <a:pt x="204" y="273"/>
                    </a:lnTo>
                    <a:lnTo>
                      <a:pt x="204" y="0"/>
                    </a:lnTo>
                    <a:lnTo>
                      <a:pt x="0" y="0"/>
                    </a:lnTo>
                    <a:lnTo>
                      <a:pt x="0" y="273"/>
                    </a:lnTo>
                    <a:close/>
                    <a:moveTo>
                      <a:pt x="11" y="11"/>
                    </a:moveTo>
                    <a:lnTo>
                      <a:pt x="193" y="11"/>
                    </a:lnTo>
                    <a:lnTo>
                      <a:pt x="193" y="262"/>
                    </a:lnTo>
                    <a:lnTo>
                      <a:pt x="11" y="262"/>
                    </a:ln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Rectangle 284"/>
              <p:cNvSpPr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9699330" y="6144248"/>
                <a:ext cx="29600" cy="3229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8" name="矩形 37"/>
            <p:cNvSpPr/>
            <p:nvPr>
              <p:custDataLst>
                <p:tags r:id="rId29"/>
              </p:custDataLst>
            </p:nvPr>
          </p:nvSpPr>
          <p:spPr>
            <a:xfrm>
              <a:off x="8099517" y="3168548"/>
              <a:ext cx="1560347" cy="369332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ptos" panose="020B0503020204020204" pitchFamily="34" charset="-122"/>
                  <a:ea typeface="微软雅黑" panose="020B0503020204020204" pitchFamily="34" charset="-122"/>
                  <a:cs typeface="Aptos"/>
                </a:rPr>
                <a:t>诊断</a:t>
              </a:r>
              <a:endPara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1341880" y="4679677"/>
            <a:ext cx="9772240" cy="1497654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30000"/>
              </a:lnSpc>
              <a:spcBef>
                <a:spcPts val="600"/>
              </a:spcBef>
            </a:pPr>
            <a:r>
              <a:rPr lang="zh-CN" altLang="en-US" sz="1450" b="0" dirty="0">
                <a:solidFill>
                  <a:srgbClr val="024282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外部事实选取事件 → 市场模型估计正常收益 → AR 与 CAR → 显著性检验 → ITS 分离水平/趋势 → DW、BP、Newey-West 与结构断点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150192" y="4103613"/>
            <a:ext cx="3706929" cy="52322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spcBef>
                <a:spcPts val="600"/>
              </a:spcBef>
              <a:defRPr/>
            </a:pPr>
            <a:r>
              <a:rPr lang="zh-CN" altLang="en-US" sz="2000" b="1" kern="0" dirty="0">
                <a:solidFill>
                  <a:srgbClr val="024282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 panose="020F0302020204030204" pitchFamily="34" charset="0"/>
              </a:rPr>
              <a:t>完整分析流程</a:t>
            </a:r>
            <a:endParaRPr lang="zh-CN" altLang="zh-CN" sz="2000" b="1" kern="0" dirty="0">
              <a:solidFill>
                <a:srgbClr val="024282"/>
              </a:solidFill>
              <a:latin typeface="Aptos" panose="020B0503020204020204" pitchFamily="34" charset="-122"/>
              <a:ea typeface="微软雅黑" panose="020B0503020204020204" pitchFamily="34" charset="-122"/>
              <a:cs typeface="Aptos" panose="020F0302020204030204" pitchFamily="34" charset="0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934641"/>
            <a:ext cx="6049548" cy="6049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事件研究法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14" name="平行四边形 13"/>
          <p:cNvSpPr/>
          <p:nvPr/>
        </p:nvSpPr>
        <p:spPr>
          <a:xfrm>
            <a:off x="976344" y="1853457"/>
            <a:ext cx="3607243" cy="3559803"/>
          </a:xfrm>
          <a:prstGeom prst="parallelogram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788295" y="1688021"/>
            <a:ext cx="3607243" cy="3559803"/>
          </a:xfrm>
          <a:prstGeom prst="parallelogram">
            <a:avLst/>
          </a:prstGeom>
          <a:solidFill>
            <a:srgbClr val="0242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6" name="文本框 13"/>
          <p:cNvSpPr txBox="1"/>
          <p:nvPr/>
        </p:nvSpPr>
        <p:spPr>
          <a:xfrm>
            <a:off x="1991544" y="1915523"/>
            <a:ext cx="1888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市场模型</a:t>
            </a:r>
            <a:endParaRPr lang="zh-CN" altLang="en-US" sz="28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平行四边形 17"/>
          <p:cNvSpPr/>
          <p:nvPr/>
        </p:nvSpPr>
        <p:spPr>
          <a:xfrm>
            <a:off x="4373271" y="1853457"/>
            <a:ext cx="3607243" cy="3559803"/>
          </a:xfrm>
          <a:prstGeom prst="parallelogram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9" name="平行四边形 18"/>
          <p:cNvSpPr/>
          <p:nvPr/>
        </p:nvSpPr>
        <p:spPr>
          <a:xfrm>
            <a:off x="4185222" y="1688021"/>
            <a:ext cx="3607243" cy="3559803"/>
          </a:xfrm>
          <a:prstGeom prst="parallelogram">
            <a:avLst/>
          </a:prstGeom>
          <a:solidFill>
            <a:srgbClr val="0242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0" name="文本框 13"/>
          <p:cNvSpPr txBox="1"/>
          <p:nvPr/>
        </p:nvSpPr>
        <p:spPr>
          <a:xfrm>
            <a:off x="5388470" y="1915523"/>
            <a:ext cx="202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 与 CAR</a:t>
            </a:r>
            <a:endParaRPr lang="zh-CN" altLang="en-US" sz="28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平行四边形 20"/>
          <p:cNvSpPr/>
          <p:nvPr/>
        </p:nvSpPr>
        <p:spPr>
          <a:xfrm>
            <a:off x="7770197" y="1853457"/>
            <a:ext cx="3607243" cy="3559803"/>
          </a:xfrm>
          <a:prstGeom prst="parallelogram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2" name="平行四边形 21"/>
          <p:cNvSpPr/>
          <p:nvPr/>
        </p:nvSpPr>
        <p:spPr>
          <a:xfrm>
            <a:off x="7582148" y="1688021"/>
            <a:ext cx="3607243" cy="3559803"/>
          </a:xfrm>
          <a:prstGeom prst="parallelogram">
            <a:avLst/>
          </a:prstGeom>
          <a:solidFill>
            <a:srgbClr val="0242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3" name="文本框 14"/>
          <p:cNvSpPr txBox="1"/>
          <p:nvPr/>
        </p:nvSpPr>
        <p:spPr>
          <a:xfrm>
            <a:off x="8387411" y="2955756"/>
            <a:ext cx="2038989" cy="2377126"/>
          </a:xfrm>
          <a:prstGeom prst="rect">
            <a:avLst/>
          </a:prstGeom>
          <a:noFill/>
        </p:spPr>
        <p:txBody>
          <a:bodyPr wrap="square" lIns="76200" tIns="45720" rIns="76200" bIns="45720" rtlCol="0" anchor="ctr">
            <a:spAutoFit/>
          </a:bodyPr>
          <a:lstStyle/>
          <a:p>
            <a:pPr marL="0" indent="0" algn="l" fontAlgn="base">
              <a:lnSpc>
                <a:spcPct val="140000"/>
              </a:lnSpc>
              <a:defRPr/>
            </a:pPr>
            <a:r>
              <a:rPr lang="zh-CN" altLang="en-US" sz="1450" b="0" kern="0" dirty="0">
                <a:solidFill>
                  <a:prstClr val="white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t = CAR/(σ̂AR√L)</a:t>
            </a:r>
            <a:endParaRPr lang="zh-CN" altLang="zh-CN" sz="1450" b="0" kern="0" dirty="0">
              <a:solidFill>
                <a:prstClr val="white"/>
              </a:solidFill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40000"/>
              </a:lnSpc>
              <a:defRPr/>
            </a:pPr>
            <a:r>
              <a:rPr lang="zh-CN" sz="1450" b="0">
                <a:latin typeface="Aptos"/>
                <a:ea typeface="微软雅黑" panose="020B0503020204020204" pitchFamily="34" charset="-122"/>
                <a:cs typeface="Aptos"/>
              </a:rPr>
              <a:t>窗口：[-1,+1]、[0,+3]、[0,+5]
补充 BH-FDR 与 Bonferroni</a:t>
            </a:r>
            <a:endParaRPr lang="zh-CN" altLang="zh-CN" sz="1450" b="0" kern="0" dirty="0">
              <a:solidFill>
                <a:prstClr val="white"/>
              </a:solidFill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4" name="文本框 13"/>
          <p:cNvSpPr txBox="1"/>
          <p:nvPr/>
        </p:nvSpPr>
        <p:spPr>
          <a:xfrm>
            <a:off x="8785397" y="1915523"/>
            <a:ext cx="1852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显著性</a:t>
            </a:r>
            <a:endParaRPr lang="zh-CN" altLang="en-US" sz="28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14"/>
          <p:cNvSpPr txBox="1"/>
          <p:nvPr/>
        </p:nvSpPr>
        <p:spPr>
          <a:xfrm>
            <a:off x="4940882" y="2955756"/>
            <a:ext cx="2024431" cy="2377126"/>
          </a:xfrm>
          <a:prstGeom prst="rect">
            <a:avLst/>
          </a:prstGeom>
          <a:noFill/>
        </p:spPr>
        <p:txBody>
          <a:bodyPr wrap="square" lIns="76200" tIns="45720" rIns="76200" bIns="45720" rtlCol="0" anchor="ctr">
            <a:spAutoFit/>
          </a:bodyPr>
          <a:lstStyle/>
          <a:p>
            <a:pPr marL="0" indent="0" algn="l" fontAlgn="base">
              <a:lnSpc>
                <a:spcPct val="140000"/>
              </a:lnSpc>
              <a:defRPr/>
            </a:pPr>
            <a:r>
              <a:rPr lang="zh-CN" altLang="en-US" sz="1450" b="0" kern="0" dirty="0">
                <a:solidFill>
                  <a:prstClr val="white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ARᵢ,ₜ = Rᵢ,ₜ − Ê(Rᵢ,ₜ)</a:t>
            </a:r>
            <a:endParaRPr lang="zh-CN" altLang="zh-CN" sz="1450" b="0" kern="0" dirty="0">
              <a:solidFill>
                <a:prstClr val="white"/>
              </a:solidFill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40000"/>
              </a:lnSpc>
              <a:defRPr/>
            </a:pPr>
            <a:r>
              <a:rPr lang="zh-CN" sz="1450" b="0">
                <a:latin typeface="Aptos"/>
                <a:ea typeface="微软雅黑" panose="020B0503020204020204" pitchFamily="34" charset="-122"/>
                <a:cs typeface="Aptos"/>
              </a:rPr>
              <a:t>CAR = Σ ARᵢ,ₜ</a:t>
            </a:r>
            <a:endParaRPr lang="zh-CN" altLang="zh-CN" sz="1450" b="0" kern="0" dirty="0">
              <a:solidFill>
                <a:prstClr val="white"/>
              </a:solidFill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6" name="文本框 14"/>
          <p:cNvSpPr txBox="1"/>
          <p:nvPr/>
        </p:nvSpPr>
        <p:spPr>
          <a:xfrm>
            <a:off x="1524674" y="2955756"/>
            <a:ext cx="2148502" cy="2377126"/>
          </a:xfrm>
          <a:prstGeom prst="rect">
            <a:avLst/>
          </a:prstGeom>
          <a:noFill/>
        </p:spPr>
        <p:txBody>
          <a:bodyPr wrap="square" lIns="76200" tIns="45720" rIns="76200" bIns="45720" rtlCol="0" anchor="ctr">
            <a:spAutoFit/>
          </a:bodyPr>
          <a:lstStyle/>
          <a:p>
            <a:pPr marL="0" indent="0" algn="l" fontAlgn="base">
              <a:lnSpc>
                <a:spcPct val="140000"/>
              </a:lnSpc>
              <a:defRPr/>
            </a:pPr>
            <a:r>
              <a:rPr lang="zh-CN" altLang="en-US" sz="1450" b="0" kern="0" dirty="0">
                <a:solidFill>
                  <a:prstClr val="white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Rᵢ,ₜ = αᵢ + βᵢRₘ,ₜ + εᵢ,ₜ</a:t>
            </a:r>
            <a:endParaRPr lang="zh-CN" altLang="zh-CN" sz="1450" b="0" kern="0" dirty="0">
              <a:solidFill>
                <a:prstClr val="white"/>
              </a:solidFill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40000"/>
              </a:lnSpc>
              <a:defRPr/>
            </a:pPr>
            <a:r>
              <a:rPr lang="zh-CN" sz="1450" b="0">
                <a:latin typeface="Aptos"/>
                <a:ea typeface="微软雅黑" panose="020B0503020204020204" pitchFamily="34" charset="-122"/>
                <a:cs typeface="Aptos"/>
              </a:rPr>
              <a:t>估计窗：[-120,-21]</a:t>
            </a:r>
            <a:endParaRPr lang="zh-CN" altLang="zh-CN" sz="1450" b="0" kern="0" dirty="0">
              <a:solidFill>
                <a:prstClr val="white"/>
              </a:solidFill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944801"/>
            <a:ext cx="6049548" cy="6049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ITS 与诊断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359521" y="1196752"/>
            <a:ext cx="11472958" cy="4701822"/>
          </a:xfrm>
          <a:prstGeom prst="rect">
            <a:avLst/>
          </a:prstGeom>
          <a:solidFill>
            <a:srgbClr val="36254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66372" y="1504421"/>
            <a:ext cx="2498818" cy="779295"/>
            <a:chOff x="827467" y="3115218"/>
            <a:chExt cx="1915595" cy="597408"/>
          </a:xfrm>
          <a:solidFill>
            <a:srgbClr val="0675A0"/>
          </a:solidFill>
        </p:grpSpPr>
        <p:sp>
          <p:nvSpPr>
            <p:cNvPr id="15" name="矩形 14"/>
            <p:cNvSpPr/>
            <p:nvPr/>
          </p:nvSpPr>
          <p:spPr>
            <a:xfrm>
              <a:off x="827467" y="3115218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4"/>
            <p:cNvSpPr txBox="1"/>
            <p:nvPr/>
          </p:nvSpPr>
          <p:spPr>
            <a:xfrm>
              <a:off x="1280979" y="3260559"/>
              <a:ext cx="1008570" cy="306725"/>
            </a:xfrm>
            <a:prstGeom prst="rect">
              <a:avLst/>
            </a:prstGeom>
            <a:noFill/>
          </p:spPr>
          <p:txBody>
            <a:bodyPr wrap="square" lIns="76200" tIns="45720" rIns="76200" bIns="45720" rtlCol="0" anchor="ctr">
              <a:spAutoFit/>
            </a:bodyPr>
            <a:lstStyle/>
            <a:p>
              <a:pPr marL="0" indent="0" algn="l" fontAlgn="base">
                <a:defRPr/>
              </a:pPr>
              <a:r>
                <a:rPr lang="zh-CN" altLang="en-US" sz="1700" b="1" kern="0" dirty="0">
                  <a:solidFill>
                    <a:srgbClr val="FFFFFF"/>
                  </a:solidFill>
                  <a:latin typeface="Aptos" panose="020B0503020204020204" pitchFamily="34" charset="-122"/>
                  <a:ea typeface="微软雅黑" panose="020B0503020204020204" pitchFamily="34" charset="-122"/>
                  <a:cs typeface="Aptos"/>
                </a:rPr>
                <a:t>ITS</a:t>
              </a:r>
              <a:endParaRPr lang="zh-CN" sz="1700" b="1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486193" y="1504421"/>
            <a:ext cx="2498818" cy="779295"/>
            <a:chOff x="3970073" y="2147212"/>
            <a:chExt cx="1915595" cy="597408"/>
          </a:xfrm>
        </p:grpSpPr>
        <p:sp>
          <p:nvSpPr>
            <p:cNvPr id="19" name="矩形 18"/>
            <p:cNvSpPr/>
            <p:nvPr/>
          </p:nvSpPr>
          <p:spPr>
            <a:xfrm>
              <a:off x="3970073" y="2147212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423585" y="2292553"/>
              <a:ext cx="1008570" cy="306725"/>
            </a:xfrm>
            <a:prstGeom prst="rect">
              <a:avLst/>
            </a:prstGeom>
            <a:noFill/>
          </p:spPr>
          <p:txBody>
            <a:bodyPr wrap="square" lIns="76200" tIns="45720" rIns="76200" bIns="45720" rtlCol="0" anchor="ctr">
              <a:spAutoFit/>
            </a:bodyPr>
            <a:lstStyle/>
            <a:p>
              <a:pPr marL="0" indent="0" algn="l" fontAlgn="base">
                <a:defRPr/>
              </a:pPr>
              <a:r>
                <a:rPr lang="zh-CN" altLang="en-US" sz="1700" b="1" kern="0" dirty="0">
                  <a:solidFill>
                    <a:srgbClr val="FFFFFF"/>
                  </a:solidFill>
                  <a:latin typeface="Aptos" panose="020B0503020204020204" pitchFamily="34" charset="-122"/>
                  <a:ea typeface="微软雅黑" panose="020B0503020204020204" pitchFamily="34" charset="-122"/>
                  <a:cs typeface="Aptos"/>
                </a:rPr>
                <a:t>DW</a:t>
              </a:r>
              <a:endParaRPr lang="zh-CN" sz="1700" b="1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206014" y="1504421"/>
            <a:ext cx="2498818" cy="779295"/>
            <a:chOff x="5534462" y="3115218"/>
            <a:chExt cx="1915595" cy="597408"/>
          </a:xfrm>
          <a:solidFill>
            <a:srgbClr val="C00000"/>
          </a:solidFill>
        </p:grpSpPr>
        <p:sp>
          <p:nvSpPr>
            <p:cNvPr id="22" name="矩形 21"/>
            <p:cNvSpPr/>
            <p:nvPr/>
          </p:nvSpPr>
          <p:spPr>
            <a:xfrm>
              <a:off x="5534462" y="3115218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1"/>
            <p:cNvSpPr txBox="1"/>
            <p:nvPr/>
          </p:nvSpPr>
          <p:spPr>
            <a:xfrm>
              <a:off x="5987974" y="3260559"/>
              <a:ext cx="1008570" cy="306725"/>
            </a:xfrm>
            <a:prstGeom prst="rect">
              <a:avLst/>
            </a:prstGeom>
            <a:noFill/>
          </p:spPr>
          <p:txBody>
            <a:bodyPr wrap="square" lIns="76200" tIns="45720" rIns="76200" bIns="45720" rtlCol="0" anchor="ctr">
              <a:spAutoFit/>
            </a:bodyPr>
            <a:lstStyle/>
            <a:p>
              <a:pPr marL="0" indent="0" algn="l" fontAlgn="base">
                <a:defRPr/>
              </a:pPr>
              <a:r>
                <a:rPr lang="zh-CN" altLang="en-US" sz="1700" b="1" kern="0" dirty="0">
                  <a:solidFill>
                    <a:srgbClr val="FFFFFF"/>
                  </a:solidFill>
                  <a:latin typeface="Aptos" panose="020B0503020204020204" pitchFamily="34" charset="-122"/>
                  <a:ea typeface="微软雅黑" panose="020B0503020204020204" pitchFamily="34" charset="-122"/>
                  <a:cs typeface="Aptos"/>
                </a:rPr>
                <a:t>BP</a:t>
              </a:r>
              <a:endParaRPr lang="zh-CN" sz="1700" b="1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8925834" y="1504421"/>
            <a:ext cx="2498818" cy="779295"/>
            <a:chOff x="8270100" y="3115218"/>
            <a:chExt cx="1915595" cy="597408"/>
          </a:xfrm>
          <a:solidFill>
            <a:srgbClr val="C00000"/>
          </a:solidFill>
        </p:grpSpPr>
        <p:sp>
          <p:nvSpPr>
            <p:cNvPr id="25" name="矩形 24"/>
            <p:cNvSpPr/>
            <p:nvPr/>
          </p:nvSpPr>
          <p:spPr>
            <a:xfrm>
              <a:off x="8270100" y="3115218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2"/>
            <p:cNvSpPr txBox="1"/>
            <p:nvPr/>
          </p:nvSpPr>
          <p:spPr>
            <a:xfrm>
              <a:off x="8723612" y="3260559"/>
              <a:ext cx="1008570" cy="306725"/>
            </a:xfrm>
            <a:prstGeom prst="rect">
              <a:avLst/>
            </a:prstGeom>
            <a:noFill/>
          </p:spPr>
          <p:txBody>
            <a:bodyPr wrap="square" lIns="76200" tIns="45720" rIns="76200" bIns="45720" rtlCol="0" anchor="ctr">
              <a:spAutoFit/>
            </a:bodyPr>
            <a:lstStyle/>
            <a:p>
              <a:pPr marL="0" indent="0" algn="l" fontAlgn="base">
                <a:defRPr/>
              </a:pPr>
              <a:r>
                <a:rPr lang="zh-CN" altLang="en-US" sz="1700" b="1" kern="0" dirty="0">
                  <a:solidFill>
                    <a:srgbClr val="FFFFFF"/>
                  </a:solidFill>
                  <a:latin typeface="Aptos" panose="020B0503020204020204" pitchFamily="34" charset="-122"/>
                  <a:ea typeface="微软雅黑" panose="020B0503020204020204" pitchFamily="34" charset="-122"/>
                  <a:cs typeface="Aptos"/>
                </a:rPr>
                <a:t>NW</a:t>
              </a:r>
              <a:endParaRPr lang="zh-CN" sz="1700" b="1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785286" y="2464138"/>
            <a:ext cx="2498818" cy="3091536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466126" y="2464138"/>
            <a:ext cx="2498818" cy="3091536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221137" y="2464138"/>
            <a:ext cx="2498818" cy="3091536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938947" y="2464138"/>
            <a:ext cx="2498818" cy="3091536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24"/>
          <p:cNvSpPr txBox="1"/>
          <p:nvPr/>
        </p:nvSpPr>
        <p:spPr>
          <a:xfrm>
            <a:off x="857114" y="2498708"/>
            <a:ext cx="2602711" cy="3003515"/>
          </a:xfrm>
          <a:prstGeom prst="rect">
            <a:avLst/>
          </a:prstGeom>
          <a:noFill/>
        </p:spPr>
        <p:txBody>
          <a:bodyPr wrap="square" lIns="76200" tIns="45720" rIns="76200" bIns="45720" rtlCol="0" anchor="ctr">
            <a:spAutoFit/>
          </a:bodyPr>
          <a:lstStyle/>
          <a:p>
            <a:pPr marL="0" indent="0" algn="l" fontAlgn="base">
              <a:lnSpc>
                <a:spcPct val="150000"/>
              </a:lnSpc>
              <a:defRPr/>
            </a:pPr>
            <a:r>
              <a:rPr lang="zh-CN" altLang="en-US" sz="1450" b="0" kern="0" dirty="0">
                <a:solidFill>
                  <a:srgbClr val="06276F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rₜ = β₀ + β₁timeₜ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r>
              <a:rPr lang="zh-CN" altLang="en-US" sz="1450" b="0" kern="0" dirty="0">
                <a:solidFill>
                  <a:srgbClr val="06276F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+ β₂postₜ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r>
              <a:rPr lang="zh-CN" altLang="en-US" sz="1450" b="0" kern="0" dirty="0">
                <a:solidFill>
                  <a:srgbClr val="06276F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+ β₃time_afterₜ + εₜ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r>
              <a:rPr lang="zh-CN" altLang="en-US" sz="1450" b="0" kern="0" dirty="0">
                <a:solidFill>
                  <a:srgbClr val="06276F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β₂：即时冲击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r>
              <a:rPr lang="zh-CN" altLang="en-US" sz="1450" b="0" kern="0" dirty="0">
                <a:solidFill>
                  <a:srgbClr val="06276F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β₃：趋势变化</a:t>
            </a:r>
            <a:endParaRPr lang="zh-CN" altLang="zh-CN" sz="1450" b="0" kern="0" dirty="0">
              <a:solidFill>
                <a:srgbClr val="06276F"/>
              </a:solidFill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2" name="文本框 24"/>
          <p:cNvSpPr txBox="1"/>
          <p:nvPr/>
        </p:nvSpPr>
        <p:spPr>
          <a:xfrm>
            <a:off x="3471730" y="2498708"/>
            <a:ext cx="2354694" cy="3003515"/>
          </a:xfrm>
          <a:prstGeom prst="rect">
            <a:avLst/>
          </a:prstGeom>
          <a:noFill/>
        </p:spPr>
        <p:txBody>
          <a:bodyPr wrap="square" lIns="76200" tIns="45720" rIns="76200" bIns="45720" rtlCol="0" anchor="ctr">
            <a:spAutoFit/>
          </a:bodyPr>
          <a:lstStyle/>
          <a:p>
            <a:pPr marL="0" indent="0" algn="l" fontAlgn="base">
              <a:lnSpc>
                <a:spcPct val="150000"/>
              </a:lnSpc>
              <a:defRPr/>
            </a:pPr>
            <a:r>
              <a:rPr lang="zh-CN" altLang="en-US" sz="1450" b="0" kern="0" dirty="0">
                <a:solidFill>
                  <a:srgbClr val="06276F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Durbin-Watson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r>
              <a:rPr lang="zh-CN" altLang="en-US" sz="1450" b="0" kern="0" dirty="0">
                <a:solidFill>
                  <a:srgbClr val="06276F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检查残差一阶自相关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r>
              <a:rPr lang="zh-CN" altLang="en-US" sz="1450" b="0" kern="0" dirty="0">
                <a:solidFill>
                  <a:srgbClr val="06276F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接近 2 表示相关性较弱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altLang="zh-CN" sz="1450" b="0" kern="0" dirty="0">
              <a:solidFill>
                <a:srgbClr val="06276F"/>
              </a:solidFill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3" name="文本框 24"/>
          <p:cNvSpPr txBox="1"/>
          <p:nvPr/>
        </p:nvSpPr>
        <p:spPr>
          <a:xfrm>
            <a:off x="6226740" y="2498708"/>
            <a:ext cx="2354695" cy="3003515"/>
          </a:xfrm>
          <a:prstGeom prst="rect">
            <a:avLst/>
          </a:prstGeom>
          <a:noFill/>
        </p:spPr>
        <p:txBody>
          <a:bodyPr wrap="square" lIns="76200" tIns="45720" rIns="76200" bIns="45720" rtlCol="0" anchor="ctr">
            <a:spAutoFit/>
          </a:bodyPr>
          <a:lstStyle/>
          <a:p>
            <a:pPr marL="0" indent="0" algn="l" fontAlgn="base">
              <a:lnSpc>
                <a:spcPct val="150000"/>
              </a:lnSpc>
              <a:defRPr/>
            </a:pPr>
            <a:r>
              <a:rPr lang="zh-CN" altLang="en-US" sz="1450" b="0" kern="0" dirty="0">
                <a:solidFill>
                  <a:srgbClr val="06276F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Breusch-Pagan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r>
              <a:rPr lang="zh-CN" altLang="en-US" sz="1450" b="0" kern="0" dirty="0">
                <a:solidFill>
                  <a:srgbClr val="06276F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检验残差方差是否稳定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r>
              <a:rPr lang="zh-CN" altLang="en-US" sz="1450" b="0" kern="0" dirty="0">
                <a:solidFill>
                  <a:srgbClr val="06276F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p &lt; 0.05 提示异方差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altLang="zh-CN" sz="1450" b="0" kern="0" dirty="0">
              <a:solidFill>
                <a:srgbClr val="06276F"/>
              </a:solidFill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4" name="文本框 24"/>
          <p:cNvSpPr txBox="1"/>
          <p:nvPr/>
        </p:nvSpPr>
        <p:spPr>
          <a:xfrm>
            <a:off x="8931437" y="2498708"/>
            <a:ext cx="2403449" cy="3003515"/>
          </a:xfrm>
          <a:prstGeom prst="rect">
            <a:avLst/>
          </a:prstGeom>
          <a:noFill/>
        </p:spPr>
        <p:txBody>
          <a:bodyPr wrap="square" lIns="76200" tIns="45720" rIns="76200" bIns="45720" rtlCol="0" anchor="ctr">
            <a:spAutoFit/>
          </a:bodyPr>
          <a:lstStyle/>
          <a:p>
            <a:pPr marL="0" indent="0" algn="l" fontAlgn="base">
              <a:lnSpc>
                <a:spcPct val="150000"/>
              </a:lnSpc>
              <a:defRPr/>
            </a:pPr>
            <a:r>
              <a:rPr lang="zh-CN" altLang="en-US" sz="1450" b="0" kern="0" dirty="0">
                <a:solidFill>
                  <a:srgbClr val="06276F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Newey-West 修正标准误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r>
              <a:rPr lang="zh-CN" altLang="en-US" sz="1450" b="0" kern="0" dirty="0">
                <a:solidFill>
                  <a:srgbClr val="06276F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RSS/BIC 网格搜索近似 Bai-Perron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r>
              <a:rPr lang="zh-CN" altLang="en-US" sz="1450" b="0" kern="0" dirty="0">
                <a:solidFill>
                  <a:srgbClr val="06276F"/>
                </a:solidFill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比较断点与事件日期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altLang="zh-CN" sz="1450" b="0" kern="0" dirty="0">
              <a:solidFill>
                <a:srgbClr val="06276F"/>
              </a:solidFill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  <a:p>
            <a:pPr marL="0" indent="0" algn="l" fontAlgn="base">
              <a:lnSpc>
                <a:spcPct val="150000"/>
              </a:lnSpc>
              <a:defRPr/>
            </a:pP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实证结果与解释</a:t>
            </a:r>
            <a:endParaRPr lang="zh-CN" sz="36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156111" y="4424107"/>
            <a:ext cx="6088996" cy="1200329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F0302020204030204" pitchFamily="34" charset="0"/>
                <a:ea typeface="微软雅黑" panose="020B0503020204020204" pitchFamily="34" charset="-122"/>
                <a:cs typeface="Aptos"/>
              </a:rPr>
              <a:t>统计显著性、经济幅度与冲击机制需要结合解读</a:t>
            </a:r>
            <a:endParaRPr lang="zh-CN" sz="17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收益率特征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aphicFrame>
        <p:nvGraphicFramePr>
          <p:cNvPr id="13" name="图表 12"/>
          <p:cNvGraphicFramePr/>
          <p:nvPr/>
        </p:nvGraphicFramePr>
        <p:xfrm>
          <a:off x="407988" y="1120811"/>
          <a:ext cx="4140200" cy="27601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/>
          <p:cNvGraphicFramePr/>
          <p:nvPr/>
        </p:nvGraphicFramePr>
        <p:xfrm>
          <a:off x="4025900" y="1120811"/>
          <a:ext cx="4140200" cy="27601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图表 14"/>
          <p:cNvGraphicFramePr/>
          <p:nvPr/>
        </p:nvGraphicFramePr>
        <p:xfrm>
          <a:off x="7643812" y="1120811"/>
          <a:ext cx="4140200" cy="27601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矩形 15"/>
          <p:cNvSpPr/>
          <p:nvPr/>
        </p:nvSpPr>
        <p:spPr>
          <a:xfrm>
            <a:off x="1769029" y="1661839"/>
            <a:ext cx="1418118" cy="893643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zh-CN" sz="4200" b="1" dirty="0">
                <a:solidFill>
                  <a:srgbClr val="005197"/>
                </a:solidFill>
                <a:latin typeface="Aptos"/>
                <a:ea typeface="微软雅黑" panose="020B0503020204020204" pitchFamily="34" charset="-122"/>
                <a:cs typeface="Aptos"/>
              </a:rPr>
              <a:t>2.901%</a:t>
            </a:r>
            <a:endParaRPr lang="zh-CN" altLang="en-US" sz="4200" b="1" dirty="0">
              <a:solidFill>
                <a:srgbClr val="005197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386941" y="1661839"/>
            <a:ext cx="1418118" cy="893643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zh-CN" sz="4200" b="1" dirty="0">
                <a:solidFill>
                  <a:srgbClr val="005197"/>
                </a:solidFill>
                <a:latin typeface="Aptos"/>
                <a:ea typeface="微软雅黑" panose="020B0503020204020204" pitchFamily="34" charset="-122"/>
                <a:cs typeface="Aptos"/>
              </a:rPr>
              <a:t>2.984%</a:t>
            </a:r>
            <a:endParaRPr lang="zh-CN" altLang="en-US" sz="4200" b="1" dirty="0">
              <a:solidFill>
                <a:srgbClr val="005197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004853" y="1661839"/>
            <a:ext cx="1418118" cy="893643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zh-CN" sz="4200" b="1" dirty="0">
                <a:solidFill>
                  <a:srgbClr val="FFC000"/>
                </a:solidFill>
                <a:latin typeface="Aptos"/>
                <a:ea typeface="微软雅黑" panose="020B0503020204020204" pitchFamily="34" charset="-122"/>
                <a:cs typeface="Aptos"/>
              </a:rPr>
              <a:t>0.845</a:t>
            </a:r>
            <a:endParaRPr lang="zh-CN" altLang="en-US" sz="4200" b="1" dirty="0">
              <a:solidFill>
                <a:srgbClr val="FFC000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0" name="等腰三角形 19"/>
          <p:cNvSpPr/>
          <p:nvPr/>
        </p:nvSpPr>
        <p:spPr>
          <a:xfrm flipV="1">
            <a:off x="2424113" y="2616442"/>
            <a:ext cx="107950" cy="93058"/>
          </a:xfrm>
          <a:prstGeom prst="triangle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69029" y="2776264"/>
            <a:ext cx="1418118" cy="362792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500" b="1" dirty="0">
                <a:solidFill>
                  <a:prstClr val="black">
                    <a:lumMod val="50000"/>
                    <a:lumOff val="50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WTI 波动</a:t>
            </a:r>
            <a:endParaRPr lang="zh-CN" altLang="en-US" sz="1500" b="1" dirty="0">
              <a:solidFill>
                <a:prstClr val="black">
                  <a:lumMod val="50000"/>
                  <a:lumOff val="50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386941" y="2776264"/>
            <a:ext cx="1418118" cy="362792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500" b="1" dirty="0">
                <a:solidFill>
                  <a:prstClr val="black">
                    <a:lumMod val="50000"/>
                    <a:lumOff val="50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Brent σ</a:t>
            </a:r>
            <a:endParaRPr lang="zh-CN" altLang="en-US" sz="1500" b="1" dirty="0">
              <a:solidFill>
                <a:prstClr val="black">
                  <a:lumMod val="50000"/>
                  <a:lumOff val="50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004853" y="2776264"/>
            <a:ext cx="1418118" cy="362792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500" b="1" dirty="0">
                <a:solidFill>
                  <a:prstClr val="black">
                    <a:lumMod val="50000"/>
                    <a:lumOff val="50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相关系数</a:t>
            </a:r>
            <a:endParaRPr lang="zh-CN" altLang="en-US" sz="1500" b="1" dirty="0">
              <a:solidFill>
                <a:prstClr val="black">
                  <a:lumMod val="50000"/>
                  <a:lumOff val="50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4" name="等腰三角形 23"/>
          <p:cNvSpPr/>
          <p:nvPr/>
        </p:nvSpPr>
        <p:spPr>
          <a:xfrm flipV="1">
            <a:off x="6042025" y="2616442"/>
            <a:ext cx="107950" cy="93058"/>
          </a:xfrm>
          <a:prstGeom prst="triangle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等腰三角形 24"/>
          <p:cNvSpPr/>
          <p:nvPr/>
        </p:nvSpPr>
        <p:spPr>
          <a:xfrm flipV="1">
            <a:off x="9659937" y="2616442"/>
            <a:ext cx="107950" cy="93058"/>
          </a:xfrm>
          <a:prstGeom prst="triangle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653795" y="4101727"/>
            <a:ext cx="2884411" cy="213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均值 0.080%；偏度 -0.547；峰度 8.391。Brent 同样呈现明显高峰厚尾。</a:t>
            </a:r>
            <a:endParaRPr lang="zh-CN" altLang="en-US" sz="16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35883" y="4101727"/>
            <a:ext cx="2884411" cy="213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均值 0.081%；偏度 -0.888；峰度 9.855。负偏与高峰度表明下行尾部风险突出。</a:t>
            </a:r>
            <a:endParaRPr lang="zh-CN" altLang="en-US" sz="16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271707" y="4101727"/>
            <a:ext cx="2884411" cy="213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rgbClr val="E7E6E6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两种基准油价高度联动，但对中东供应风险的敏感度和反应幅度并不完全一致。</a:t>
            </a:r>
            <a:endParaRPr lang="zh-CN" altLang="en-US" sz="1600" dirty="0">
              <a:solidFill>
                <a:srgbClr val="E7E6E6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CAR 核心结果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aphicFrame>
        <p:nvGraphicFramePr>
          <p:cNvPr id="13" name="图表 12"/>
          <p:cNvGraphicFramePr/>
          <p:nvPr/>
        </p:nvGraphicFramePr>
        <p:xfrm>
          <a:off x="673100" y="2348890"/>
          <a:ext cx="10845800" cy="3886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" name="矩形 13"/>
          <p:cNvSpPr/>
          <p:nvPr/>
        </p:nvSpPr>
        <p:spPr>
          <a:xfrm>
            <a:off x="744861" y="1225471"/>
            <a:ext cx="10845800" cy="953274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srgbClr val="E7E6E6">
                    <a:lumMod val="50000"/>
                  </a:srgbClr>
                </a:solidFill>
                <a:latin typeface="Aptos"/>
                <a:ea typeface="微软雅黑" panose="020B0503020204020204" pitchFamily="34" charset="-122"/>
                <a:cs typeface="Aptos"/>
              </a:rPr>
              <a:t>E4 冲击最强：Brent CAR 为 13.552%，WTI 相对 CAR 为 -10.198%，经 BH-FDR 与 Bonferroni 修正后仍显著。E2、E3 仅在原始检验中呈边际显著，修正后不稳健。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ITS 与断点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6954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95400" y="1340768"/>
            <a:ext cx="4965700" cy="75923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247623" y="252075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E3 Brent 即时水平冲击：+3.344%，NW p = 0.0109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50706" y="1505200"/>
            <a:ext cx="4304499" cy="430374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ITS 核心发现</a:t>
            </a:r>
            <a:endParaRPr lang="zh-CN" altLang="en-US" sz="1800" b="1" dirty="0">
              <a:solidFill>
                <a:srgbClr val="FFFFFF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247623" y="370947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E4 WTI 相对即时冲击：-3.082%，NW p = 0.0459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47623" y="489819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其余事件的即时或趋势变化多数缺乏稳健显著性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98044" y="242417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1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98044" y="3595746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2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98044" y="476732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3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8832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24" name="直接连接符 23"/>
          <p:cNvCxnSpPr/>
          <p:nvPr/>
        </p:nvCxnSpPr>
        <p:spPr>
          <a:xfrm>
            <a:off x="8832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25" name="check_97186"/>
          <p:cNvSpPr>
            <a:spLocks noChangeAspect="1"/>
          </p:cNvSpPr>
          <p:nvPr/>
        </p:nvSpPr>
        <p:spPr bwMode="auto">
          <a:xfrm>
            <a:off x="923231" y="1564071"/>
            <a:ext cx="435512" cy="345592"/>
          </a:xfrm>
          <a:custGeom>
            <a:avLst/>
            <a:gdLst>
              <a:gd name="T0" fmla="*/ 2641 w 3160"/>
              <a:gd name="T1" fmla="*/ 0 h 2511"/>
              <a:gd name="T2" fmla="*/ 1167 w 3160"/>
              <a:gd name="T3" fmla="*/ 1474 h 2511"/>
              <a:gd name="T4" fmla="*/ 519 w 3160"/>
              <a:gd name="T5" fmla="*/ 826 h 2511"/>
              <a:gd name="T6" fmla="*/ 0 w 3160"/>
              <a:gd name="T7" fmla="*/ 1344 h 2511"/>
              <a:gd name="T8" fmla="*/ 1167 w 3160"/>
              <a:gd name="T9" fmla="*/ 2511 h 2511"/>
              <a:gd name="T10" fmla="*/ 3160 w 3160"/>
              <a:gd name="T11" fmla="*/ 519 h 2511"/>
              <a:gd name="T12" fmla="*/ 2641 w 3160"/>
              <a:gd name="T13" fmla="*/ 0 h 2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60" h="2511">
                <a:moveTo>
                  <a:pt x="2641" y="0"/>
                </a:moveTo>
                <a:lnTo>
                  <a:pt x="1167" y="1474"/>
                </a:lnTo>
                <a:lnTo>
                  <a:pt x="519" y="826"/>
                </a:lnTo>
                <a:lnTo>
                  <a:pt x="0" y="1344"/>
                </a:lnTo>
                <a:lnTo>
                  <a:pt x="1167" y="2511"/>
                </a:lnTo>
                <a:lnTo>
                  <a:pt x="3160" y="519"/>
                </a:lnTo>
                <a:lnTo>
                  <a:pt x="26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" name="矩形 25"/>
          <p:cNvSpPr/>
          <p:nvPr/>
        </p:nvSpPr>
        <p:spPr>
          <a:xfrm>
            <a:off x="65882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588200" y="1340768"/>
            <a:ext cx="4965700" cy="75923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140423" y="252075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DW 多数接近 2，残差一阶自相关总体有限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243506" y="1505200"/>
            <a:ext cx="4304499" cy="430374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800" b="1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诊断与断点</a:t>
            </a:r>
            <a:endParaRPr lang="zh-CN" altLang="en-US" sz="1800" b="1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140423" y="370947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部分 BP 检验显著，因此使用 Newey-West 修正推断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140423" y="489819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WTI/Brent 断点集中于 2026-02-27 至 03-02，与 E3 高度重合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690844" y="242417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1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690844" y="3595746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2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690844" y="476732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3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67760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36" name="直接连接符 35"/>
          <p:cNvCxnSpPr/>
          <p:nvPr/>
        </p:nvCxnSpPr>
        <p:spPr>
          <a:xfrm>
            <a:off x="67760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37" name="up-arrow_2486"/>
          <p:cNvSpPr>
            <a:spLocks noChangeAspect="1"/>
          </p:cNvSpPr>
          <p:nvPr/>
        </p:nvSpPr>
        <p:spPr bwMode="auto">
          <a:xfrm>
            <a:off x="6868694" y="1531940"/>
            <a:ext cx="322150" cy="435512"/>
          </a:xfrm>
          <a:custGeom>
            <a:avLst/>
            <a:gdLst>
              <a:gd name="T0" fmla="*/ 142 w 268"/>
              <a:gd name="T1" fmla="*/ 11 h 363"/>
              <a:gd name="T2" fmla="*/ 252 w 268"/>
              <a:gd name="T3" fmla="*/ 144 h 363"/>
              <a:gd name="T4" fmla="*/ 250 w 268"/>
              <a:gd name="T5" fmla="*/ 160 h 363"/>
              <a:gd name="T6" fmla="*/ 188 w 268"/>
              <a:gd name="T7" fmla="*/ 160 h 363"/>
              <a:gd name="T8" fmla="*/ 188 w 268"/>
              <a:gd name="T9" fmla="*/ 187 h 363"/>
              <a:gd name="T10" fmla="*/ 188 w 268"/>
              <a:gd name="T11" fmla="*/ 354 h 363"/>
              <a:gd name="T12" fmla="*/ 176 w 268"/>
              <a:gd name="T13" fmla="*/ 363 h 363"/>
              <a:gd name="T14" fmla="*/ 89 w 268"/>
              <a:gd name="T15" fmla="*/ 363 h 363"/>
              <a:gd name="T16" fmla="*/ 79 w 268"/>
              <a:gd name="T17" fmla="*/ 355 h 363"/>
              <a:gd name="T18" fmla="*/ 79 w 268"/>
              <a:gd name="T19" fmla="*/ 188 h 363"/>
              <a:gd name="T20" fmla="*/ 79 w 268"/>
              <a:gd name="T21" fmla="*/ 164 h 363"/>
              <a:gd name="T22" fmla="*/ 22 w 268"/>
              <a:gd name="T23" fmla="*/ 164 h 363"/>
              <a:gd name="T24" fmla="*/ 16 w 268"/>
              <a:gd name="T25" fmla="*/ 147 h 363"/>
              <a:gd name="T26" fmla="*/ 123 w 268"/>
              <a:gd name="T27" fmla="*/ 10 h 363"/>
              <a:gd name="T28" fmla="*/ 142 w 268"/>
              <a:gd name="T29" fmla="*/ 11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68" h="363">
                <a:moveTo>
                  <a:pt x="142" y="11"/>
                </a:moveTo>
                <a:lnTo>
                  <a:pt x="252" y="144"/>
                </a:lnTo>
                <a:cubicBezTo>
                  <a:pt x="252" y="144"/>
                  <a:pt x="268" y="160"/>
                  <a:pt x="250" y="160"/>
                </a:cubicBezTo>
                <a:lnTo>
                  <a:pt x="188" y="160"/>
                </a:lnTo>
                <a:lnTo>
                  <a:pt x="188" y="187"/>
                </a:lnTo>
                <a:lnTo>
                  <a:pt x="188" y="354"/>
                </a:lnTo>
                <a:cubicBezTo>
                  <a:pt x="188" y="354"/>
                  <a:pt x="191" y="363"/>
                  <a:pt x="176" y="363"/>
                </a:cubicBezTo>
                <a:lnTo>
                  <a:pt x="89" y="363"/>
                </a:lnTo>
                <a:cubicBezTo>
                  <a:pt x="79" y="363"/>
                  <a:pt x="79" y="355"/>
                  <a:pt x="79" y="355"/>
                </a:cubicBezTo>
                <a:lnTo>
                  <a:pt x="79" y="188"/>
                </a:lnTo>
                <a:lnTo>
                  <a:pt x="79" y="164"/>
                </a:lnTo>
                <a:lnTo>
                  <a:pt x="22" y="164"/>
                </a:lnTo>
                <a:cubicBezTo>
                  <a:pt x="0" y="164"/>
                  <a:pt x="16" y="147"/>
                  <a:pt x="16" y="147"/>
                </a:cubicBezTo>
                <a:cubicBezTo>
                  <a:pt x="16" y="147"/>
                  <a:pt x="110" y="23"/>
                  <a:pt x="123" y="10"/>
                </a:cubicBezTo>
                <a:cubicBezTo>
                  <a:pt x="133" y="0"/>
                  <a:pt x="142" y="11"/>
                  <a:pt x="142" y="11"/>
                </a:cubicBez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>
            <a:noFill/>
          </a:ln>
        </p:spPr>
      </p:sp>
      <p:sp>
        <p:nvSpPr>
          <p:cNvPr id="38" name="矩形 37"/>
          <p:cNvSpPr/>
          <p:nvPr/>
        </p:nvSpPr>
        <p:spPr>
          <a:xfrm>
            <a:off x="695400" y="5917849"/>
            <a:ext cx="4965700" cy="4571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588200" y="5917849"/>
            <a:ext cx="4965700" cy="4571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结论与展望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6954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95400" y="1340768"/>
            <a:ext cx="4965700" cy="75923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247623" y="252075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事件冲击并非普遍显著，E4 是主窗口中最稳健、经济幅度最大的事件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50706" y="1505200"/>
            <a:ext cx="4304499" cy="430374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主要结论</a:t>
            </a:r>
            <a:endParaRPr lang="zh-CN" altLang="en-US" sz="1800" b="1" dirty="0">
              <a:solidFill>
                <a:srgbClr val="FFFFFF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247623" y="370947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Brent 对中东供应风险反应更直接，支持基准油价敏感度差异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47623" y="489819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CAR、ITS 与断点结果共同支持事件影响具有类型和时点异质性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98044" y="242417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1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98044" y="3595746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2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98044" y="476732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3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8832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24" name="直接连接符 23"/>
          <p:cNvCxnSpPr/>
          <p:nvPr/>
        </p:nvCxnSpPr>
        <p:spPr>
          <a:xfrm>
            <a:off x="8832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25" name="check_97186"/>
          <p:cNvSpPr>
            <a:spLocks noChangeAspect="1"/>
          </p:cNvSpPr>
          <p:nvPr/>
        </p:nvSpPr>
        <p:spPr bwMode="auto">
          <a:xfrm>
            <a:off x="923231" y="1564071"/>
            <a:ext cx="435512" cy="345592"/>
          </a:xfrm>
          <a:custGeom>
            <a:avLst/>
            <a:gdLst>
              <a:gd name="T0" fmla="*/ 2641 w 3160"/>
              <a:gd name="T1" fmla="*/ 0 h 2511"/>
              <a:gd name="T2" fmla="*/ 1167 w 3160"/>
              <a:gd name="T3" fmla="*/ 1474 h 2511"/>
              <a:gd name="T4" fmla="*/ 519 w 3160"/>
              <a:gd name="T5" fmla="*/ 826 h 2511"/>
              <a:gd name="T6" fmla="*/ 0 w 3160"/>
              <a:gd name="T7" fmla="*/ 1344 h 2511"/>
              <a:gd name="T8" fmla="*/ 1167 w 3160"/>
              <a:gd name="T9" fmla="*/ 2511 h 2511"/>
              <a:gd name="T10" fmla="*/ 3160 w 3160"/>
              <a:gd name="T11" fmla="*/ 519 h 2511"/>
              <a:gd name="T12" fmla="*/ 2641 w 3160"/>
              <a:gd name="T13" fmla="*/ 0 h 2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60" h="2511">
                <a:moveTo>
                  <a:pt x="2641" y="0"/>
                </a:moveTo>
                <a:lnTo>
                  <a:pt x="1167" y="1474"/>
                </a:lnTo>
                <a:lnTo>
                  <a:pt x="519" y="826"/>
                </a:lnTo>
                <a:lnTo>
                  <a:pt x="0" y="1344"/>
                </a:lnTo>
                <a:lnTo>
                  <a:pt x="1167" y="2511"/>
                </a:lnTo>
                <a:lnTo>
                  <a:pt x="3160" y="519"/>
                </a:lnTo>
                <a:lnTo>
                  <a:pt x="26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" name="矩形 25"/>
          <p:cNvSpPr/>
          <p:nvPr/>
        </p:nvSpPr>
        <p:spPr>
          <a:xfrm>
            <a:off x="65882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588200" y="1340768"/>
            <a:ext cx="4965700" cy="75923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140423" y="252075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WTI 与 Brent 互为市场因子，CAR 是相对异常反应而非绝对因果效应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243506" y="1505200"/>
            <a:ext cx="4304499" cy="430374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800" b="1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局限与展望</a:t>
            </a:r>
            <a:endParaRPr lang="zh-CN" altLang="en-US" sz="1800" b="1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140423" y="370947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ACLED 为周度汇总，不能替代 actor、地点和 notes 层面的逐事件数据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140423" y="4898190"/>
            <a:ext cx="4248605" cy="658257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1450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后续引入独立商品指数、汇率与库存控制，并扩展联合事件模型</a:t>
            </a:r>
            <a:endParaRPr lang="zh-CN" sz="145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690844" y="242417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1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690844" y="3595746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2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690844" y="476732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3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67760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36" name="直接连接符 35"/>
          <p:cNvCxnSpPr/>
          <p:nvPr/>
        </p:nvCxnSpPr>
        <p:spPr>
          <a:xfrm>
            <a:off x="67760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37" name="up-arrow_2486"/>
          <p:cNvSpPr>
            <a:spLocks noChangeAspect="1"/>
          </p:cNvSpPr>
          <p:nvPr/>
        </p:nvSpPr>
        <p:spPr bwMode="auto">
          <a:xfrm>
            <a:off x="6868694" y="1531940"/>
            <a:ext cx="322150" cy="435512"/>
          </a:xfrm>
          <a:custGeom>
            <a:avLst/>
            <a:gdLst>
              <a:gd name="T0" fmla="*/ 142 w 268"/>
              <a:gd name="T1" fmla="*/ 11 h 363"/>
              <a:gd name="T2" fmla="*/ 252 w 268"/>
              <a:gd name="T3" fmla="*/ 144 h 363"/>
              <a:gd name="T4" fmla="*/ 250 w 268"/>
              <a:gd name="T5" fmla="*/ 160 h 363"/>
              <a:gd name="T6" fmla="*/ 188 w 268"/>
              <a:gd name="T7" fmla="*/ 160 h 363"/>
              <a:gd name="T8" fmla="*/ 188 w 268"/>
              <a:gd name="T9" fmla="*/ 187 h 363"/>
              <a:gd name="T10" fmla="*/ 188 w 268"/>
              <a:gd name="T11" fmla="*/ 354 h 363"/>
              <a:gd name="T12" fmla="*/ 176 w 268"/>
              <a:gd name="T13" fmla="*/ 363 h 363"/>
              <a:gd name="T14" fmla="*/ 89 w 268"/>
              <a:gd name="T15" fmla="*/ 363 h 363"/>
              <a:gd name="T16" fmla="*/ 79 w 268"/>
              <a:gd name="T17" fmla="*/ 355 h 363"/>
              <a:gd name="T18" fmla="*/ 79 w 268"/>
              <a:gd name="T19" fmla="*/ 188 h 363"/>
              <a:gd name="T20" fmla="*/ 79 w 268"/>
              <a:gd name="T21" fmla="*/ 164 h 363"/>
              <a:gd name="T22" fmla="*/ 22 w 268"/>
              <a:gd name="T23" fmla="*/ 164 h 363"/>
              <a:gd name="T24" fmla="*/ 16 w 268"/>
              <a:gd name="T25" fmla="*/ 147 h 363"/>
              <a:gd name="T26" fmla="*/ 123 w 268"/>
              <a:gd name="T27" fmla="*/ 10 h 363"/>
              <a:gd name="T28" fmla="*/ 142 w 268"/>
              <a:gd name="T29" fmla="*/ 11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68" h="363">
                <a:moveTo>
                  <a:pt x="142" y="11"/>
                </a:moveTo>
                <a:lnTo>
                  <a:pt x="252" y="144"/>
                </a:lnTo>
                <a:cubicBezTo>
                  <a:pt x="252" y="144"/>
                  <a:pt x="268" y="160"/>
                  <a:pt x="250" y="160"/>
                </a:cubicBezTo>
                <a:lnTo>
                  <a:pt x="188" y="160"/>
                </a:lnTo>
                <a:lnTo>
                  <a:pt x="188" y="187"/>
                </a:lnTo>
                <a:lnTo>
                  <a:pt x="188" y="354"/>
                </a:lnTo>
                <a:cubicBezTo>
                  <a:pt x="188" y="354"/>
                  <a:pt x="191" y="363"/>
                  <a:pt x="176" y="363"/>
                </a:cubicBezTo>
                <a:lnTo>
                  <a:pt x="89" y="363"/>
                </a:lnTo>
                <a:cubicBezTo>
                  <a:pt x="79" y="363"/>
                  <a:pt x="79" y="355"/>
                  <a:pt x="79" y="355"/>
                </a:cubicBezTo>
                <a:lnTo>
                  <a:pt x="79" y="188"/>
                </a:lnTo>
                <a:lnTo>
                  <a:pt x="79" y="164"/>
                </a:lnTo>
                <a:lnTo>
                  <a:pt x="22" y="164"/>
                </a:lnTo>
                <a:cubicBezTo>
                  <a:pt x="0" y="164"/>
                  <a:pt x="16" y="147"/>
                  <a:pt x="16" y="147"/>
                </a:cubicBezTo>
                <a:cubicBezTo>
                  <a:pt x="16" y="147"/>
                  <a:pt x="110" y="23"/>
                  <a:pt x="123" y="10"/>
                </a:cubicBezTo>
                <a:cubicBezTo>
                  <a:pt x="133" y="0"/>
                  <a:pt x="142" y="11"/>
                  <a:pt x="142" y="11"/>
                </a:cubicBez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>
            <a:noFill/>
          </a:ln>
        </p:spPr>
      </p:sp>
      <p:sp>
        <p:nvSpPr>
          <p:cNvPr id="38" name="矩形 37"/>
          <p:cNvSpPr/>
          <p:nvPr/>
        </p:nvSpPr>
        <p:spPr>
          <a:xfrm>
            <a:off x="695400" y="5917849"/>
            <a:ext cx="4965700" cy="4571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588200" y="5917849"/>
            <a:ext cx="4965700" cy="4571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64852" y="1350313"/>
            <a:ext cx="6117528" cy="61175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345" y="116631"/>
            <a:ext cx="11809308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45" y="116631"/>
            <a:ext cx="11809309" cy="5226782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999656" y="5935211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6427748" y="5935210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3121932" y="6033862"/>
            <a:ext cx="2609850" cy="296545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汇报人：XXX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6" name="文本占位符 31"/>
          <p:cNvSpPr txBox="1"/>
          <p:nvPr/>
        </p:nvSpPr>
        <p:spPr>
          <a:xfrm>
            <a:off x="6460218" y="6033862"/>
            <a:ext cx="2609850" cy="296545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指导教师：XXX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2026年6月12日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879975" y="1131474"/>
            <a:ext cx="4918925" cy="1253932"/>
            <a:chOff x="751446" y="486412"/>
            <a:chExt cx="4918925" cy="1253932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51446" y="486412"/>
              <a:ext cx="1253932" cy="1253932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60350" y="609785"/>
              <a:ext cx="3710021" cy="607920"/>
            </a:xfrm>
            <a:prstGeom prst="rect">
              <a:avLst/>
            </a:prstGeom>
          </p:spPr>
        </p:pic>
        <p:sp>
          <p:nvSpPr>
            <p:cNvPr id="23" name="矩形 22"/>
            <p:cNvSpPr/>
            <p:nvPr/>
          </p:nvSpPr>
          <p:spPr>
            <a:xfrm>
              <a:off x="2167394" y="1226892"/>
              <a:ext cx="3502977" cy="307777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18" name="文本占位符 24"/>
          <p:cNvSpPr txBox="1"/>
          <p:nvPr/>
        </p:nvSpPr>
        <p:spPr>
          <a:xfrm>
            <a:off x="191347" y="2324320"/>
            <a:ext cx="11809308" cy="1415608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汇报结束  感谢聆听！</a:t>
            </a:r>
            <a:endParaRPr lang="zh-CN" sz="42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2567608" y="3888438"/>
            <a:ext cx="691276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39657" y="4040776"/>
            <a:ext cx="8112685" cy="7343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2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3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4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5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6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7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8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9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10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11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12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13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14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15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16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17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18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19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20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21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22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23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24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25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理工大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005197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自定义 1">
    <a:majorFont>
      <a:latin typeface="Century Gothic"/>
      <a:ea typeface="微软雅黑"/>
      <a:cs typeface=""/>
    </a:majorFont>
    <a:minorFont>
      <a:latin typeface="Century Gothic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理工大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005197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自定义 1">
    <a:majorFont>
      <a:latin typeface="Century Gothic"/>
      <a:ea typeface="微软雅黑"/>
      <a:cs typeface=""/>
    </a:majorFont>
    <a:minorFont>
      <a:latin typeface="Century Gothic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理工大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005197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自定义 1">
    <a:majorFont>
      <a:latin typeface="Century Gothic"/>
      <a:ea typeface="微软雅黑"/>
      <a:cs typeface=""/>
    </a:majorFont>
    <a:minorFont>
      <a:latin typeface="Century Gothic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理工大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005197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自定义 1">
    <a:majorFont>
      <a:latin typeface="Century Gothic"/>
      <a:ea typeface="微软雅黑"/>
      <a:cs typeface=""/>
    </a:majorFont>
    <a:minorFont>
      <a:latin typeface="Century Gothic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2288</Words>
  <Application>WPS 演示</Application>
  <PresentationFormat>宽屏</PresentationFormat>
  <Paragraphs>355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42" baseType="lpstr">
      <vt:lpstr>Arial</vt:lpstr>
      <vt:lpstr>宋体</vt:lpstr>
      <vt:lpstr>Wingdings</vt:lpstr>
      <vt:lpstr>Calibri</vt:lpstr>
      <vt:lpstr>微软雅黑</vt:lpstr>
      <vt:lpstr>Aptos</vt:lpstr>
      <vt:lpstr>Segoe UI</vt:lpstr>
      <vt:lpstr>Aptos</vt:lpstr>
      <vt:lpstr>Arial</vt:lpstr>
      <vt:lpstr>Calibri</vt:lpstr>
      <vt:lpstr>Arial Black</vt:lpstr>
      <vt:lpstr>Calibri Light</vt:lpstr>
      <vt:lpstr>方正宋刻本秀楷简体</vt:lpstr>
      <vt:lpstr>Aptos</vt:lpstr>
      <vt:lpstr>Segoe UI</vt:lpstr>
      <vt:lpstr>微软雅黑 Light</vt:lpstr>
      <vt:lpstr>Segoe UI Semilight</vt:lpstr>
      <vt:lpstr>思源黑体 Bold</vt:lpstr>
      <vt:lpstr>思源黑体 Normal</vt:lpstr>
      <vt:lpstr>Century Gothic</vt:lpstr>
      <vt:lpstr>Candara</vt:lpstr>
      <vt:lpstr>华文楷体</vt:lpstr>
      <vt:lpstr>Arial Unicode MS</vt:lpstr>
      <vt:lpstr>等线</vt:lpstr>
      <vt:lpstr>黑体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张行舟</cp:lastModifiedBy>
  <cp:revision>24</cp:revision>
  <dcterms:created xsi:type="dcterms:W3CDTF">2020-07-27T01:08:00Z</dcterms:created>
  <dcterms:modified xsi:type="dcterms:W3CDTF">2026-06-12T14:12:31Z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0E689E4F5D7144DBA1A5E0FD3CEEA70C_12</vt:lpwstr>
  </property>
</Properties>
</file>